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4"/>
    <p:restoredTop sz="91440"/>
  </p:normalViewPr>
  <p:slideViewPr>
    <p:cSldViewPr snapToGrid="0" snapToObjects="1">
      <p:cViewPr varScale="1">
        <p:scale>
          <a:sx n="123" d="100"/>
          <a:sy n="123" d="100"/>
        </p:scale>
        <p:origin x="10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3AE95-7837-4F4A-887E-CCA8AEE9AD12}" type="datetimeFigureOut">
              <a:rPr lang="en-NG" smtClean="0"/>
              <a:t>05/03/2026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06494-0132-8948-8241-E0839C32909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2964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06494-0132-8948-8241-E0839C329095}" type="slidenum">
              <a:rPr lang="en-NG" smtClean="0"/>
              <a:t>17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57165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6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00000"/>
            <a:ext cx="73152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To Fix Am,</a:t>
            </a:r>
          </a:p>
          <a:p>
            <a:pPr algn="l">
              <a:defRPr sz="5200" b="1">
                <a:solidFill>
                  <a:srgbClr val="10B981"/>
                </a:solidFill>
                <a:latin typeface="Calibri"/>
              </a:defRPr>
            </a:pPr>
            <a:r>
              <a:t>We Must Know Am.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2000" b="0">
                <a:solidFill>
                  <a:srgbClr val="D1D5DB"/>
                </a:solidFill>
                <a:latin typeface="Calibri"/>
              </a:defRPr>
            </a:pPr>
            <a:r>
              <a:t>AI-powered transparency for Nigerian government budgets,</a:t>
            </a:r>
          </a:p>
          <a:p>
            <a:pPr algn="l">
              <a:defRPr sz="2000" b="0">
                <a:solidFill>
                  <a:srgbClr val="D1D5DB"/>
                </a:solidFill>
                <a:latin typeface="Calibri"/>
              </a:defRPr>
            </a:pPr>
            <a:r>
              <a:t>spending, FAAC allocations, and corruption data.</a:t>
            </a:r>
          </a:p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Free for every Nigerian. Ask in English or Pidgin.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16683" y="502920"/>
            <a:ext cx="23774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45283" y="731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800+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283" y="1188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Budget Documents</a:t>
            </a:r>
            <a:br/>
            <a:r>
              <a:t>Ingested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16683" y="2423160"/>
            <a:ext cx="23774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45283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5283" y="3108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States &amp; FCT</a:t>
            </a:r>
            <a:br/>
            <a:r>
              <a:t>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6683" y="4343400"/>
            <a:ext cx="23774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5283" y="4572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2M+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5283" y="50292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Data Points</a:t>
            </a:r>
            <a:br/>
            <a:r>
              <a:t>Indexed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200</a:t>
            </a:r>
            <a:r>
              <a:rPr lang="en-US" dirty="0"/>
              <a:t>+</a:t>
            </a:r>
            <a:r>
              <a:rPr dirty="0"/>
              <a:t> million Nigerians are locked out of</a:t>
            </a:r>
            <a:br>
              <a:rPr dirty="0"/>
            </a:br>
            <a:r>
              <a:rPr dirty="0"/>
              <a:t>understanding how their own money is spent.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96987"/>
            <a:ext cx="5303520" cy="1691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9341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3414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Government Spending is Opaque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91347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Budget documents are buried in dense PDFs across dozens of government websites. No unified access point exists.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96987"/>
            <a:ext cx="5303520" cy="1691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9341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93414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Information Overload &amp; Jargon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391347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Thousands of pages of technical budget data written in dense bureaucratic language that excludes the average citizen.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17227"/>
            <a:ext cx="5303520" cy="1691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8543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543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Corruption is Hard to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11587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EFCC and ICPC case records are scattered across news articles and court filings. No searchable database exists.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17227"/>
            <a:ext cx="5303520" cy="1691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48543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8543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FAAC Allocations Are Invisible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311587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Monthly federal revenue shared to 774 LGAs is published in impenetrable PDFs. Citizens can't track what their LGA receives.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intersection of civic tech, AI, and Africa's largest democracy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200M+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Nigerian citizens with a right to</a:t>
            </a:r>
            <a:br/>
            <a:r>
              <a:t>know how public money is spent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45M+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Internet-active Nigerians engaged</a:t>
            </a:r>
            <a:br/>
            <a:r>
              <a:t>with news, politics, and civic issues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2M+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Journalists, researchers, NGOs,</a:t>
            </a:r>
            <a:br/>
            <a:r>
              <a:t>students, and active civic citizens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Now?</a:t>
            </a:r>
          </a:p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Nigeria's 2026 federal budget is N58.47 trillion — the largest ever. Public demand for transparency is at an all-time high.</a:t>
            </a:r>
          </a:p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AI advancements now make it possible to process 800+ budget documents and make them conversational. This was impossible 2 years ago.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Most platforms give you raw PDFs.</a:t>
            </a:r>
            <a:br/>
            <a:r>
              <a:t>We give you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14912"/>
            <a:ext cx="2651760" cy="269538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814912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4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Uncover The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549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"Find any record wey government hide"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6512"/>
            <a:ext cx="2286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Search through 800+ budget documents, federal contractor payments, FAAC allocations, and corruption records across all 36 states + FCT.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814912"/>
            <a:ext cx="2651760" cy="269538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2814912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304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Ask in Plain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549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"Just ask like you dey talk to person"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186512"/>
            <a:ext cx="2286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No need to read thousands of complex pages. Ask questions in English or Pidgin and get clear, data-backed answers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14912"/>
            <a:ext cx="2651760" cy="269538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814912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04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Track 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549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"See who dey do well and who dey mess up"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86512"/>
            <a:ext cx="2286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Compare state budgets, track GovSpend payments, monitor FAAC disbursements to your LGA, and investigate EFCC corruption cases.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814912"/>
            <a:ext cx="2651760" cy="269538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2814912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0" y="304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100% Free for Citizens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4549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"Na our money, na our right to know"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186512"/>
            <a:ext cx="2286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Every Nigerian gets full, unlimited access. No paywalls, no message limits, no premium tiers. The data belongs to the people.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question to insight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32482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Ask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301752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Type your question in plain English or Pidgin. No login required.</a:t>
            </a:r>
            <a:br/>
            <a:br/>
            <a:r>
              <a:t>Example: "How much did my LGA receive from FAAC in January 2025?"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286000"/>
            <a:ext cx="3474720" cy="32482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39" y="25146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39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799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Agents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291840"/>
            <a:ext cx="301752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Our multi-agent pipeline routes your query to specialized analysts — Budget, Corruption, GovSpend, FAAC, or Impact — each with access to dedicated vector databases.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2286000"/>
            <a:ext cx="3474720" cy="32482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78" y="25146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8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8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Get Verified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8" y="3291840"/>
            <a:ext cx="301752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Receive a clear, sourced answer with interactive charts, real-world impact analysis, and links to original government documents.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19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8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PRODUCT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Wetin Dey Happen? — A Platform Built for Citizens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303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AI Chat with Budget &amp; FAAC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6 specialized AI agents: Router, Budget, Corruption, GovSpend, FAAC, and Impact Analyst. Streaming responses with source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303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22 Interactive Chart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Bar, line, pie, treemap, waterfall, heatmap, gauge, radar, and more. Auto-generated from AI responses with Naira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5303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53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Pidgin English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Ask in plain English or Pidgin and get answers that everyone can understand. "Wetin be Lagos 2023 budget?" works perfectly.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5303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96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Shareable Public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Toggle conversations public with SEO-optimized pages, Open Graph metadata, and JSON-LD structured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94560"/>
            <a:ext cx="5303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267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FAAC Allocation Tracker (NEW)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Track monthly federal revenue sharing to all 774 LGAs across 36 states. Compare allocations between states, LGAs, and geopolitical zones.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37560"/>
            <a:ext cx="5303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410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Real-Time GovSpend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891,000+ contractor payment records. Track ministry spending, beneficiary details, and historical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480560"/>
            <a:ext cx="5303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553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Corruption Case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Searchable EFCC and ICPC cases with charges, amounts, status, officials, and outcomes.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623560"/>
            <a:ext cx="5303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5696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Phone-Only Auth + Telegram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6035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 passwords. OTP via phone (+234), Telegram OAuth, and session-based auth. Zero friction.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DATA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most comprehensive Nigerian public finance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774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800+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Budget Documents</a:t>
            </a:r>
            <a:br/>
            <a:r>
              <a:t>Processed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3774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6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States + FCT</a:t>
            </a:r>
            <a:br/>
            <a:r>
              <a:t>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3774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774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LGAs Tracked</a:t>
            </a:r>
            <a:br/>
            <a:r>
              <a:t>via FAAC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37744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891K+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Payment Records</a:t>
            </a:r>
            <a:br/>
            <a:r>
              <a:t>Searchable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3949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State Budgets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800+ documents across all 36 states + FCT, 2019–2025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53949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Federal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4160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₦58.47 trillion (2026) — full allocation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92040"/>
            <a:ext cx="53949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GovSpend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937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891,000+ federal contractor payment records (2018–2025)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892040"/>
            <a:ext cx="53949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FAAC Allocations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4937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84 months of federal revenue sharing to all states &amp; 774 LGAs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53949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EFCC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715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Economic and Financial Crimes Commission investigations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669280"/>
            <a:ext cx="53949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Senate Bills &amp; MDAs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5715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COMING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109 Senators, 360 HOR Members, legislation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Production-grade AI infrastructure built for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6675120" cy="289918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649224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ourier New"/>
              </a:defRPr>
            </a:pPr>
            <a:r>
              <a:t>CLIENTS                                    AI PIPELINE</a:t>
            </a:r>
            <a:br/>
            <a:r>
              <a:t>  Web App (Next.js)                          Router Agent</a:t>
            </a:r>
            <a:br/>
            <a:r>
              <a:t>  Telegram Bot           ────→   NestJS API   ────→   Budget Analyst</a:t>
            </a:r>
            <a:br/>
            <a:r>
              <a:t>  Shared URL Pages                           Corruption Analyst</a:t>
            </a:r>
            <a:br/>
            <a:r>
              <a:t>                                             GovSpend Analyst</a:t>
            </a:r>
            <a:br/>
            <a:r>
              <a:t>  DATA LAYER                                 FAAC Analyst (NEW)</a:t>
            </a:r>
            <a:br/>
            <a:r>
              <a:t>  PostgreSQL + pgvector                      Impact Analyst</a:t>
            </a:r>
            <a:br/>
            <a:r>
              <a:t>  AWS S3 (Source Docs)                  Embedding + Vector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03120"/>
            <a:ext cx="36576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23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NestJS  /  Mastra AI Agents  /  Prisma</a:t>
            </a:r>
            <a:br/>
            <a:r>
              <a:t>PostgreSQL 16  /  pgvector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017520"/>
            <a:ext cx="36576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3063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337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Next.js 16  /  React 19</a:t>
            </a:r>
            <a:br/>
            <a:r>
              <a:t>Tailwind v4  /  Recharts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6576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AI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251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Gemini Flash  /  Voyage AI  /  OpenRouter</a:t>
            </a:r>
            <a:br/>
            <a:r>
              <a:t>Langfuse  /  Tesseract OCR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846320"/>
            <a:ext cx="36576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Docker Compose  /  Nx Monorepo</a:t>
            </a:r>
            <a:br/>
            <a:r>
              <a:t>pnpm  /  Infisical  /  OTEL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AI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Multi-Agent Pipeline: Specialized analysts for every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7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3172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Router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Intent Detection &amp;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2128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Classifies incoming queries and routes to the appropriate specialist agent. Handles follow-ups and conversation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3120"/>
            <a:ext cx="10698480" cy="7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111720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95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Budget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4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State &amp; Federal Budget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9928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Searches 708K+ vector chunks from 800+ budget documents. Performs query decomposition, multi-state comparison, and trend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63120"/>
            <a:ext cx="10698480" cy="7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89172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373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Corruption 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2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EFCC &amp; ICPC Case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7728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Searches corruption case records. Returns charges, amounts, officials involved, conviction status, and amounts recovered.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43120"/>
            <a:ext cx="10698480" cy="7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467172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451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GovSpend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0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Real-Time Payment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45528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Queries 891K+ federal contractor payment records. Tracks ministry spending, beneficiary identification, and payment patterns.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23120"/>
            <a:ext cx="10698480" cy="7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54517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529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FAAC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58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Federation Revenue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53328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Searches 84 months of FAAC data across 774 LGAs and 37 states. Compares allocations by state, LGA, and geopolitical zone.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003120"/>
            <a:ext cx="10698480" cy="7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14400" y="6231720"/>
            <a:ext cx="228600" cy="228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34440" y="60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Impact Analyst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3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Real-World Translation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61128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Translates budget figures into relatable equivalents. "₦2.4B could build 48 primary schools or employ 4,800 teachers for a year."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2320" y="1071360"/>
            <a:ext cx="11097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Free for every Nigerian. Revenue from institutions, not</a:t>
            </a:r>
            <a:r>
              <a:rPr lang="en-US" dirty="0"/>
              <a:t> </a:t>
            </a:r>
            <a:r>
              <a:rPr dirty="0"/>
              <a:t>citizens.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00000"/>
            <a:ext cx="3800000" cy="4400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00000"/>
            <a:ext cx="3800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00000"/>
            <a:ext cx="34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CITIZENS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0000"/>
            <a:ext cx="34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₦0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000"/>
            <a:ext cx="34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rPr dirty="0"/>
              <a:t>forever — no limits, no paywalls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868" y="3600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0B981"/>
                </a:solidFill>
                <a:latin typeface="Calibri"/>
              </a:rPr>
              <a:t>✓  </a:t>
            </a:r>
            <a:r>
              <a:rPr sz="1200" b="0" dirty="0">
                <a:solidFill>
                  <a:srgbClr val="D1D5DB"/>
                </a:solidFill>
                <a:latin typeface="Calibri"/>
              </a:rPr>
              <a:t>Unlimited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868" y="3879999"/>
            <a:ext cx="3779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0B981"/>
                </a:solidFill>
                <a:latin typeface="Calibri"/>
              </a:rPr>
              <a:t>✓  </a:t>
            </a:r>
            <a:r>
              <a:rPr sz="1200" b="0" dirty="0">
                <a:solidFill>
                  <a:srgbClr val="D1D5DB"/>
                </a:solidFill>
                <a:latin typeface="Calibri"/>
              </a:rPr>
              <a:t>All 6 AI agents (Budget, FAAC, </a:t>
            </a:r>
            <a:r>
              <a:rPr sz="1200" b="0" dirty="0" err="1">
                <a:solidFill>
                  <a:srgbClr val="D1D5DB"/>
                </a:solidFill>
                <a:latin typeface="Calibri"/>
              </a:rPr>
              <a:t>GovSpend</a:t>
            </a:r>
            <a:r>
              <a:rPr sz="1200" b="0" dirty="0">
                <a:solidFill>
                  <a:srgbClr val="D1D5DB"/>
                </a:solidFill>
                <a:latin typeface="Calibri"/>
              </a:rPr>
              <a:t>,</a:t>
            </a:r>
            <a:r>
              <a:rPr lang="en-US" sz="1200" dirty="0">
                <a:solidFill>
                  <a:srgbClr val="D1D5DB"/>
                </a:solidFill>
                <a:latin typeface="Calibri"/>
              </a:rPr>
              <a:t> C</a:t>
            </a:r>
            <a:r>
              <a:rPr sz="1200" b="0" dirty="0">
                <a:solidFill>
                  <a:srgbClr val="D1D5DB"/>
                </a:solidFill>
                <a:latin typeface="Calibri"/>
              </a:rPr>
              <a:t>orruption, Impact, General)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828" y="430477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0B981"/>
                </a:solidFill>
                <a:latin typeface="Calibri"/>
              </a:rPr>
              <a:t>✓  </a:t>
            </a:r>
            <a:r>
              <a:rPr sz="1200" b="0" dirty="0">
                <a:solidFill>
                  <a:srgbClr val="D1D5DB"/>
                </a:solidFill>
                <a:latin typeface="Calibri"/>
              </a:rPr>
              <a:t>22 interactive chart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828" y="4583155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0B981"/>
                </a:solidFill>
                <a:latin typeface="Calibri"/>
              </a:rPr>
              <a:t>✓  </a:t>
            </a:r>
            <a:r>
              <a:rPr sz="1200" b="0" dirty="0">
                <a:solidFill>
                  <a:srgbClr val="D1D5DB"/>
                </a:solidFill>
                <a:latin typeface="Calibri"/>
              </a:rPr>
              <a:t>Pidgin English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868" y="4923865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0B981"/>
                </a:solidFill>
                <a:latin typeface="Calibri"/>
              </a:rPr>
              <a:t>✓  </a:t>
            </a:r>
            <a:r>
              <a:rPr sz="1200" b="0" dirty="0">
                <a:solidFill>
                  <a:srgbClr val="D1D5DB"/>
                </a:solidFill>
                <a:latin typeface="Calibri"/>
              </a:rPr>
              <a:t>Telegram + Web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828" y="5215000"/>
            <a:ext cx="3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0B981"/>
                </a:solidFill>
                <a:latin typeface="Calibri"/>
              </a:rPr>
              <a:t>✓  </a:t>
            </a:r>
            <a:r>
              <a:rPr sz="1200" b="0" dirty="0">
                <a:solidFill>
                  <a:srgbClr val="D1D5DB"/>
                </a:solidFill>
                <a:latin typeface="Calibri"/>
              </a:rPr>
              <a:t>Full conversation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2000000"/>
            <a:ext cx="6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WHO PAYS?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0000" y="2400000"/>
            <a:ext cx="680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00000" y="2455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Grants &amp; Foundations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0000" y="2455000"/>
            <a:ext cx="1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$30K–$500K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0000" y="274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MacArthur, Ford Foundation, Google.org, Omidyar,</a:t>
            </a:r>
            <a:br/>
            <a:r>
              <a:t>Open Society (OSIWA), USAID, Luminate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0000" y="3220000"/>
            <a:ext cx="680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00000" y="3275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Institutional Subscriptions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0000" y="3275000"/>
            <a:ext cx="1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$50–$500/mo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0000" y="356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Newsrooms (Premium Times, The Cable), NGOs</a:t>
            </a:r>
            <a:br/>
            <a:r>
              <a:t>(BudgIT, ActionAid, SERAP), researchers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0000" y="4040000"/>
            <a:ext cx="680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00000" y="4095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API &amp; Licensing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0000" y="4095000"/>
            <a:ext cx="1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$50–$500/mo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0000" y="438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Credit agencies, investment banks, fintech</a:t>
            </a:r>
            <a:br/>
            <a:r>
              <a:t>companies, international consultancies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00000" y="4860000"/>
            <a:ext cx="680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00000" y="4915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Corporate Sponsors (CSR)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0000" y="4915000"/>
            <a:ext cx="1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$5K–$20K/yr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0000" y="520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Banks (GTBank, Access), telecoms (MTN, Airtel):</a:t>
            </a:r>
            <a:br/>
            <a:r>
              <a:t>"Free queries this month powered by [Brand]"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00000" y="5680000"/>
            <a:ext cx="6800000" cy="7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00000" y="5735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Government Transparency Portals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0000" y="5735000"/>
            <a:ext cx="1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$3.7K–$11K/yr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0000" y="602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Progressive state governments wanting an AI-powered</a:t>
            </a:r>
            <a:br/>
            <a:r>
              <a:t>public budget transparency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inference is cheap. Civic impact is priceless.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65760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000"/>
            <a:ext cx="33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COST PER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000"/>
            <a:ext cx="33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$0.0017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000"/>
            <a:ext cx="33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Gemini 2.0 Flash  —  ~₦2.30/msg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000" y="2103120"/>
            <a:ext cx="69000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0" y="2200000"/>
            <a:ext cx="65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MONTHLY COST BY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0" y="256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500 DAU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0" y="2560000"/>
            <a:ext cx="1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$350/mo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0000" y="256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~₦473K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0" y="282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1,000 DAU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2820000"/>
            <a:ext cx="1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$600/mo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0000" y="282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~₦810K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0" y="308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5,000 DAU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0" y="3080000"/>
            <a:ext cx="1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$3,260/mo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0000" y="308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~₦4.4M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0" y="334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10,000 DAU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0" y="3340000"/>
            <a:ext cx="1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$6,520/mo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000" y="3340000"/>
            <a:ext cx="2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~₦8.8M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00000"/>
            <a:ext cx="105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PATH TO SUSTAINABILITY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00000"/>
            <a:ext cx="3566160" cy="21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560000"/>
            <a:ext cx="33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Phase 1 (Month 1–6)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0000"/>
            <a:ext cx="3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500 DAU  |  $350/mo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00000"/>
            <a:ext cx="33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Self-fund + 1 small grant (≤$1,800 total gap)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Apply to 5–8 grants. Onboard 3–5 media/NGO clients on free trials.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500000"/>
            <a:ext cx="3566160" cy="21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19" y="4560000"/>
            <a:ext cx="33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Phase 2 (Month 6–12)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4840000"/>
            <a:ext cx="3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2,000 DAU  |  $1,200/mo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19" y="5100000"/>
            <a:ext cx="33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$500–$1,500 revenue (institutional clients)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19" y="54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Land Data API clients. Approach 2–3 state governments. Start CSR conversations.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598" y="4500000"/>
            <a:ext cx="3566160" cy="21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58" y="4560000"/>
            <a:ext cx="33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Phase 3 (Year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8" y="4840000"/>
            <a:ext cx="3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5,000 DAU  |  $3,260/mo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8" y="5100000"/>
            <a:ext cx="33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$5,800/mo revenue — PROFITABLE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58" y="5400000"/>
            <a:ext cx="3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Grants + institutional + API + 1 corporate sponsor = break-even and beyond.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REVENUE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3637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Target revenue mix at 5,000 DAU — fully sustainable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64917"/>
            <a:ext cx="10500000" cy="700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4917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TOTAL MONTHLY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0" y="1914917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$5,800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0" y="1964917"/>
            <a:ext cx="3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vs $3,260 cost  =  $2,540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4917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Grants &amp;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0000" y="2764917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$2,000/mo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0000" y="2814917"/>
            <a:ext cx="5000000" cy="20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00000" y="2764917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4917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Institutional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000" y="3384917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$1,500/mo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0000" y="3434917"/>
            <a:ext cx="3714285" cy="200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4285" y="3384917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26%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04917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API &amp; Licensing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0000" y="4004917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$1,000/mo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0000" y="4054917"/>
            <a:ext cx="2428571" cy="20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8571" y="4004917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24917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Corporate Sponsor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0000" y="4624917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$800/mo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0000" y="4674917"/>
            <a:ext cx="2000000" cy="2000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0000" y="4624917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14%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99443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Gov Transparency Portals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0000" y="5099443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59669"/>
                </a:solidFill>
                <a:latin typeface="Calibri"/>
              </a:defRPr>
            </a:pPr>
            <a:r>
              <a:t>$300/mo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0000" y="5149443"/>
            <a:ext cx="714285" cy="20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4285" y="5099443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05142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Donations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0000" y="5605142"/>
            <a:ext cx="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9CA3AF"/>
                </a:solidFill>
                <a:latin typeface="Calibri"/>
              </a:defRPr>
            </a:pPr>
            <a:r>
              <a:t>$200/mo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0000" y="5655142"/>
            <a:ext cx="428571" cy="200000"/>
          </a:xfrm>
          <a:prstGeom prst="round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8571" y="5605142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CA3AF"/>
                </a:solidFill>
                <a:latin typeface="Calibri"/>
              </a:defRPr>
            </a:pPr>
            <a:r>
              <a:t>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7920" y="6132285"/>
            <a:ext cx="1050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0800" y="6202285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Zero revenue from citizens. 100% from organizations that extract professional value from the data.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38001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 have built — ready for launch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949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Full Platform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Production-ready web app, API, admin dashboard, Telegram bot, ingestion pipeline, and landing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3949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176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800+ Documents Ingested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Budget documents from all 36 states + FCT processed into 708,309+ searchable vector chunks.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3949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 Specialized AI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2735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Router, Budget, Corruption, GovSpend, FAAC, and Impact analysts with streaming responses.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00400"/>
            <a:ext cx="53949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2735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22 Interactive Chart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32735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11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Auto-generated data visualizations with Naira formatting, rendered inline within chat responses.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53949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FAAC Pipeline (774 LGAs)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370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84 months of federal revenue sharing data extracted, chunked, and indexed for LGA-level comparisons.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97680"/>
            <a:ext cx="53949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891K+ GovSpend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4370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09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Contractor payment records searchable by MDA, beneficiary, amount, and date range.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53949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468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Telegram Bot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4681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@ournigeria_bot on Telegram — full AI chat capabilities, automatic user creation, webhook-based.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94960"/>
            <a:ext cx="53949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5468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Docker Production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54681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806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Full Docker Compose stack with health checks, memory limits, and auto-migration on startup.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 direct competitor combines AI + Nigerian budget data at this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92608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19456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Aje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19456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BudgIT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19456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GovSpend.ng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194560"/>
            <a:ext cx="182880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0" y="2194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Manual 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97480"/>
            <a:ext cx="292608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6974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AI Conversational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97480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2697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697480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0" y="2697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697480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2697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2697480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0" y="26974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081528"/>
            <a:ext cx="292608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0815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All 36 States + FCT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081528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0" y="30815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3081528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52160" y="30815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081528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0" y="30815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Federal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3081528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0" y="30815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465576"/>
            <a:ext cx="292608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346557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FAAC LGA-Level Tracking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0" y="3465576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0" y="34655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3465576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52160" y="34655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3465576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34655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20" y="3465576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75520" y="34655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849624"/>
            <a:ext cx="292608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384962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Corruption Case Tracking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3849624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40480" y="3849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52160" y="3849624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852160" y="3849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3849624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63840" y="3849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75520" y="3849624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3849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233672"/>
            <a:ext cx="292608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42336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Real-Time GovSpend Data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0" y="4233672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840480" y="42336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52160" y="4233672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852160" y="42336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4233672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63840" y="42336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75520" y="4233672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875520" y="42336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4617720"/>
            <a:ext cx="292608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1520" y="46177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Pidgin English Support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40480" y="4617720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840480" y="4617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852160" y="4617720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52160" y="4617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863840" y="4617720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863840" y="4617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75520" y="4617720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75520" y="4617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5001768"/>
            <a:ext cx="292608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50017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Interactive Charts (22 types)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40480" y="5001768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840480" y="5001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852160" y="5001768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852160" y="5001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63840" y="5001768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63840" y="5001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75520" y="5001768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875520" y="5001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5385816"/>
            <a:ext cx="292608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1520" y="53858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Telegram Bot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840480" y="5385816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84048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852160" y="5385816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85216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863840" y="5385816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86384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875520" y="5385816"/>
            <a:ext cx="1828800" cy="384048"/>
          </a:xfrm>
          <a:prstGeom prst="round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875520" y="5385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31520" y="5769864"/>
            <a:ext cx="292608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31520" y="576986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Free &amp; Unlimited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840480" y="5769864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840480" y="5769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852160" y="5769864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852160" y="5769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63840" y="5769864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863840" y="5769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875520" y="5769864"/>
            <a:ext cx="182880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875520" y="5769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Free but hard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GRANT &amp; PARTNERSHIP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Organizations actively funding civic tech in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00000"/>
            <a:ext cx="50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GRANTS (Primary Revenue)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0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000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MacArthur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0" y="2460000"/>
            <a:ext cx="2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$50K–$500K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Governance &amp; Accountability (Nigeria office)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6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22000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Google.org / AI for 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0" y="3220000"/>
            <a:ext cx="2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$100K–$2M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AI-powered civic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2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8000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Omidyar Network / Luminate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000" y="3980000"/>
            <a:ext cx="2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$50K–$1M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Civic tech in the Global South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8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74000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Ford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0000" y="4740000"/>
            <a:ext cx="2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$50K–$300K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Technology in the Public Interest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4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50000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 Society (OSIWA)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0000" y="5500000"/>
            <a:ext cx="2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$25K–$200K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8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Civic participation in West Africa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0" y="2000000"/>
            <a:ext cx="55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INSTITUTIONAL PARTNERS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000" y="240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00000" y="2460000"/>
            <a:ext cx="2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Premium Times / The Cable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000" y="2460000"/>
            <a:ext cx="1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$100/mo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0000" y="274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Newsroom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0000" y="316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00000" y="3220000"/>
            <a:ext cx="2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BudgIT / SERAP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000" y="3220000"/>
            <a:ext cx="1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$200–$300/mo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0000" y="350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NGO / CSO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0000" y="392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00000" y="3980000"/>
            <a:ext cx="2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Agusto &amp; Co / Fitch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000" y="3980000"/>
            <a:ext cx="1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$500/mo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0000" y="426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Credit rating agencies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0000" y="468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00000" y="4740000"/>
            <a:ext cx="2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GTBank / MTN Foundation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0000" y="4740000"/>
            <a:ext cx="1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$10K–$20K/yr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0000" y="502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Corporate CSR sponsor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0000" y="5440000"/>
            <a:ext cx="5200000" cy="6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00000" y="5500000"/>
            <a:ext cx="2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Edo / Lagos / Kaduna State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0000" y="5500000"/>
            <a:ext cx="18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$5K–$11K/yr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0000" y="5780000"/>
            <a:ext cx="5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Government transparency portal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6200000"/>
            <a:ext cx="10500000" cy="4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6270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A single $50K grant covers 2+ years of operation at 1,000 DAU. We apply to 5–8 simultaneously.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launch to pan-African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42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5000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Q1–Q2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0000"/>
            <a:ext cx="30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Public launch: web + Telegram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8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Apply to 5–8 grants simultaneously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Onboard 3–5 newsroom/NGO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4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500 DAU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2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WhatsApp bot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103120"/>
            <a:ext cx="3474720" cy="42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59" y="2103120"/>
            <a:ext cx="34747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39" y="225000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Q3–Q4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530000"/>
            <a:ext cx="30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0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Launch Data API for developers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58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Land 2–3 state transparency portals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16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Secure first corporate CSR sponsor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474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2,000 DAU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39" y="532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Add Hausa, Yoruba, Igbo language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8" y="2103120"/>
            <a:ext cx="3474720" cy="42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598" y="2103120"/>
            <a:ext cx="3474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8" y="2250000"/>
            <a:ext cx="3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8" y="2530000"/>
            <a:ext cx="30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30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Expand to Ghana and Kenya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358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White-label platform for other countries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8" y="416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10,000 DAU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8" y="474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Break-even on recurring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8" y="532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•  </a:t>
            </a:r>
            <a:r>
              <a:rPr sz="1200" b="0">
                <a:solidFill>
                  <a:srgbClr val="D1D5DB"/>
                </a:solidFill>
                <a:latin typeface="Calibri"/>
              </a:rPr>
              <a:t>Legislative tracking (Senate, House of Reps)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00000"/>
            <a:ext cx="105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0000"/>
            <a:ext cx="10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Na Our Money.</a:t>
            </a:r>
          </a:p>
          <a:p>
            <a:pPr algn="ctr">
              <a:defRPr sz="5200" b="1">
                <a:solidFill>
                  <a:srgbClr val="10B981"/>
                </a:solidFill>
                <a:latin typeface="Calibri"/>
              </a:defRPr>
            </a:pPr>
            <a:r>
              <a:t>Na Our Right To Know.</a:t>
            </a:r>
          </a:p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defRPr sz="2200" b="0">
                <a:solidFill>
                  <a:srgbClr val="D1D5DB"/>
                </a:solidFill>
                <a:latin typeface="Calibri"/>
              </a:defRPr>
            </a:pPr>
            <a:r>
              <a:t>Free AI-powered transparency for every Nigerian.</a:t>
            </a:r>
          </a:p>
          <a:p>
            <a:pPr algn="ctr">
              <a:defRPr sz="2000" b="0">
                <a:solidFill>
                  <a:srgbClr val="9CA3AF"/>
                </a:solidFill>
                <a:latin typeface="Calibri"/>
              </a:defRPr>
            </a:pPr>
            <a:r>
              <a:t>Backed by data. Funded by institutions. Built for citizens.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0000" y="5000000"/>
            <a:ext cx="7200000" cy="12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00000" y="5100000"/>
            <a:ext cx="6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rPr dirty="0" err="1"/>
              <a:t>aje.ng</a:t>
            </a:r>
            <a:endParaRPr dirty="0"/>
          </a:p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rPr dirty="0"/>
              <a:t>@</a:t>
            </a:r>
            <a:r>
              <a:rPr dirty="0" err="1"/>
              <a:t>ournigeria_bot</a:t>
            </a:r>
            <a:r>
              <a:rPr dirty="0"/>
              <a:t> on Telegram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rPr dirty="0"/>
              <a:t>Built with </a:t>
            </a:r>
            <a:r>
              <a:rPr lang="en-US" dirty="0"/>
              <a:t>Love</a:t>
            </a:r>
            <a:r>
              <a:rPr dirty="0"/>
              <a:t>  •  Powered by public data  •  Free forever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2286</Words>
  <Application>Microsoft Macintosh PowerPoint</Application>
  <PresentationFormat>Widescreen</PresentationFormat>
  <Paragraphs>391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Ashton Ogbonna</cp:lastModifiedBy>
  <cp:revision>8</cp:revision>
  <dcterms:created xsi:type="dcterms:W3CDTF">2013-01-27T09:14:16Z</dcterms:created>
  <dcterms:modified xsi:type="dcterms:W3CDTF">2026-03-05T03:06:41Z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3365b0-f3f5-456f-93ce-8e2e75f29462_Enabled">
    <vt:lpwstr>true</vt:lpwstr>
  </property>
  <property fmtid="{D5CDD505-2E9C-101B-9397-08002B2CF9AE}" pid="3" name="MSIP_Label_693365b0-f3f5-456f-93ce-8e2e75f29462_SetDate">
    <vt:lpwstr>2026-03-02T11:55:45Z</vt:lpwstr>
  </property>
  <property fmtid="{D5CDD505-2E9C-101B-9397-08002B2CF9AE}" pid="4" name="MSIP_Label_693365b0-f3f5-456f-93ce-8e2e75f29462_Method">
    <vt:lpwstr>Standard</vt:lpwstr>
  </property>
  <property fmtid="{D5CDD505-2E9C-101B-9397-08002B2CF9AE}" pid="5" name="MSIP_Label_693365b0-f3f5-456f-93ce-8e2e75f29462_Name">
    <vt:lpwstr>defa4170-0d19-0005-0004-bc88714345d2</vt:lpwstr>
  </property>
  <property fmtid="{D5CDD505-2E9C-101B-9397-08002B2CF9AE}" pid="6" name="MSIP_Label_693365b0-f3f5-456f-93ce-8e2e75f29462_SiteId">
    <vt:lpwstr>13b77b1f-18a7-4706-b971-95f5e1c867d9</vt:lpwstr>
  </property>
  <property fmtid="{D5CDD505-2E9C-101B-9397-08002B2CF9AE}" pid="7" name="MSIP_Label_693365b0-f3f5-456f-93ce-8e2e75f29462_ActionId">
    <vt:lpwstr>5e9ebadf-0168-4b26-8633-8c4e4ea34bbf</vt:lpwstr>
  </property>
  <property fmtid="{D5CDD505-2E9C-101B-9397-08002B2CF9AE}" pid="8" name="MSIP_Label_693365b0-f3f5-456f-93ce-8e2e75f29462_ContentBits">
    <vt:lpwstr>0</vt:lpwstr>
  </property>
  <property fmtid="{D5CDD505-2E9C-101B-9397-08002B2CF9AE}" pid="9" name="MSIP_Label_693365b0-f3f5-456f-93ce-8e2e75f29462_Tag">
    <vt:lpwstr>50, 3, 0, 1</vt:lpwstr>
  </property>
</Properties>
</file>