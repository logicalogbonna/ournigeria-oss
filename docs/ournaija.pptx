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77"/>
    <p:restoredTop sz="91442"/>
  </p:normalViewPr>
  <p:slideViewPr>
    <p:cSldViewPr snapToGrid="0" snapToObjects="1">
      <p:cViewPr varScale="1">
        <p:scale>
          <a:sx n="206" d="100"/>
          <a:sy n="206" d="100"/>
        </p:scale>
        <p:origin x="53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011680" cy="4114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10B981"/>
                </a:solidFill>
                <a:latin typeface="Calibri"/>
              </a:rPr>
              <a:t>OUR NIGERIA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315200" cy="3149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200" b="1" dirty="0">
                <a:solidFill>
                  <a:srgbClr val="FFFFFF"/>
                </a:solidFill>
                <a:latin typeface="Calibri"/>
              </a:rPr>
              <a:t>To Fix </a:t>
            </a:r>
            <a:r>
              <a:rPr lang="en-US" sz="5200" b="1" dirty="0">
                <a:solidFill>
                  <a:srgbClr val="FFFFFF"/>
                </a:solidFill>
                <a:latin typeface="Calibri"/>
              </a:rPr>
              <a:t>Am</a:t>
            </a:r>
            <a:r>
              <a:rPr sz="5200" b="1" dirty="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5200" b="1" dirty="0">
                <a:solidFill>
                  <a:srgbClr val="10B981"/>
                </a:solidFill>
                <a:latin typeface="Calibri"/>
              </a:rPr>
              <a:t>We Must Know</a:t>
            </a:r>
            <a:r>
              <a:rPr lang="en-US" sz="5200" b="1" dirty="0">
                <a:solidFill>
                  <a:srgbClr val="10B981"/>
                </a:solidFill>
                <a:latin typeface="Calibri"/>
              </a:rPr>
              <a:t> Am</a:t>
            </a:r>
            <a:r>
              <a:rPr sz="5200" b="1" dirty="0">
                <a:solidFill>
                  <a:srgbClr val="10B981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 dirty="0">
                <a:solidFill>
                  <a:srgbClr val="D1D5DB"/>
                </a:solidFill>
                <a:latin typeface="Calibri"/>
              </a:rPr>
              <a:t>AI-powered transparency for Nigerian government budgets,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2000" b="0" dirty="0">
                <a:solidFill>
                  <a:srgbClr val="D1D5DB"/>
                </a:solidFill>
                <a:latin typeface="Calibri"/>
              </a:rPr>
              <a:t>spending, and corruption data. Ask in English or Pidgin.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dirty="0">
                <a:solidFill>
                  <a:srgbClr val="10B981"/>
                </a:solidFill>
                <a:latin typeface="Calibri"/>
              </a:rPr>
              <a:t>Because </a:t>
            </a:r>
            <a:r>
              <a:rPr sz="1800" b="1" dirty="0" err="1">
                <a:solidFill>
                  <a:srgbClr val="10B981"/>
                </a:solidFill>
                <a:latin typeface="Calibri"/>
              </a:rPr>
              <a:t>na</a:t>
            </a:r>
            <a:r>
              <a:rPr sz="1800" b="1" dirty="0">
                <a:solidFill>
                  <a:srgbClr val="10B981"/>
                </a:solidFill>
                <a:latin typeface="Calibri"/>
              </a:rPr>
              <a:t> </a:t>
            </a:r>
            <a:r>
              <a:rPr lang="en-US" sz="1800" b="1" dirty="0">
                <a:solidFill>
                  <a:srgbClr val="10B981"/>
                </a:solidFill>
                <a:latin typeface="Calibri"/>
              </a:rPr>
              <a:t>our</a:t>
            </a:r>
            <a:r>
              <a:rPr sz="1800" b="1" dirty="0">
                <a:solidFill>
                  <a:srgbClr val="10B981"/>
                </a:solidFill>
                <a:latin typeface="Calibri"/>
              </a:rPr>
              <a:t> money.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16683" y="502920"/>
            <a:ext cx="2377440" cy="16459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45283" y="7315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B981"/>
                </a:solidFill>
                <a:latin typeface="Calibri"/>
              </a:rPr>
              <a:t>700+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283" y="14173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Budget Documents
Ingested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16683" y="2423160"/>
            <a:ext cx="2377440" cy="16459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45283" y="2651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B981"/>
                </a:solidFill>
                <a:latin typeface="Calibri"/>
              </a:rPr>
              <a:t>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45283" y="33375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States &amp; FCT
Covered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16683" y="4343400"/>
            <a:ext cx="2377440" cy="16459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45283" y="45720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B981"/>
                </a:solidFill>
                <a:latin typeface="Calibri"/>
              </a:rPr>
              <a:t>2M+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45283" y="52578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Data Points
Indexed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Calibri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dirty="0">
                <a:solidFill>
                  <a:srgbClr val="FFFFFF"/>
                </a:solidFill>
                <a:latin typeface="Calibri"/>
              </a:rPr>
              <a:t>200 million Nigerians are locked out of understanding</a:t>
            </a:r>
            <a:r>
              <a:rPr lang="en-US" sz="3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3600" b="1" dirty="0">
                <a:solidFill>
                  <a:srgbClr val="FFFFFF"/>
                </a:solidFill>
                <a:latin typeface="Calibri"/>
              </a:rPr>
              <a:t>how their own money is spent.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96987"/>
            <a:ext cx="5303520" cy="16916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93414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34147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Government Spending is Opaque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391347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Budget documents are buried in dense PDFs across dozens of government websites. No unified access point exists for citizens.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796987"/>
            <a:ext cx="5303520" cy="16916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93414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934147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Information Overload &amp; Jargon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3391347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Thousands of pages of technical budget data written in dense bureaucratic language that excludes the average Nigerian.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17227"/>
            <a:ext cx="5303520" cy="16916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485438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854387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Corruption is Hard to Track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311587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EFCC and ICPC case records are scattered across news articles and court filings. No searchable database exists for citizens.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717227"/>
            <a:ext cx="5303520" cy="169164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485438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854387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No Accountability 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5311587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Citizens cannot compare spending across states, track contractor payments, or verify where public funds actually go.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3231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MARKET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intersection of civic tech, AI, and Africa's largest democracy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3200400" cy="274320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Calibri"/>
              </a:rPr>
              <a:t>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200M+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CA3AF"/>
                </a:solidFill>
                <a:latin typeface="Calibri"/>
              </a:rPr>
              <a:t>Nigerian citizens with a right to
know how public money is spent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286000"/>
            <a:ext cx="3200400" cy="274320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59669"/>
                </a:solidFill>
                <a:latin typeface="Calibri"/>
              </a:rPr>
              <a:t>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9260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45M+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8404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CA3AF"/>
                </a:solidFill>
                <a:latin typeface="Calibri"/>
              </a:rPr>
              <a:t>Internet-active Nigerians engaged
with news, politics, and civic issues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286000"/>
            <a:ext cx="3200400" cy="274320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Calibri"/>
              </a:rPr>
              <a:t>SOM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9260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2M+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8404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CA3AF"/>
                </a:solidFill>
                <a:latin typeface="Calibri"/>
              </a:rPr>
              <a:t>Journalists, researchers, NGOs,
students, and active civic citizens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Why Now?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D1D5DB"/>
                </a:solidFill>
                <a:latin typeface="Calibri"/>
              </a:rPr>
              <a:t>Nigeria's 2026 federal budget is N58.47 trillion  --  the largest ever. Public demand for transparency is at an all-time high.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CA3AF"/>
                </a:solidFill>
                <a:latin typeface="Calibri"/>
              </a:rPr>
              <a:t>AI advancements now make it possible to process 700+ budget documents and make them conversational.  |  Africa's civic tech market is projected to grow 25%+ YoY.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Most platforms give you raw PDFs.
We give you answers.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14912"/>
            <a:ext cx="2651760" cy="2695388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2814912"/>
            <a:ext cx="2651760" cy="381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0435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Uncover The Truth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5499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  <a:latin typeface="Calibri"/>
              </a:rPr>
              <a:t>"Find any record wey government hide"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86512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Search through 700+ budget documents, federal contractor payments, and corruption records across all 36 states + FCT.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814912"/>
            <a:ext cx="2651760" cy="2695388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566160" y="2814912"/>
            <a:ext cx="2651760" cy="381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40" y="30435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Ask in Plain Language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45499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  <a:latin typeface="Calibri"/>
              </a:rPr>
              <a:t>"Just ask like you dey talk to person"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4186512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No need to read thousands of complex pages. Ask questions in English or Pidgin and get clear, data-backed answers.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814912"/>
            <a:ext cx="2651760" cy="2695388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00800" y="2814912"/>
            <a:ext cx="2651760" cy="381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30435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Track Accountability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45499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  <a:latin typeface="Calibri"/>
              </a:rPr>
              <a:t>"See who dey do well and who dey mess up"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186512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Compare state budgets, track real-time GovSpend payments, and monitor EFCC/ICPC corruption investigations.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2814912"/>
            <a:ext cx="2651760" cy="2695388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235440" y="2814912"/>
            <a:ext cx="2651760" cy="381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8320" y="30435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100% Transparent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45499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  <a:latin typeface="Calibri"/>
              </a:rPr>
              <a:t>"Everything dey open, nothing dey hide"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4186512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All data from official government budget documents, financial portals, and anti-corruption agencies. Every answer cites sources.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From question to insight in seconds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474720" cy="3248212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560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Ask 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9184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1D5DB"/>
                </a:solidFill>
                <a:latin typeface="Calibri"/>
              </a:rPr>
              <a:t>Type your question in plain English or Pidgin. No login required for free tier.
Example: "How much did Lagos State budget for education in 2026?"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286000"/>
            <a:ext cx="3474720" cy="3248212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63439" y="251460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39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799" y="2560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AI Agents Analyze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329184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1D5DB"/>
                </a:solidFill>
                <a:latin typeface="Calibri"/>
              </a:rPr>
              <a:t>Our multi-agent pipeline routes your query to specialized analysts — Budget, Corruption, GovSpend, or Impact — who search 708K+ vector embeddings.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8" y="2286000"/>
            <a:ext cx="3474720" cy="3248212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12478" y="251460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78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38" y="2560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Get Verified Answers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198" y="329184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1D5DB"/>
                </a:solidFill>
                <a:latin typeface="Calibri"/>
              </a:rPr>
              <a:t>Receive a clear, sourced answer with interactive charts (22 types), real-world impact analysis, and links to original government documents.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19" y="3931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&gt;&gt;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58" y="3931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&gt;&gt;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PRODUCT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Wetin Dey Happen? -- A Platform Built for Citizens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303520" cy="100584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677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AI Chat with Budget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Multi-agent pipeline: Router, Budget Analyst, Corruption Analyst, Impact Analyst, GovSpend Analyst. Streaming responses via SSE.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37560"/>
            <a:ext cx="5303520" cy="100584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4107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22 Interactive Chart 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49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Bar, line, pie, treemap, waterfall, heatmap, gauge, radar, and more. Auto-generated from AI responses with Naira formatting.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80560"/>
            <a:ext cx="5303520" cy="100584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5537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Pidgin English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92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Ask in plain English or Pidgin and get answers that everyone can understand. "Wetin be Lagos 2023 budget?"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23560"/>
            <a:ext cx="5303520" cy="100584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6967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Shareable Public Conversations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035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Toggle conversations public with SEO-optimized pages, Open Graph metadata, and JSON-LD structured data for search indexing.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194560"/>
            <a:ext cx="5303520" cy="100584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22677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Real-Time GovSpend Tracker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06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Daily contractor payment data. Track ministry spending, beneficiary details, and historical records from 2018-2025.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337560"/>
            <a:ext cx="5303520" cy="100584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34107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Corruption Case 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749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Searchable EFCC and ICPC cases with charges, amounts, status, officials, and outcomes. Timeline tracking.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4480560"/>
            <a:ext cx="5303520" cy="100584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45537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Phone-Only Auth + Telegram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892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No passwords. OTP via phone (+234), Telegram OAuth, and session-based auth with 5-year cookies. Zero friction.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5623560"/>
            <a:ext cx="5303520" cy="100584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569671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Admin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6035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32+ pages covering ingestion tracking, conversation analytics, user metrics, feedback management, and system health.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DATA COVERAGE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most comprehensive Nigerian public finance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377440" cy="16459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B981"/>
                </a:solidFill>
                <a:latin typeface="Calibri"/>
              </a:rPr>
              <a:t>700+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0175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Budget Documents
Processed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103120"/>
            <a:ext cx="2377440" cy="16459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94760" y="23317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B981"/>
                </a:solidFill>
                <a:latin typeface="Calibri"/>
              </a:rPr>
              <a:t>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30175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States + FCT
Covered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03120"/>
            <a:ext cx="2377440" cy="16459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23317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B82F6"/>
                </a:solidFill>
                <a:latin typeface="Calibri"/>
              </a:rPr>
              <a:t>708,309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0175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Vector Chunks
Indexed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103120"/>
            <a:ext cx="2377440" cy="16459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64040" y="23317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59E0B"/>
                </a:solidFill>
                <a:latin typeface="Calibri"/>
              </a:rPr>
              <a:t>6+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30175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Data Sources
Integrated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5394960" cy="64008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State Budgets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4160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  <a:latin typeface="Calibri"/>
              </a:rPr>
              <a:t>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34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700+ documents across all 36 states + FCT, multiple years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114800"/>
            <a:ext cx="5394960" cy="64008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4160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Federal Budget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4160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  <a:latin typeface="Calibri"/>
              </a:rPr>
              <a:t>LIVE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434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N58.47 trillion (2026) — full allocation 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892040"/>
            <a:ext cx="5394960" cy="64008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4937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GovSpend Payments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49377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  <a:latin typeface="Calibri"/>
              </a:rPr>
              <a:t>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12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Daily federal contractor payments (2018-2025)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892040"/>
            <a:ext cx="5394960" cy="64008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4937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EFCC Cases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49377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  <a:latin typeface="Calibri"/>
              </a:rPr>
              <a:t>LIVE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212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Economic and Financial Crimes Commission investigations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669280"/>
            <a:ext cx="5394960" cy="64008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5715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ICPC Cases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57150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  <a:latin typeface="Calibri"/>
              </a:rPr>
              <a:t>LIVE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989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Independent Corrupt Practices Commission records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5669280"/>
            <a:ext cx="5394960" cy="64008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0" y="5715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Senate Bills &amp; MDAs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57150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F59E0B"/>
                </a:solidFill>
                <a:latin typeface="Calibri"/>
              </a:rPr>
              <a:t>COMING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5989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109 Senators, 360 HOR Members, legislation tracking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TECHNOLOGY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Production-grade AI infrastructure built for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6675120" cy="2899186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64922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D1D5DB"/>
                </a:solidFill>
                <a:latin typeface="Courier New"/>
              </a:rPr>
              <a:t>CLIENTS                                    AI PIPELINE
  Web App (</a:t>
            </a:r>
            <a:r>
              <a:rPr sz="1200" b="0" dirty="0" err="1">
                <a:solidFill>
                  <a:srgbClr val="D1D5DB"/>
                </a:solidFill>
                <a:latin typeface="Courier New"/>
              </a:rPr>
              <a:t>Next.js</a:t>
            </a:r>
            <a:r>
              <a:rPr sz="1200" b="0" dirty="0">
                <a:solidFill>
                  <a:srgbClr val="D1D5DB"/>
                </a:solidFill>
                <a:latin typeface="Courier New"/>
              </a:rPr>
              <a:t>)                          Router Agent
  Telegram Bot (@</a:t>
            </a:r>
            <a:r>
              <a:rPr sz="1200" b="0" dirty="0" err="1">
                <a:solidFill>
                  <a:srgbClr val="D1D5DB"/>
                </a:solidFill>
                <a:latin typeface="Courier New"/>
              </a:rPr>
              <a:t>ournigeria</a:t>
            </a:r>
            <a:r>
              <a:rPr sz="1200" b="0" dirty="0">
                <a:solidFill>
                  <a:srgbClr val="D1D5DB"/>
                </a:solidFill>
                <a:latin typeface="Courier New"/>
              </a:rPr>
              <a:t>)                    Budget Analyst
  Admin Dashboard                               Corruption Analyst
  Landing Page (Static)                         </a:t>
            </a:r>
            <a:r>
              <a:rPr sz="1200" b="0" dirty="0" err="1">
                <a:solidFill>
                  <a:srgbClr val="D1D5DB"/>
                </a:solidFill>
                <a:latin typeface="Courier New"/>
              </a:rPr>
              <a:t>GovSpend</a:t>
            </a:r>
            <a:r>
              <a:rPr sz="1200" b="0" dirty="0">
                <a:solidFill>
                  <a:srgbClr val="D1D5DB"/>
                </a:solidFill>
                <a:latin typeface="Courier New"/>
              </a:rPr>
              <a:t> Analyst
                                                Impact Analyst
         |
         v                                 INFRASTRUCTURE
  </a:t>
            </a:r>
            <a:r>
              <a:rPr sz="1200" b="0" dirty="0" err="1">
                <a:solidFill>
                  <a:srgbClr val="D1D5DB"/>
                </a:solidFill>
                <a:latin typeface="Courier New"/>
              </a:rPr>
              <a:t>NestJS</a:t>
            </a:r>
            <a:r>
              <a:rPr sz="1200" b="0" dirty="0">
                <a:solidFill>
                  <a:srgbClr val="D1D5DB"/>
                </a:solidFill>
                <a:latin typeface="Courier New"/>
              </a:rPr>
              <a:t> API                         PostgreSQL 16 + </a:t>
            </a:r>
            <a:r>
              <a:rPr sz="1200" b="0" dirty="0" err="1">
                <a:solidFill>
                  <a:srgbClr val="D1D5DB"/>
                </a:solidFill>
                <a:latin typeface="Courier New"/>
              </a:rPr>
              <a:t>pgvector</a:t>
            </a:r>
            <a:r>
              <a:rPr sz="1200" b="0" dirty="0">
                <a:solidFill>
                  <a:srgbClr val="D1D5DB"/>
                </a:solidFill>
                <a:latin typeface="Courier New"/>
              </a:rPr>
              <a:t>
  (SSE Streaming)                    Voyage AI Embeddings(1024-dim</a:t>
            </a:r>
            <a:r>
              <a:rPr lang="en-US" sz="1200" b="0" dirty="0">
                <a:solidFill>
                  <a:srgbClr val="D1D5DB"/>
                </a:solidFill>
                <a:latin typeface="Courier New"/>
              </a:rPr>
              <a:t>)</a:t>
            </a:r>
            <a:r>
              <a:rPr sz="1200" b="0" dirty="0">
                <a:solidFill>
                  <a:srgbClr val="D1D5DB"/>
                </a:solidFill>
                <a:latin typeface="Courier New"/>
              </a:rPr>
              <a:t>
  (OTP + Telegram Auth)                     708K+ Vector Chunks
  (</a:t>
            </a:r>
            <a:r>
              <a:rPr lang="en-US" sz="1200" b="0" dirty="0">
                <a:solidFill>
                  <a:srgbClr val="D1D5DB"/>
                </a:solidFill>
                <a:latin typeface="Courier New"/>
              </a:rPr>
              <a:t>AI</a:t>
            </a:r>
            <a:r>
              <a:rPr sz="1200" b="0" dirty="0">
                <a:solidFill>
                  <a:srgbClr val="D1D5DB"/>
                </a:solidFill>
                <a:latin typeface="Courier New"/>
              </a:rPr>
              <a:t> Multi-Agent)               </a:t>
            </a:r>
            <a:r>
              <a:rPr lang="en-US" sz="1200" b="0" dirty="0">
                <a:solidFill>
                  <a:srgbClr val="D1D5DB"/>
                </a:solidFill>
                <a:latin typeface="Courier New"/>
              </a:rPr>
              <a:t>    </a:t>
            </a:r>
            <a:r>
              <a:rPr sz="1200" b="0" dirty="0">
                <a:solidFill>
                  <a:srgbClr val="D1D5DB"/>
                </a:solidFill>
                <a:latin typeface="Courier New"/>
              </a:rPr>
              <a:t>Docker Compose (Production)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2103120"/>
            <a:ext cx="3657600" cy="82296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01000" y="2148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423160"/>
            <a:ext cx="3383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 err="1">
                <a:solidFill>
                  <a:srgbClr val="9CA3AF"/>
                </a:solidFill>
                <a:latin typeface="Calibri"/>
              </a:rPr>
              <a:t>NestJS</a:t>
            </a:r>
            <a:r>
              <a:rPr sz="1000" b="0" dirty="0">
                <a:solidFill>
                  <a:srgbClr val="9CA3AF"/>
                </a:solidFill>
                <a:latin typeface="Calibri"/>
              </a:rPr>
              <a:t>  / AI </a:t>
            </a:r>
            <a:r>
              <a:rPr lang="en-US" sz="1000" b="0" dirty="0">
                <a:solidFill>
                  <a:srgbClr val="9CA3AF"/>
                </a:solidFill>
                <a:latin typeface="Calibri"/>
              </a:rPr>
              <a:t>Agents</a:t>
            </a:r>
            <a:r>
              <a:rPr sz="1000" b="0" dirty="0">
                <a:solidFill>
                  <a:srgbClr val="9CA3AF"/>
                </a:solidFill>
                <a:latin typeface="Calibri"/>
              </a:rPr>
              <a:t> /  Prisma
PostgreSQL 16  /  </a:t>
            </a:r>
            <a:r>
              <a:rPr sz="1000" b="0" dirty="0" err="1">
                <a:solidFill>
                  <a:srgbClr val="9CA3AF"/>
                </a:solidFill>
                <a:latin typeface="Calibri"/>
              </a:rPr>
              <a:t>pgvector</a:t>
            </a:r>
            <a:endParaRPr sz="1000" b="0" dirty="0">
              <a:solidFill>
                <a:srgbClr val="9CA3AF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863840" y="3017520"/>
            <a:ext cx="3657600" cy="82296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01000" y="3063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Calibri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3337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Next.js 16  /  React 19
Tailwind v4  /  Recharts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931920"/>
            <a:ext cx="3657600" cy="82296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01000" y="3977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AI &amp;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4251960"/>
            <a:ext cx="3383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9CA3AF"/>
                </a:solidFill>
                <a:latin typeface="Calibri"/>
              </a:rPr>
              <a:t>Claude (Anthropic)  /  Voyage AI</a:t>
            </a:r>
            <a:r>
              <a:rPr lang="en-US" sz="1000" b="0" dirty="0">
                <a:solidFill>
                  <a:srgbClr val="9CA3AF"/>
                </a:solidFill>
                <a:latin typeface="Calibri"/>
              </a:rPr>
              <a:t> / </a:t>
            </a:r>
            <a:r>
              <a:rPr lang="en-US" sz="1000" b="0" dirty="0" err="1">
                <a:solidFill>
                  <a:srgbClr val="9CA3AF"/>
                </a:solidFill>
                <a:latin typeface="Calibri"/>
              </a:rPr>
              <a:t>OpenRouter</a:t>
            </a:r>
            <a:r>
              <a:rPr sz="1000" b="0" dirty="0">
                <a:solidFill>
                  <a:srgbClr val="9CA3AF"/>
                </a:solidFill>
                <a:latin typeface="Calibri"/>
              </a:rPr>
              <a:t>
</a:t>
            </a:r>
            <a:r>
              <a:rPr sz="1000" b="0" dirty="0" err="1">
                <a:solidFill>
                  <a:srgbClr val="9CA3AF"/>
                </a:solidFill>
                <a:latin typeface="Calibri"/>
              </a:rPr>
              <a:t>Langfuse</a:t>
            </a:r>
            <a:r>
              <a:rPr sz="1000" b="0" dirty="0">
                <a:solidFill>
                  <a:srgbClr val="9CA3AF"/>
                </a:solidFill>
                <a:latin typeface="Calibri"/>
              </a:rPr>
              <a:t>  /  Tesseract OCR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4846320"/>
            <a:ext cx="3657600" cy="82296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01000" y="48920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59669"/>
                </a:solidFill>
                <a:latin typeface="Calibri"/>
              </a:rPr>
              <a:t>DevOps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5166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Docker Compose  /  Nx Monorepo
pnpm  /  Infisical  /  OTEL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AI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Multi-Agent Pipeline: Specialized analysts for every query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0698480" cy="82296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2377440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1762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Router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514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Calibri"/>
              </a:rPr>
              <a:t>Intent Detection &amp; Routing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21945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Classifies incoming queries and routes to the appropriate specialist agent. Handles conversation context, follow-up resolution, and user profiling.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10698480" cy="82296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4400" y="3291840"/>
            <a:ext cx="228600" cy="2286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4440" y="30906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Budget Analyst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429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B82F6"/>
                </a:solidFill>
                <a:latin typeface="Calibri"/>
              </a:rPr>
              <a:t>State &amp; Federal Budget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1089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Searches 708K+ vector chunks from 700+ budget documents. Performs query decomposition, multi-state comparison, and year-over-year analysis with source citations.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10698480" cy="82296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4400" y="4206240"/>
            <a:ext cx="228600" cy="2286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34440" y="40050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Corruption Analyst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343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F4444"/>
                </a:solidFill>
                <a:latin typeface="Calibri"/>
              </a:rPr>
              <a:t>EFCC &amp; ICPC Case Research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40233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Searches corruption case records. Returns charges, amounts, officials involved, conviction status, and case timelines from anti-corruption agencies.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46320"/>
            <a:ext cx="10698480" cy="82296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14400" y="5120640"/>
            <a:ext cx="228600" cy="228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34440" y="49194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GovSpend Analyst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Calibri"/>
              </a:rPr>
              <a:t>Real-Time Payment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40" y="4937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Queries daily federal contractor payment data. Tracks ministry spending, beneficiary identification, and historical payment patterns (2018-2025).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60720"/>
            <a:ext cx="10698480" cy="82296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14400" y="6035040"/>
            <a:ext cx="228600" cy="2286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34440" y="58338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Impact Analyst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6172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59669"/>
                </a:solidFill>
                <a:latin typeface="Calibri"/>
              </a:rPr>
              <a:t>Real-World Translation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40" y="58521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Translates raw budget figures into relatable real-world equivalents. "N2.4B could build 48 primary schools" — making numbers meaningful for citizens.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BUSINESS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Freemium SaaS with tiered subscriptions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2743200" cy="45720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9CA3AF"/>
                </a:solidFill>
                <a:latin typeface="Calibri"/>
              </a:rPr>
              <a:t>N0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CA3AF"/>
                </a:solidFill>
                <a:latin typeface="Calibri"/>
              </a:rPr>
              <a:t>forever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D1D5DB"/>
                </a:solidFill>
                <a:latin typeface="Calibri"/>
              </a:rPr>
              <a:t>Casual Citizens &amp; Students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23360"/>
            <a:ext cx="2286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3AF"/>
                </a:solidFill>
                <a:latin typeface="Calibri"/>
              </a:rPr>
              <a:t>  10 messages/day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3AF"/>
                </a:solidFill>
                <a:latin typeface="Calibri"/>
              </a:rPr>
              <a:t>  Budget Analysis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3AF"/>
                </a:solidFill>
                <a:latin typeface="Calibri"/>
              </a:rPr>
              <a:t>  Corruption Tracker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3AF"/>
                </a:solidFill>
                <a:latin typeface="Calibri"/>
              </a:rPr>
              <a:t>  Pidgin Support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3AF"/>
                </a:solidFill>
                <a:latin typeface="Calibri"/>
              </a:rPr>
              <a:t>  GovSpend (3/day)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3AF"/>
                </a:solidFill>
                <a:latin typeface="Calibri"/>
              </a:rPr>
              <a:t>  24-hour history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103120"/>
            <a:ext cx="2743200" cy="457200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977640" y="1965960"/>
            <a:ext cx="1645920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77640" y="1965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MOST POPULAR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331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Starter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697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N1,500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CA3AF"/>
                </a:solidFill>
                <a:latin typeface="Calibri"/>
              </a:rPr>
              <a:t>/month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474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D1D5DB"/>
                </a:solidFill>
                <a:latin typeface="Calibri"/>
              </a:rPr>
              <a:t>Active Citizens &amp; Journalists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023360"/>
            <a:ext cx="2286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3AF"/>
                </a:solidFill>
                <a:latin typeface="Calibri"/>
              </a:rPr>
              <a:t>  100 messages/day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3AF"/>
                </a:solidFill>
                <a:latin typeface="Calibri"/>
              </a:rPr>
              <a:t>  Unlimited GovSpend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3AF"/>
                </a:solidFill>
                <a:latin typeface="Calibri"/>
              </a:rPr>
              <a:t>  30-day history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3AF"/>
                </a:solidFill>
                <a:latin typeface="Calibri"/>
              </a:rPr>
              <a:t>  Impact Analysis (5/day)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3AF"/>
                </a:solidFill>
                <a:latin typeface="Calibri"/>
              </a:rPr>
              <a:t>  Chart Export (PNG/CSV)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3AF"/>
                </a:solidFill>
                <a:latin typeface="Calibri"/>
              </a:rPr>
              <a:t>  Public Sharing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103120"/>
            <a:ext cx="2743200" cy="45720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2331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97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3B82F6"/>
                </a:solidFill>
                <a:latin typeface="Calibri"/>
              </a:rPr>
              <a:t>N5,000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CA3AF"/>
                </a:solidFill>
                <a:latin typeface="Calibri"/>
              </a:rPr>
              <a:t>/month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74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D1D5DB"/>
                </a:solidFill>
                <a:latin typeface="Calibri"/>
              </a:rPr>
              <a:t>Analysts &amp; Researchers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023360"/>
            <a:ext cx="2286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3AF"/>
                </a:solidFill>
                <a:latin typeface="Calibri"/>
              </a:rPr>
              <a:t>  Unlimited messages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3AF"/>
                </a:solidFill>
                <a:latin typeface="Calibri"/>
              </a:rPr>
              <a:t>  Unlimited history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3AF"/>
                </a:solidFill>
                <a:latin typeface="Calibri"/>
              </a:rPr>
              <a:t>  Source Doc Download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3AF"/>
                </a:solidFill>
                <a:latin typeface="Calibri"/>
              </a:rPr>
              <a:t>  Full PDF RAG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3AF"/>
                </a:solidFill>
                <a:latin typeface="Calibri"/>
              </a:rPr>
              <a:t>  Premium AI Models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3AF"/>
                </a:solidFill>
                <a:latin typeface="Calibri"/>
              </a:rPr>
              <a:t>  Priority Support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2103120"/>
            <a:ext cx="2743200" cy="45720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72600" y="2331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Institutional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697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59E0B"/>
                </a:solidFill>
                <a:latin typeface="Calibri"/>
              </a:rPr>
              <a:t>N50,000+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CA3AF"/>
                </a:solidFill>
                <a:latin typeface="Calibri"/>
              </a:rPr>
              <a:t>/month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3474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D1D5DB"/>
                </a:solidFill>
                <a:latin typeface="Calibri"/>
              </a:rPr>
              <a:t>Newsrooms, NGOs &amp; Agencies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4023360"/>
            <a:ext cx="2286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3AF"/>
                </a:solidFill>
                <a:latin typeface="Calibri"/>
              </a:rPr>
              <a:t>  Everything in Pro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3AF"/>
                </a:solidFill>
                <a:latin typeface="Calibri"/>
              </a:rPr>
              <a:t>  5+ Team Seats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3AF"/>
                </a:solidFill>
                <a:latin typeface="Calibri"/>
              </a:rPr>
              <a:t>  API Access (1K/mo)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3AF"/>
                </a:solidFill>
                <a:latin typeface="Calibri"/>
              </a:rPr>
              <a:t>  Custom Ingestion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3AF"/>
                </a:solidFill>
                <a:latin typeface="Calibri"/>
              </a:rPr>
              <a:t>  White-label Reports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3AF"/>
                </a:solidFill>
                <a:latin typeface="Calibri"/>
              </a:rPr>
              <a:t>  Dedicated Rep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What we have built — ready for launch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394960" cy="96012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762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Full Platform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21762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  <a:latin typeface="Calibri"/>
              </a:rPr>
              <a:t>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Production-ready web app, API, admin dashboard, Telegram bot, ingestion pipeline, and landing page.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03120"/>
            <a:ext cx="5394960" cy="96012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21762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700+ Documents Ingested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21762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  <a:latin typeface="Calibri"/>
              </a:rPr>
              <a:t>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146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Budget documents from all 36 states + FCT processed into 708,309 searchable vector chunks with zero errors.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00400"/>
            <a:ext cx="5394960" cy="96012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2735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Multi-Agent AI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2735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  <a:latin typeface="Calibri"/>
              </a:rPr>
              <a:t>DONE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118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5 specialized AI agents (Router, Budget, Corruption, GovSpend, Impact) with streaming responses.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200400"/>
            <a:ext cx="5394960" cy="96012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32735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22 Interactive Chart Types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32735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  <a:latin typeface="Calibri"/>
              </a:rPr>
              <a:t>DONE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6118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Auto-generated data visualizations with Naira formatting, rendered inline within chat responses.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97680"/>
            <a:ext cx="5394960" cy="96012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37083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Telegram Bot 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3708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  <a:latin typeface="Calibri"/>
              </a:rPr>
              <a:t>DONE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09160"/>
            <a:ext cx="5029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9CA3AF"/>
                </a:solidFill>
                <a:latin typeface="Calibri"/>
              </a:rPr>
              <a:t>@</a:t>
            </a:r>
            <a:r>
              <a:rPr sz="1100" b="0" dirty="0" err="1">
                <a:solidFill>
                  <a:srgbClr val="9CA3AF"/>
                </a:solidFill>
                <a:latin typeface="Calibri"/>
              </a:rPr>
              <a:t>ournigeria</a:t>
            </a:r>
            <a:r>
              <a:rPr lang="en-US" sz="1100" b="0" dirty="0" err="1">
                <a:solidFill>
                  <a:srgbClr val="9CA3AF"/>
                </a:solidFill>
                <a:latin typeface="Calibri"/>
              </a:rPr>
              <a:t>_bot</a:t>
            </a:r>
            <a:r>
              <a:rPr sz="1100" b="0" dirty="0">
                <a:solidFill>
                  <a:srgbClr val="9CA3AF"/>
                </a:solidFill>
                <a:latin typeface="Calibri"/>
              </a:rPr>
              <a:t> on Telegram — full AI chat capabilities, automatic user creation, webhook-based.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297680"/>
            <a:ext cx="5394960" cy="96012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437083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Admin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43708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  <a:latin typeface="Calibri"/>
              </a:rPr>
              <a:t>DONE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709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32+ pages: ingestion tracking, conversation analytics, user metrics, feedback, vector search, system health.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394960"/>
            <a:ext cx="5394960" cy="96012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54681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SEO-Optimized Public Sharing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546811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  <a:latin typeface="Calibri"/>
              </a:rPr>
              <a:t>DONE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8064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Shareable conversation pages with Open Graph, JSON-LD FAQPage schema, and SSR for search indexing.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5394960"/>
            <a:ext cx="5394960" cy="96012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0" y="54681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Docker Production Deploy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546811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  <a:latin typeface="Calibri"/>
              </a:rPr>
              <a:t>DONE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8064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Full Docker Compose stack with health checks, memory limits, and auto-migration on startup.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COMPETITIVE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No direct competitor combines AI + Nigerian budget data at this depth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2926080" cy="4572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2194560"/>
            <a:ext cx="1828800" cy="4572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Our Nigeria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2194560"/>
            <a:ext cx="1828800" cy="4572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5216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BudgIT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194560"/>
            <a:ext cx="1828800" cy="4572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GovSpend.ng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0" y="2194560"/>
            <a:ext cx="1828800" cy="4572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7552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Manual 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697480"/>
            <a:ext cx="2926080" cy="38404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7340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1D5DB"/>
                </a:solidFill>
                <a:latin typeface="Calibri"/>
              </a:rPr>
              <a:t>AI Conversational Search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0" y="2697480"/>
            <a:ext cx="1828800" cy="38404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31920" y="273405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Calibri"/>
              </a:rPr>
              <a:t>Yes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2697480"/>
            <a:ext cx="1828800" cy="38404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0" y="273405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Calibri"/>
              </a:rPr>
              <a:t>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2697480"/>
            <a:ext cx="1828800" cy="38404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55280" y="273405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Calibri"/>
              </a:rPr>
              <a:t>No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2697480"/>
            <a:ext cx="1828800" cy="38404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66960" y="273405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Calibri"/>
              </a:rPr>
              <a:t>No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127248"/>
            <a:ext cx="2926080" cy="384048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31638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1D5DB"/>
                </a:solidFill>
                <a:latin typeface="Calibri"/>
              </a:rPr>
              <a:t>All 36 States + FCT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0" y="3127248"/>
            <a:ext cx="1828800" cy="384048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31920" y="316382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Calibri"/>
              </a:rPr>
              <a:t>Yes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52160" y="3127248"/>
            <a:ext cx="1828800" cy="384048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0" y="316382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1D5DB"/>
                </a:solidFill>
                <a:latin typeface="Calibri"/>
              </a:rPr>
              <a:t>Partial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3127248"/>
            <a:ext cx="1828800" cy="384048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55280" y="316382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1D5DB"/>
                </a:solidFill>
                <a:latin typeface="Calibri"/>
              </a:rPr>
              <a:t>Federal only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75520" y="3127248"/>
            <a:ext cx="1828800" cy="384048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966960" y="316382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1D5DB"/>
                </a:solidFill>
                <a:latin typeface="Calibri"/>
              </a:rPr>
              <a:t>Varies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3557016"/>
            <a:ext cx="2926080" cy="38404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60" y="35935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1D5DB"/>
                </a:solidFill>
                <a:latin typeface="Calibri"/>
              </a:rPr>
              <a:t>Corruption Case Tracking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40480" y="3557016"/>
            <a:ext cx="1828800" cy="38404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931920" y="35935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Calibri"/>
              </a:rPr>
              <a:t>Yes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52160" y="3557016"/>
            <a:ext cx="1828800" cy="38404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43600" y="35935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Calibri"/>
              </a:rPr>
              <a:t>No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63840" y="3557016"/>
            <a:ext cx="1828800" cy="38404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955280" y="35935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Calibri"/>
              </a:rPr>
              <a:t>No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875520" y="3557016"/>
            <a:ext cx="1828800" cy="38404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966960" y="35935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Calibri"/>
              </a:rPr>
              <a:t>No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986784"/>
            <a:ext cx="2926080" cy="384048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2960" y="4023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1D5DB"/>
                </a:solidFill>
                <a:latin typeface="Calibri"/>
              </a:rPr>
              <a:t>Real-Time GovSpend Data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840480" y="3986784"/>
            <a:ext cx="1828800" cy="384048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931920" y="4023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Calibri"/>
              </a:rPr>
              <a:t>Yes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852160" y="3986784"/>
            <a:ext cx="1828800" cy="384048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943600" y="4023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Calibri"/>
              </a:rPr>
              <a:t>No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863840" y="3986784"/>
            <a:ext cx="1828800" cy="384048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955280" y="4023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1D5DB"/>
                </a:solidFill>
                <a:latin typeface="Calibri"/>
              </a:rPr>
              <a:t>Yes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875520" y="3986784"/>
            <a:ext cx="1828800" cy="384048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966960" y="4023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Calibri"/>
              </a:rPr>
              <a:t>No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1520" y="4416552"/>
            <a:ext cx="2926080" cy="38404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2960" y="44531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1D5DB"/>
                </a:solidFill>
                <a:latin typeface="Calibri"/>
              </a:rPr>
              <a:t>Pidgin English Support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840480" y="4416552"/>
            <a:ext cx="1828800" cy="38404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931920" y="44531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Calibri"/>
              </a:rPr>
              <a:t>Yes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852160" y="4416552"/>
            <a:ext cx="1828800" cy="38404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943600" y="44531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Calibri"/>
              </a:rPr>
              <a:t>No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863840" y="4416552"/>
            <a:ext cx="1828800" cy="38404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955280" y="44531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Calibri"/>
              </a:rPr>
              <a:t>No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875520" y="4416552"/>
            <a:ext cx="1828800" cy="38404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966960" y="44531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Calibri"/>
              </a:rPr>
              <a:t>No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31520" y="4846320"/>
            <a:ext cx="2926080" cy="384048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22960" y="48828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1D5DB"/>
                </a:solidFill>
                <a:latin typeface="Calibri"/>
              </a:rPr>
              <a:t>Interactive Charts (22 types)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840480" y="4846320"/>
            <a:ext cx="1828800" cy="384048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931920" y="488289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Calibri"/>
              </a:rPr>
              <a:t>Yes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852160" y="4846320"/>
            <a:ext cx="1828800" cy="384048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943600" y="488289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1D5DB"/>
                </a:solidFill>
                <a:latin typeface="Calibri"/>
              </a:rPr>
              <a:t>Limited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863840" y="4846320"/>
            <a:ext cx="1828800" cy="384048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955280" y="488289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1D5DB"/>
                </a:solidFill>
                <a:latin typeface="Calibri"/>
              </a:rPr>
              <a:t>Limited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875520" y="4846320"/>
            <a:ext cx="1828800" cy="384048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966960" y="488289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Calibri"/>
              </a:rPr>
              <a:t>No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31520" y="5276088"/>
            <a:ext cx="2926080" cy="38404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22960" y="531266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1D5DB"/>
                </a:solidFill>
                <a:latin typeface="Calibri"/>
              </a:rPr>
              <a:t>Telegram Bot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840480" y="5276088"/>
            <a:ext cx="1828800" cy="38404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931920" y="531266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Calibri"/>
              </a:rPr>
              <a:t>Yes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852160" y="5276088"/>
            <a:ext cx="1828800" cy="38404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943600" y="531266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Calibri"/>
              </a:rPr>
              <a:t>No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863840" y="5276088"/>
            <a:ext cx="1828800" cy="38404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955280" y="531266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Calibri"/>
              </a:rPr>
              <a:t>No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875520" y="5276088"/>
            <a:ext cx="1828800" cy="38404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9966960" y="531266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Calibri"/>
              </a:rPr>
              <a:t>No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5705856"/>
            <a:ext cx="2926080" cy="384048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22960" y="57424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1D5DB"/>
                </a:solidFill>
                <a:latin typeface="Calibri"/>
              </a:rPr>
              <a:t>Source-Cited Answers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840480" y="5705856"/>
            <a:ext cx="1828800" cy="384048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3931920" y="57424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Calibri"/>
              </a:rPr>
              <a:t>Yes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852160" y="5705856"/>
            <a:ext cx="1828800" cy="384048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943600" y="57424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Calibri"/>
              </a:rPr>
              <a:t>N/A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7863840" y="5705856"/>
            <a:ext cx="1828800" cy="384048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955280" y="57424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Calibri"/>
              </a:rPr>
              <a:t>N/A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875520" y="5705856"/>
            <a:ext cx="1828800" cy="384048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9966960" y="57424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Calibri"/>
              </a:rPr>
              <a:t>N/A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31520" y="6135624"/>
            <a:ext cx="2926080" cy="38404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822960" y="6172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1D5DB"/>
                </a:solidFill>
                <a:latin typeface="Calibri"/>
              </a:rPr>
              <a:t>Public Sharing + SEO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840480" y="6135624"/>
            <a:ext cx="1828800" cy="38404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3931920" y="6172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Calibri"/>
              </a:rPr>
              <a:t>Yes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5852160" y="6135624"/>
            <a:ext cx="1828800" cy="38404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5943600" y="6172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Calibri"/>
              </a:rPr>
              <a:t>No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863840" y="6135624"/>
            <a:ext cx="1828800" cy="38404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7955280" y="6172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Calibri"/>
              </a:rPr>
              <a:t>No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875520" y="6135624"/>
            <a:ext cx="1828800" cy="384048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9966960" y="6172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Calibri"/>
              </a:rPr>
              <a:t>No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GO-TO-MARKET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Three-phase growth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474720" cy="3658198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Launch &amp; Organic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CA3AF"/>
                </a:solidFill>
                <a:latin typeface="Calibri"/>
              </a:rPr>
              <a:t>Q1-Q2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31089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dirty="0">
                <a:solidFill>
                  <a:srgbClr val="D1D5DB"/>
                </a:solidFill>
                <a:latin typeface="Calibri"/>
              </a:rPr>
              <a:t>  Launch free tier to build user base and word-of-mouth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dirty="0">
                <a:solidFill>
                  <a:srgbClr val="D1D5DB"/>
                </a:solidFill>
                <a:latin typeface="Calibri"/>
              </a:rPr>
              <a:t>  Telegram bot as viral distribution channel (@</a:t>
            </a:r>
            <a:r>
              <a:rPr sz="1100" b="0" dirty="0" err="1">
                <a:solidFill>
                  <a:srgbClr val="D1D5DB"/>
                </a:solidFill>
                <a:latin typeface="Calibri"/>
              </a:rPr>
              <a:t>ournigeria</a:t>
            </a:r>
            <a:r>
              <a:rPr lang="en-US" sz="1100" b="0" dirty="0" err="1">
                <a:solidFill>
                  <a:srgbClr val="D1D5DB"/>
                </a:solidFill>
                <a:latin typeface="Calibri"/>
              </a:rPr>
              <a:t>_bot</a:t>
            </a:r>
            <a:r>
              <a:rPr sz="1100" b="0" dirty="0">
                <a:solidFill>
                  <a:srgbClr val="D1D5DB"/>
                </a:solidFill>
                <a:latin typeface="Calibri"/>
              </a:rPr>
              <a:t>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dirty="0">
                <a:solidFill>
                  <a:srgbClr val="D1D5DB"/>
                </a:solidFill>
                <a:latin typeface="Calibri"/>
              </a:rPr>
              <a:t>  SEO through public shared conversations (Google indexing)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dirty="0">
                <a:solidFill>
                  <a:srgbClr val="D1D5DB"/>
                </a:solidFill>
                <a:latin typeface="Calibri"/>
              </a:rPr>
              <a:t>  Partner with civic tech Twitter/X influencers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dirty="0">
                <a:solidFill>
                  <a:srgbClr val="D1D5DB"/>
                </a:solidFill>
                <a:latin typeface="Calibri"/>
              </a:rPr>
              <a:t>  University campus ambassador program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103120"/>
            <a:ext cx="3474720" cy="3658198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39" y="2240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Calibri"/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2514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Monetization &amp; Partnerships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2926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CA3AF"/>
                </a:solidFill>
                <a:latin typeface="Calibri"/>
              </a:rPr>
              <a:t>Q3-Q4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338328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D1D5DB"/>
                </a:solidFill>
                <a:latin typeface="Calibri"/>
              </a:rPr>
              <a:t>  Activate Starter &amp; Pro paid tiers (N1,500 - N5,000/mo)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D1D5DB"/>
                </a:solidFill>
                <a:latin typeface="Calibri"/>
              </a:rPr>
              <a:t>  Partner with media houses (Premium Times, The Cable, Sahara Reporters)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D1D5DB"/>
                </a:solidFill>
                <a:latin typeface="Calibri"/>
              </a:rPr>
              <a:t>  NGO partnerships (Transparency International, CISLAC, BPP)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D1D5DB"/>
                </a:solidFill>
                <a:latin typeface="Calibri"/>
              </a:rPr>
              <a:t>  WhatsApp channel for mass reach (100M+ Nigerian users)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D1D5DB"/>
                </a:solidFill>
                <a:latin typeface="Calibri"/>
              </a:rPr>
              <a:t>  Content marketing: weekly budget insight reports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8" y="2103120"/>
            <a:ext cx="3474720" cy="3658198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78" y="2240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8" y="2514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Scale &amp; Enterprise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8" y="2926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CA3AF"/>
                </a:solidFill>
                <a:latin typeface="Calibri"/>
              </a:rPr>
              <a:t>2027+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8" y="338328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D1D5DB"/>
                </a:solidFill>
                <a:latin typeface="Calibri"/>
              </a:rPr>
              <a:t>  Launch Institutional tier (N50,000+/mo) for newsrooms &amp; agencies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D1D5DB"/>
                </a:solidFill>
                <a:latin typeface="Calibri"/>
              </a:rPr>
              <a:t>  API access for third-party integrations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D1D5DB"/>
                </a:solidFill>
                <a:latin typeface="Calibri"/>
              </a:rPr>
              <a:t>  Expand to other African countries (Ghana, Kenya, South Africa)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D1D5DB"/>
                </a:solidFill>
                <a:latin typeface="Calibri"/>
              </a:rPr>
              <a:t>  Government and World Bank partnerships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D1D5DB"/>
                </a:solidFill>
                <a:latin typeface="Calibri"/>
              </a:rPr>
              <a:t>  Custom data ingestion for enterprise clients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THE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Built by Nigerians, for Nigerians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38247" y="2286000"/>
            <a:ext cx="7315200" cy="320040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95447" y="3059462"/>
            <a:ext cx="6400800" cy="1764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dirty="0">
                <a:solidFill>
                  <a:srgbClr val="10B981"/>
                </a:solidFill>
                <a:latin typeface="Calibri"/>
              </a:rPr>
              <a:t>Founder &amp; Technical Lead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lang="en-US" sz="2800" b="1" dirty="0">
                <a:solidFill>
                  <a:srgbClr val="FFFFFF"/>
                </a:solidFill>
                <a:latin typeface="Calibri"/>
              </a:rPr>
              <a:t>Ogbonna Arinze</a:t>
            </a:r>
            <a:endParaRPr sz="2800" b="1" dirty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lang="en-GB" sz="1400" b="0" dirty="0">
                <a:solidFill>
                  <a:srgbClr val="D1D5DB"/>
                </a:solidFill>
                <a:latin typeface="Calibri"/>
              </a:rPr>
              <a:t>Full-stack engineer behind the </a:t>
            </a:r>
            <a:r>
              <a:rPr lang="en-GB" sz="1400" b="1" dirty="0">
                <a:solidFill>
                  <a:srgbClr val="10B981"/>
                </a:solidFill>
                <a:latin typeface="Calibri"/>
              </a:rPr>
              <a:t>O</a:t>
            </a:r>
            <a:r>
              <a:rPr lang="en-GB" sz="1400" b="1" dirty="0">
                <a:solidFill>
                  <a:srgbClr val="10B981"/>
                </a:solidFill>
              </a:rPr>
              <a:t>ur Nigeria </a:t>
            </a:r>
            <a:r>
              <a:rPr lang="en-GB" sz="1400" b="0" dirty="0">
                <a:solidFill>
                  <a:srgbClr val="D1D5DB"/>
                </a:solidFill>
                <a:latin typeface="Calibri"/>
              </a:rPr>
              <a:t>Platform</a:t>
            </a:r>
            <a:endParaRPr lang="en-GB" sz="1300" b="0" dirty="0">
              <a:solidFill>
                <a:srgbClr val="9CA3A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GB" sz="1400" b="1" dirty="0">
                <a:solidFill>
                  <a:srgbClr val="10B981"/>
                </a:solidFill>
                <a:latin typeface="Calibri"/>
              </a:rPr>
              <a:t>From data collection to AI pipeline to pixel-perfect frontend — one person, one mission.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1D5DB"/>
                </a:solidFill>
                <a:latin typeface="Calibri"/>
              </a:rPr>
              <a:t>Hiring: Looking for co-founders in Product, Growth, and Data to scale Our Nigeria across Africa.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THE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Raising pre-seed to launch and scale across Nigeria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029200" cy="228600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4297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Pre-Seed Round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$150K - $300K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D1D5DB"/>
                </a:solidFill>
                <a:latin typeface="Calibri"/>
              </a:rPr>
              <a:t>12-18 month runway to reach 100K+ active users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D1D5DB"/>
                </a:solidFill>
                <a:latin typeface="Calibri"/>
              </a:rPr>
              <a:t>and achieve product-market fit in Nigeria.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94560"/>
            <a:ext cx="5303520" cy="22860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2331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Use of Funds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8346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35%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834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Infrastructure &amp; AI Costs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8346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LLM API, embeddings, hosting, database scaling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186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2186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Growth &amp; Marketing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2186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User acquisition, partnerships, campus ambassadors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60273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60273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Team Expansion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360273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Product, growth, and data engineering hires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8678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10%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9867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Operations &amp; Legal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98678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alibri"/>
              </a:rPr>
              <a:t>Company formation, compliance, accounting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46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Key Milestones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303520"/>
            <a:ext cx="2651760" cy="109728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3766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Month 1-3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71500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1D5DB"/>
                </a:solidFill>
                <a:latin typeface="Calibri"/>
              </a:rPr>
              <a:t>Public launch, 10K users, media partnerships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5303520"/>
            <a:ext cx="2651760" cy="109728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03320" y="53766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Month 4-6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571500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1D5DB"/>
                </a:solidFill>
                <a:latin typeface="Calibri"/>
              </a:rPr>
              <a:t>Paid tiers live, 50K users, WhatsApp integration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5303520"/>
            <a:ext cx="2651760" cy="109728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53766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Month 7-12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571500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1D5DB"/>
                </a:solidFill>
                <a:latin typeface="Calibri"/>
              </a:rPr>
              <a:t>100K users, institutional clients, revenue breakeven path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5303520"/>
            <a:ext cx="2651760" cy="109728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72600" y="53766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Month 12-18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571500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1D5DB"/>
                </a:solidFill>
                <a:latin typeface="Calibri"/>
              </a:rPr>
              <a:t>Pan-African expansion planning, Series A readiness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0"/>
              </a:spcAft>
            </a:pPr>
            <a:r>
              <a:rPr sz="5200" b="1" dirty="0">
                <a:solidFill>
                  <a:srgbClr val="FFFFFF"/>
                </a:solidFill>
                <a:latin typeface="Calibri"/>
              </a:rPr>
              <a:t>Together, For Our Nigeria.</a:t>
            </a:r>
          </a:p>
          <a:p>
            <a:pPr algn="ctr">
              <a:spcBef>
                <a:spcPts val="0"/>
              </a:spcBef>
              <a:spcAft>
                <a:spcPts val="3000"/>
              </a:spcAft>
            </a:pPr>
            <a:r>
              <a:rPr sz="3200" b="1" dirty="0">
                <a:solidFill>
                  <a:srgbClr val="10B981"/>
                </a:solidFill>
                <a:latin typeface="Calibri"/>
              </a:rPr>
              <a:t>The Power Dey Your Hand, Use Am.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0" dirty="0">
                <a:solidFill>
                  <a:srgbClr val="D1D5DB"/>
                </a:solidFill>
                <a:latin typeface="Calibri"/>
              </a:rPr>
              <a:t>Making government spending transparent and accessible to every Nigerian citizen.</a:t>
            </a:r>
          </a:p>
          <a:p>
            <a:pPr algn="ctr">
              <a:spcBef>
                <a:spcPts val="0"/>
              </a:spcBef>
              <a:spcAft>
                <a:spcPts val="4000"/>
              </a:spcAft>
            </a:pPr>
            <a:r>
              <a:rPr sz="1800" b="1" dirty="0">
                <a:solidFill>
                  <a:srgbClr val="10B981"/>
                </a:solidFill>
                <a:latin typeface="Calibri"/>
              </a:rPr>
              <a:t>Because </a:t>
            </a:r>
            <a:r>
              <a:rPr sz="1800" b="1" dirty="0" err="1">
                <a:solidFill>
                  <a:srgbClr val="10B981"/>
                </a:solidFill>
                <a:latin typeface="Calibri"/>
              </a:rPr>
              <a:t>na</a:t>
            </a:r>
            <a:r>
              <a:rPr sz="1800" b="1" dirty="0">
                <a:solidFill>
                  <a:srgbClr val="10B981"/>
                </a:solidFill>
                <a:latin typeface="Calibri"/>
              </a:rPr>
              <a:t> your money.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52647" y="4389120"/>
            <a:ext cx="5486400" cy="1645920"/>
          </a:xfrm>
          <a:prstGeom prst="roundRect">
            <a:avLst/>
          </a:prstGeom>
          <a:solidFill>
            <a:srgbClr val="1A1A1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26967" y="4572000"/>
            <a:ext cx="493776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800" b="1" dirty="0">
                <a:solidFill>
                  <a:srgbClr val="FFFFFF"/>
                </a:solidFill>
                <a:latin typeface="Calibri"/>
              </a:rPr>
              <a:t>Let's Talk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 dirty="0">
                <a:solidFill>
                  <a:srgbClr val="D1D5DB"/>
                </a:solidFill>
                <a:latin typeface="Calibri"/>
              </a:rPr>
              <a:t>Web:  </a:t>
            </a:r>
            <a:r>
              <a:rPr lang="en-US" sz="1400" b="0" dirty="0">
                <a:solidFill>
                  <a:srgbClr val="D1D5DB"/>
                </a:solidFill>
                <a:latin typeface="Calibri"/>
              </a:rPr>
              <a:t>https://</a:t>
            </a:r>
            <a:r>
              <a:rPr sz="1400" b="0" dirty="0" err="1">
                <a:solidFill>
                  <a:srgbClr val="D1D5DB"/>
                </a:solidFill>
                <a:latin typeface="Calibri"/>
              </a:rPr>
              <a:t>ournigeria.</a:t>
            </a:r>
            <a:r>
              <a:rPr lang="en-US" sz="1400" b="0" dirty="0" err="1">
                <a:solidFill>
                  <a:srgbClr val="D1D5DB"/>
                </a:solidFill>
                <a:latin typeface="Calibri"/>
              </a:rPr>
              <a:t>ng</a:t>
            </a:r>
            <a:r>
              <a:rPr sz="1400" b="0" dirty="0">
                <a:solidFill>
                  <a:srgbClr val="D1D5DB"/>
                </a:solidFill>
                <a:latin typeface="Calibri"/>
              </a:rPr>
              <a:t>    |    Telegram:  @</a:t>
            </a:r>
            <a:r>
              <a:rPr sz="1400" b="0" dirty="0" err="1">
                <a:solidFill>
                  <a:srgbClr val="D1D5DB"/>
                </a:solidFill>
                <a:latin typeface="Calibri"/>
              </a:rPr>
              <a:t>ournigeria</a:t>
            </a:r>
            <a:r>
              <a:rPr lang="en-US" sz="1400" b="0" dirty="0" err="1">
                <a:solidFill>
                  <a:srgbClr val="D1D5DB"/>
                </a:solidFill>
                <a:latin typeface="Calibri"/>
              </a:rPr>
              <a:t>_bot</a:t>
            </a:r>
            <a:endParaRPr sz="1400" b="0" dirty="0">
              <a:solidFill>
                <a:srgbClr val="D1D5DB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 dirty="0">
                <a:solidFill>
                  <a:srgbClr val="9CA3AF"/>
                </a:solidFill>
                <a:latin typeface="Calibri"/>
              </a:rPr>
              <a:t>Twitter/X:  @</a:t>
            </a:r>
            <a:r>
              <a:rPr lang="en-GB" sz="1400" dirty="0" err="1">
                <a:solidFill>
                  <a:srgbClr val="9CA3AF"/>
                </a:solidFill>
              </a:rPr>
              <a:t>awanigeria</a:t>
            </a:r>
            <a:endParaRPr sz="1400" b="0" dirty="0">
              <a:solidFill>
                <a:srgbClr val="9CA3AF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 dirty="0">
                <a:solidFill>
                  <a:srgbClr val="10B981"/>
                </a:solidFill>
                <a:latin typeface="Calibri"/>
              </a:rPr>
              <a:t>[</a:t>
            </a:r>
            <a:r>
              <a:rPr lang="en-US" sz="1400" dirty="0" err="1">
                <a:solidFill>
                  <a:srgbClr val="10B981"/>
                </a:solidFill>
                <a:latin typeface="Calibri"/>
              </a:rPr>
              <a:t>arinzeogbo</a:t>
            </a:r>
            <a:r>
              <a:rPr sz="1400" b="0" dirty="0" err="1">
                <a:solidFill>
                  <a:srgbClr val="10B981"/>
                </a:solidFill>
                <a:latin typeface="Calibri"/>
              </a:rPr>
              <a:t>@</a:t>
            </a:r>
            <a:r>
              <a:rPr lang="en-US" sz="1400" b="0" dirty="0" err="1">
                <a:solidFill>
                  <a:srgbClr val="10B981"/>
                </a:solidFill>
                <a:latin typeface="Calibri"/>
              </a:rPr>
              <a:t>gmail</a:t>
            </a:r>
            <a:r>
              <a:rPr sz="1400" b="0" dirty="0" err="1">
                <a:solidFill>
                  <a:srgbClr val="10B981"/>
                </a:solidFill>
                <a:latin typeface="Calibri"/>
              </a:rPr>
              <a:t>.</a:t>
            </a:r>
            <a:r>
              <a:rPr lang="en-US" sz="1400" b="0" dirty="0" err="1">
                <a:solidFill>
                  <a:srgbClr val="10B981"/>
                </a:solidFill>
                <a:latin typeface="Calibri"/>
              </a:rPr>
              <a:t>com</a:t>
            </a:r>
            <a:r>
              <a:rPr sz="1400" b="0" dirty="0">
                <a:solidFill>
                  <a:srgbClr val="10B981"/>
                </a:solidFill>
                <a:latin typeface="Calibri"/>
              </a:rPr>
              <a:t>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44652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CA3AF"/>
                </a:solidFill>
                <a:latin typeface="Calibri"/>
              </a:rPr>
              <a:t>We build am with love for Naija.  |  v0.1.0  |  2026 Our Nigeria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Calibri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2058</Words>
  <Application>Microsoft Macintosh PowerPoint</Application>
  <PresentationFormat>Widescreen</PresentationFormat>
  <Paragraphs>348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Ashton Ogbonna</cp:lastModifiedBy>
  <cp:revision>7</cp:revision>
  <dcterms:created xsi:type="dcterms:W3CDTF">2013-01-27T09:14:16Z</dcterms:created>
  <dcterms:modified xsi:type="dcterms:W3CDTF">2026-03-02T12:30:51Z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93365b0-f3f5-456f-93ce-8e2e75f29462_Enabled">
    <vt:lpwstr>true</vt:lpwstr>
  </property>
  <property fmtid="{D5CDD505-2E9C-101B-9397-08002B2CF9AE}" pid="3" name="MSIP_Label_693365b0-f3f5-456f-93ce-8e2e75f29462_SetDate">
    <vt:lpwstr>2026-03-02T11:55:45Z</vt:lpwstr>
  </property>
  <property fmtid="{D5CDD505-2E9C-101B-9397-08002B2CF9AE}" pid="4" name="MSIP_Label_693365b0-f3f5-456f-93ce-8e2e75f29462_Method">
    <vt:lpwstr>Standard</vt:lpwstr>
  </property>
  <property fmtid="{D5CDD505-2E9C-101B-9397-08002B2CF9AE}" pid="5" name="MSIP_Label_693365b0-f3f5-456f-93ce-8e2e75f29462_Name">
    <vt:lpwstr>defa4170-0d19-0005-0004-bc88714345d2</vt:lpwstr>
  </property>
  <property fmtid="{D5CDD505-2E9C-101B-9397-08002B2CF9AE}" pid="6" name="MSIP_Label_693365b0-f3f5-456f-93ce-8e2e75f29462_SiteId">
    <vt:lpwstr>13b77b1f-18a7-4706-b971-95f5e1c867d9</vt:lpwstr>
  </property>
  <property fmtid="{D5CDD505-2E9C-101B-9397-08002B2CF9AE}" pid="7" name="MSIP_Label_693365b0-f3f5-456f-93ce-8e2e75f29462_ActionId">
    <vt:lpwstr>5e9ebadf-0168-4b26-8633-8c4e4ea34bbf</vt:lpwstr>
  </property>
  <property fmtid="{D5CDD505-2E9C-101B-9397-08002B2CF9AE}" pid="8" name="MSIP_Label_693365b0-f3f5-456f-93ce-8e2e75f29462_ContentBits">
    <vt:lpwstr>0</vt:lpwstr>
  </property>
  <property fmtid="{D5CDD505-2E9C-101B-9397-08002B2CF9AE}" pid="9" name="MSIP_Label_693365b0-f3f5-456f-93ce-8e2e75f29462_Tag">
    <vt:lpwstr>50, 3, 0, 1</vt:lpwstr>
  </property>
</Properties>
</file>