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24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840480" y="457200"/>
            <a:ext cx="2743200" cy="2743200"/>
          </a:xfrm>
          <a:prstGeom prst="ellipse">
            <a:avLst/>
          </a:prstGeom>
          <a:solidFill>
            <a:srgbClr val="01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286000" cy="2286000"/>
          </a:xfrm>
          <a:prstGeom prst="ellipse">
            <a:avLst/>
          </a:prstGeom>
          <a:solidFill>
            <a:srgbClr val="01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0" y="-457200"/>
            <a:ext cx="1097280" cy="109728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502920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502920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502920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502920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502920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34440" y="502920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48640" y="516636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" y="516636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516636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0120" y="516636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97280" y="516636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234440" y="516636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48640" y="530352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30352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" y="530352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0120" y="530352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97280" y="530352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34440" y="530352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48640" y="544068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5800" y="544068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22960" y="544068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60120" y="544068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97280" y="544068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234440" y="544068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1097280"/>
            <a:ext cx="3657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D1FAE5"/>
                </a:solidFill>
                <a:latin typeface="Calibri"/>
              </a:defRPr>
            </a:pPr>
            <a:r>
              <a:t>OURNIGERIA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1828800"/>
            <a:ext cx="384048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5400"/>
              </a:lnSpc>
              <a:defRPr sz="4400" b="1">
                <a:solidFill>
                  <a:srgbClr val="FFFFFF"/>
                </a:solidFill>
                <a:latin typeface="Calibri"/>
              </a:defRPr>
            </a:pPr>
            <a:r>
              <a:t>Do More.</a:t>
            </a:r>
            <a:br/>
            <a:r>
              <a:t>Know More.</a:t>
            </a:r>
            <a:br/>
            <a:r>
              <a:t>Earn More.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" y="3931920"/>
            <a:ext cx="731520" cy="45720"/>
          </a:xfrm>
          <a:prstGeom prst="rect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4206240"/>
            <a:ext cx="38404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D1FAE5"/>
                </a:solidFill>
                <a:latin typeface="Calibri"/>
              </a:defRPr>
            </a:pPr>
            <a:r>
              <a:t>A partnership proposal for TechPoint Africa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59E6F"/>
                </a:solidFill>
                <a:latin typeface="Calibri"/>
              </a:defRPr>
            </a:pPr>
            <a:r>
              <a:t>PARTNERSHIP PROPOSAL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1920240"/>
            <a:ext cx="5029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800" b="1">
                <a:solidFill>
                  <a:srgbClr val="212529"/>
                </a:solidFill>
                <a:latin typeface="Calibri"/>
              </a:defRPr>
            </a:pPr>
            <a:r>
              <a:t>OurNigeria × TechPoint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3017520"/>
            <a:ext cx="731520" cy="45720"/>
          </a:xfrm>
          <a:prstGeom prst="rect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3383280"/>
            <a:ext cx="475488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600"/>
              </a:lnSpc>
              <a:defRPr sz="1700" b="0">
                <a:solidFill>
                  <a:srgbClr val="495057"/>
                </a:solidFill>
                <a:latin typeface="Calibri"/>
              </a:defRPr>
            </a:pPr>
            <a:r>
              <a:t>How structured government fiscal data</a:t>
            </a:r>
            <a:br/>
            <a:r>
              <a:t>transforms TechPoint's policy coverage</a:t>
            </a:r>
            <a:br/>
            <a:r>
              <a:t>into a differentiated revenue engine.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502920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59E6F"/>
                </a:solidFill>
                <a:latin typeface="Calibri"/>
              </a:defRPr>
            </a:pPr>
            <a:r>
              <a:t>700+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553212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495057"/>
                </a:solidFill>
                <a:latin typeface="Calibri"/>
              </a:defRPr>
            </a:pPr>
            <a:r>
              <a:t>Budget documents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0" y="502920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59E6F"/>
                </a:solidFill>
                <a:latin typeface="Calibri"/>
              </a:defRPr>
            </a:pPr>
            <a:r>
              <a:t>37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0" y="553212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495057"/>
                </a:solidFill>
                <a:latin typeface="Calibri"/>
              </a:defRPr>
            </a:pPr>
            <a:r>
              <a:t>States covered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0" y="502920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59E6F"/>
                </a:solidFill>
                <a:latin typeface="Calibri"/>
              </a:defRPr>
            </a:pPr>
            <a:r>
              <a:t>708K+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553212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495057"/>
                </a:solidFill>
                <a:latin typeface="Calibri"/>
              </a:defRPr>
            </a:pPr>
            <a:r>
              <a:t>Data points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03520" y="6309360"/>
            <a:ext cx="6888175" cy="5486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0" y="640080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68E96"/>
                </a:solidFill>
                <a:latin typeface="Calibri"/>
              </a:defRPr>
            </a:pPr>
            <a:r>
              <a:t>March 2026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59E6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212529"/>
                </a:solidFill>
                <a:latin typeface="Calibri"/>
              </a:defRPr>
            </a:pPr>
            <a:r>
              <a:t>Policy Coverage Without Fiscal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1097280" cy="45720"/>
          </a:xfrm>
          <a:prstGeom prst="rect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495057"/>
                </a:solidFill>
                <a:latin typeface="Calibri"/>
              </a:defRPr>
            </a:pPr>
            <a:r>
              <a:t>TechPoint writes about policy impact on tech — but every number comes from manually found PDFs.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60320"/>
            <a:ext cx="329184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9ECEF"/>
            </a:solidFill>
          </a:ln>
          <a:effectLst>
            <a:outerShdw blurRad="152400" dist="508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560320"/>
            <a:ext cx="3291840" cy="73152"/>
          </a:xfrm>
          <a:prstGeom prst="roundRect">
            <a:avLst>
              <a:gd name="adj" fmla="val 8000"/>
            </a:avLst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2880360"/>
            <a:ext cx="640080" cy="640080"/>
          </a:xfrm>
          <a:prstGeom prst="ellipse">
            <a:avLst/>
          </a:prstGeom>
          <a:solidFill>
            <a:srgbClr val="FDE8E8"/>
          </a:solidFill>
          <a:ln>
            <a:noFill/>
          </a:ln>
          <a:effectLst>
            <a:outerShdw blurRad="152400" dist="508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E84D60"/>
                </a:solidFill>
              </a:defRPr>
            </a:pPr>
            <a:r>
              <a:t>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20" y="297180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E84D60"/>
                </a:solidFill>
                <a:latin typeface="Calibri"/>
              </a:defRPr>
            </a:pPr>
            <a:r>
              <a:t>Hours Wasted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65760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212529"/>
                </a:solidFill>
                <a:latin typeface="Calibri"/>
              </a:defRPr>
            </a:pPr>
            <a:r>
              <a:t>Manual PDF Scraping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160520"/>
            <a:ext cx="274320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00"/>
              </a:lnSpc>
              <a:defRPr sz="1300" b="0">
                <a:solidFill>
                  <a:srgbClr val="495057"/>
                </a:solidFill>
                <a:latin typeface="Calibri"/>
              </a:defRPr>
            </a:pPr>
            <a:r>
              <a:t>Journalists spend hours hunting through scattered government PDFs for a single allocation figure. No API. No database. Just Google and hope.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2560320"/>
            <a:ext cx="329184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9ECEF"/>
            </a:solidFill>
          </a:ln>
          <a:effectLst>
            <a:outerShdw blurRad="152400" dist="508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80560" y="2560320"/>
            <a:ext cx="3291840" cy="73152"/>
          </a:xfrm>
          <a:prstGeom prst="roundRect">
            <a:avLst>
              <a:gd name="adj" fmla="val 8000"/>
            </a:avLst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54880" y="2880360"/>
            <a:ext cx="640080" cy="640080"/>
          </a:xfrm>
          <a:prstGeom prst="ellipse">
            <a:avLst/>
          </a:prstGeom>
          <a:solidFill>
            <a:srgbClr val="FDE8E8"/>
          </a:solidFill>
          <a:ln>
            <a:noFill/>
          </a:ln>
          <a:effectLst>
            <a:outerShdw blurRad="152400" dist="508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E84D60"/>
                </a:solidFill>
              </a:defRPr>
            </a:pPr>
            <a:r>
              <a:t>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297180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E84D60"/>
                </a:solidFill>
                <a:latin typeface="Calibri"/>
              </a:defRPr>
            </a:pPr>
            <a:r>
              <a:t>No Verification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65760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212529"/>
                </a:solidFill>
                <a:latin typeface="Calibri"/>
              </a:defRPr>
            </a:pPr>
            <a:r>
              <a:t>Can't Cross-Check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4160520"/>
            <a:ext cx="274320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00"/>
              </a:lnSpc>
              <a:defRPr sz="1300" b="0">
                <a:solidFill>
                  <a:srgbClr val="495057"/>
                </a:solidFill>
                <a:latin typeface="Calibri"/>
              </a:defRPr>
            </a:pPr>
            <a:r>
              <a:t>When the government says "₦X allocated," there's no way to verify against actual disbursements across 37 states and 774 LGAs.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2560320"/>
            <a:ext cx="329184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9ECEF"/>
            </a:solidFill>
          </a:ln>
          <a:effectLst>
            <a:outerShdw blurRad="152400" dist="508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38160" y="2560320"/>
            <a:ext cx="3291840" cy="73152"/>
          </a:xfrm>
          <a:prstGeom prst="roundRect">
            <a:avLst>
              <a:gd name="adj" fmla="val 8000"/>
            </a:avLst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12480" y="2880360"/>
            <a:ext cx="640080" cy="640080"/>
          </a:xfrm>
          <a:prstGeom prst="ellipse">
            <a:avLst/>
          </a:prstGeom>
          <a:solidFill>
            <a:srgbClr val="FDE8E8"/>
          </a:solidFill>
          <a:ln>
            <a:noFill/>
          </a:ln>
          <a:effectLst>
            <a:outerShdw blurRad="152400" dist="508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E84D60"/>
                </a:solidFill>
              </a:defRPr>
            </a:pPr>
            <a:r>
              <a:t>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97180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E84D60"/>
                </a:solidFill>
                <a:latin typeface="Calibri"/>
              </a:defRPr>
            </a:pPr>
            <a:r>
              <a:t>Commodity Content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65760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212529"/>
                </a:solidFill>
                <a:latin typeface="Calibri"/>
              </a:defRPr>
            </a:pPr>
            <a:r>
              <a:t>Same As Every Competitor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160520"/>
            <a:ext cx="274320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00"/>
              </a:lnSpc>
              <a:defRPr sz="1300" b="0">
                <a:solidFill>
                  <a:srgbClr val="495057"/>
                </a:solidFill>
                <a:latin typeface="Calibri"/>
              </a:defRPr>
            </a:pPr>
            <a:r>
              <a:t>TechCabal, Stears, The Cable — they all have the same data blind spot. Everyone's rewriting the same press releases.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59E6F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212529"/>
                </a:solidFill>
                <a:latin typeface="Calibri"/>
              </a:defRPr>
            </a:pPr>
            <a:r>
              <a:t>Structured Government Data, Instantly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1097280" cy="45720"/>
          </a:xfrm>
          <a:prstGeom prst="rect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495057"/>
                </a:solidFill>
                <a:latin typeface="Calibri"/>
              </a:defRPr>
            </a:pPr>
            <a:r>
              <a:t>OurNigeria's AI pipeline turns 700+ budget documents into queryable, structured intelligence.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468880"/>
            <a:ext cx="251460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9ECEF"/>
            </a:solidFill>
          </a:ln>
          <a:effectLst>
            <a:outerShdw blurRad="152400" dist="508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468880"/>
            <a:ext cx="2514600" cy="54864"/>
          </a:xfrm>
          <a:prstGeom prst="roundRect">
            <a:avLst>
              <a:gd name="adj" fmla="val 8000"/>
            </a:avLst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2743200"/>
            <a:ext cx="594360" cy="594360"/>
          </a:xfrm>
          <a:prstGeom prst="ellipse">
            <a:avLst/>
          </a:prstGeom>
          <a:solidFill>
            <a:srgbClr val="059E6F"/>
          </a:solidFill>
          <a:ln>
            <a:noFill/>
          </a:ln>
          <a:effectLst>
            <a:outerShdw blurRad="152400" dist="508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474720"/>
            <a:ext cx="1965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12529"/>
                </a:solidFill>
                <a:latin typeface="Calibri"/>
              </a:defRPr>
            </a:pPr>
            <a:r>
              <a:t>FAAC Allocations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31920"/>
            <a:ext cx="196596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defRPr sz="1200" b="0">
                <a:solidFill>
                  <a:srgbClr val="495057"/>
                </a:solidFill>
                <a:latin typeface="Calibri"/>
              </a:defRPr>
            </a:pPr>
            <a:r>
              <a:t>Monthly federal transfers to every state and LGA. Historical trends. Compare across regions and time periods.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2468880"/>
            <a:ext cx="251460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9ECEF"/>
            </a:solidFill>
          </a:ln>
          <a:effectLst>
            <a:outerShdw blurRad="152400" dist="508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57600" y="2468880"/>
            <a:ext cx="2514600" cy="54864"/>
          </a:xfrm>
          <a:prstGeom prst="roundRect">
            <a:avLst>
              <a:gd name="adj" fmla="val 8000"/>
            </a:avLst>
          </a:prstGeom>
          <a:solidFill>
            <a:srgbClr val="339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31920" y="2743200"/>
            <a:ext cx="594360" cy="594360"/>
          </a:xfrm>
          <a:prstGeom prst="ellipse">
            <a:avLst/>
          </a:prstGeom>
          <a:solidFill>
            <a:srgbClr val="339AF0"/>
          </a:solidFill>
          <a:ln>
            <a:noFill/>
          </a:ln>
          <a:effectLst>
            <a:outerShdw blurRad="152400" dist="508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</a:defRPr>
            </a:pPr>
            <a:r>
              <a:t>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474720"/>
            <a:ext cx="1965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12529"/>
                </a:solidFill>
                <a:latin typeface="Calibri"/>
              </a:defRPr>
            </a:pPr>
            <a:r>
              <a:t>Budget Line Items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3931920"/>
            <a:ext cx="196596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defRPr sz="1200" b="0">
                <a:solidFill>
                  <a:srgbClr val="495057"/>
                </a:solidFill>
                <a:latin typeface="Calibri"/>
              </a:defRPr>
            </a:pPr>
            <a:r>
              <a:t>What each of 37 states allocated to tech, digital economy, science &amp; innovation. Searchable by ministry.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2468880"/>
            <a:ext cx="251460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9ECEF"/>
            </a:solidFill>
          </a:ln>
          <a:effectLst>
            <a:outerShdw blurRad="152400" dist="508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92240" y="2468880"/>
            <a:ext cx="2514600" cy="54864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766560" y="2743200"/>
            <a:ext cx="594360" cy="594360"/>
          </a:xfrm>
          <a:prstGeom prst="ellipse">
            <a:avLst/>
          </a:prstGeom>
          <a:solidFill>
            <a:srgbClr val="7C3AED"/>
          </a:solidFill>
          <a:ln>
            <a:noFill/>
          </a:ln>
          <a:effectLst>
            <a:outerShdw blurRad="152400" dist="508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</a:defRPr>
            </a:pPr>
            <a:r>
              <a:t>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474720"/>
            <a:ext cx="1965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12529"/>
                </a:solidFill>
                <a:latin typeface="Calibri"/>
              </a:defRPr>
            </a:pPr>
            <a:r>
              <a:t>Spending vs. Allocation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931920"/>
            <a:ext cx="196596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defRPr sz="1200" b="0">
                <a:solidFill>
                  <a:srgbClr val="495057"/>
                </a:solidFill>
                <a:latin typeface="Calibri"/>
              </a:defRPr>
            </a:pPr>
            <a:r>
              <a:t>Where budgeted money actually went — or didn't go. The accountability layer that no one else provides.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0" y="2468880"/>
            <a:ext cx="251460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9ECEF"/>
            </a:solidFill>
          </a:ln>
          <a:effectLst>
            <a:outerShdw blurRad="152400" dist="508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326880" y="2468880"/>
            <a:ext cx="2514600" cy="54864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01200" y="2743200"/>
            <a:ext cx="594360" cy="594360"/>
          </a:xfrm>
          <a:prstGeom prst="ellipse">
            <a:avLst/>
          </a:prstGeom>
          <a:solidFill>
            <a:srgbClr val="F59E0B"/>
          </a:solidFill>
          <a:ln>
            <a:noFill/>
          </a:ln>
          <a:effectLst>
            <a:outerShdw blurRad="152400" dist="508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</a:defRPr>
            </a:pPr>
            <a:r>
              <a:t>⚠️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474720"/>
            <a:ext cx="1965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12529"/>
                </a:solidFill>
                <a:latin typeface="Calibri"/>
              </a:defRPr>
            </a:pPr>
            <a:r>
              <a:t>Corruption Flags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3931920"/>
            <a:ext cx="196596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defRPr sz="1200" b="0">
                <a:solidFill>
                  <a:srgbClr val="495057"/>
                </a:solidFill>
                <a:latin typeface="Calibri"/>
              </a:defRPr>
            </a:pPr>
            <a:r>
              <a:t>Documented cases tied to specific budget lines, agencies, and amounts. Cross-referenced with public records.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760720"/>
            <a:ext cx="11277295" cy="822960"/>
          </a:xfrm>
          <a:prstGeom prst="roundRect">
            <a:avLst>
              <a:gd name="adj" fmla="val 8000"/>
            </a:avLst>
          </a:prstGeom>
          <a:solidFill>
            <a:srgbClr val="024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5833872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700+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6144768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D1FAE5"/>
                </a:solidFill>
                <a:latin typeface="Calibri"/>
              </a:defRPr>
            </a:pPr>
            <a:r>
              <a:t>Documents</a:t>
            </a:r>
          </a:p>
        </p:txBody>
      </p:sp>
      <p:sp>
        <p:nvSpPr>
          <p:cNvPr id="30" name="Oval 29"/>
          <p:cNvSpPr/>
          <p:nvPr/>
        </p:nvSpPr>
        <p:spPr>
          <a:xfrm>
            <a:off x="3017520" y="6080760"/>
            <a:ext cx="54864" cy="54864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91839" y="5833872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37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39" y="6144768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D1FAE5"/>
                </a:solidFill>
                <a:latin typeface="Calibri"/>
              </a:defRPr>
            </a:pPr>
            <a:r>
              <a:t>States</a:t>
            </a:r>
          </a:p>
        </p:txBody>
      </p:sp>
      <p:sp>
        <p:nvSpPr>
          <p:cNvPr id="33" name="Oval 32"/>
          <p:cNvSpPr/>
          <p:nvPr/>
        </p:nvSpPr>
        <p:spPr>
          <a:xfrm>
            <a:off x="5212079" y="6080760"/>
            <a:ext cx="54864" cy="54864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0" y="5833872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774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6144768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D1FAE5"/>
                </a:solidFill>
                <a:latin typeface="Calibri"/>
              </a:defRPr>
            </a:pPr>
            <a:r>
              <a:t>LGAs</a:t>
            </a:r>
          </a:p>
        </p:txBody>
      </p:sp>
      <p:sp>
        <p:nvSpPr>
          <p:cNvPr id="36" name="Oval 35"/>
          <p:cNvSpPr/>
          <p:nvPr/>
        </p:nvSpPr>
        <p:spPr>
          <a:xfrm>
            <a:off x="7406640" y="6080760"/>
            <a:ext cx="54864" cy="54864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80959" y="5833872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708K+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59" y="6144768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D1FAE5"/>
                </a:solidFill>
                <a:latin typeface="Calibri"/>
              </a:defRPr>
            </a:pPr>
            <a:r>
              <a:t>Data Points</a:t>
            </a:r>
          </a:p>
        </p:txBody>
      </p:sp>
      <p:sp>
        <p:nvSpPr>
          <p:cNvPr id="39" name="Oval 38"/>
          <p:cNvSpPr/>
          <p:nvPr/>
        </p:nvSpPr>
        <p:spPr>
          <a:xfrm>
            <a:off x="9601199" y="6080760"/>
            <a:ext cx="54864" cy="54864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75519" y="5833872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75519" y="6144768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D1FAE5"/>
                </a:solidFill>
                <a:latin typeface="Calibri"/>
              </a:defRPr>
            </a:pPr>
            <a:r>
              <a:t>Natural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59E6F"/>
                </a:solidFill>
                <a:latin typeface="Calibri"/>
              </a:defRPr>
            </a:pPr>
            <a:r>
              <a:t>THE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212529"/>
                </a:solidFill>
                <a:latin typeface="Calibri"/>
              </a:defRPr>
            </a:pPr>
            <a:r>
              <a:t>6 Revenue Multipliers for TechPoint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1097280" cy="45720"/>
          </a:xfrm>
          <a:prstGeom prst="rect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29200" y="2743200"/>
            <a:ext cx="1828800" cy="1828800"/>
          </a:xfrm>
          <a:prstGeom prst="ellipse">
            <a:avLst/>
          </a:prstGeom>
          <a:solidFill>
            <a:srgbClr val="024D36"/>
          </a:solidFill>
          <a:ln>
            <a:noFill/>
          </a:ln>
          <a:effectLst>
            <a:outerShdw blurRad="152400" dist="508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More</a:t>
            </a:r>
            <a:br/>
            <a:r>
              <a:t>Revenue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011680"/>
            <a:ext cx="19202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59E6F"/>
            </a:solidFill>
          </a:ln>
          <a:effectLst>
            <a:outerShdw blurRad="152400" dist="508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011680"/>
            <a:ext cx="1920240" cy="45720"/>
          </a:xfrm>
          <a:prstGeom prst="roundRect">
            <a:avLst>
              <a:gd name="adj" fmla="val 8000"/>
            </a:avLst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4884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59E6F"/>
                </a:solidFill>
                <a:latin typeface="Calibri"/>
              </a:defRPr>
            </a:pPr>
            <a:r>
              <a:t>Ad 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560320"/>
            <a:ext cx="1645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000" b="0">
                <a:solidFill>
                  <a:srgbClr val="495057"/>
                </a:solidFill>
                <a:latin typeface="Calibri"/>
              </a:defRPr>
            </a:pPr>
            <a:r>
              <a:t>Higher CPMs from</a:t>
            </a:r>
            <a:br/>
            <a:r>
              <a:t>data-exclusive content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389120"/>
            <a:ext cx="19202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39AF0"/>
            </a:solidFill>
          </a:ln>
          <a:effectLst>
            <a:outerShdw blurRad="152400" dist="508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4389120"/>
            <a:ext cx="1920240" cy="45720"/>
          </a:xfrm>
          <a:prstGeom prst="roundRect">
            <a:avLst>
              <a:gd name="adj" fmla="val 8000"/>
            </a:avLst>
          </a:prstGeom>
          <a:solidFill>
            <a:srgbClr val="339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52628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339AF0"/>
                </a:solidFill>
                <a:latin typeface="Calibri"/>
              </a:defRPr>
            </a:pPr>
            <a:r>
              <a:t>Sponsored</a:t>
            </a:r>
            <a:br/>
            <a:r>
              <a:t>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937760"/>
            <a:ext cx="1645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000" b="0">
                <a:solidFill>
                  <a:srgbClr val="495057"/>
                </a:solidFill>
                <a:latin typeface="Calibri"/>
              </a:defRPr>
            </a:pPr>
            <a:r>
              <a:t>Premium "Policy</a:t>
            </a:r>
            <a:br/>
            <a:r>
              <a:t>Intelligence" tier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23360" y="5303520"/>
            <a:ext cx="19202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59E0B"/>
            </a:solidFill>
          </a:ln>
          <a:effectLst>
            <a:outerShdw blurRad="152400" dist="508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023360" y="5303520"/>
            <a:ext cx="1920240" cy="4572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60520" y="544068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Newsletter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5852160"/>
            <a:ext cx="1645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000" b="0">
                <a:solidFill>
                  <a:srgbClr val="495057"/>
                </a:solidFill>
                <a:latin typeface="Calibri"/>
              </a:defRPr>
            </a:pPr>
            <a:r>
              <a:t>Exclusive data →</a:t>
            </a:r>
            <a:br/>
            <a:r>
              <a:t>higher open rates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5303520"/>
            <a:ext cx="19202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  <a:effectLst>
            <a:outerShdw blurRad="152400" dist="508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589520" y="5303520"/>
            <a:ext cx="1920240" cy="4572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26680" y="544068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7C3AED"/>
                </a:solidFill>
                <a:latin typeface="Calibri"/>
              </a:defRPr>
            </a:pPr>
            <a:r>
              <a:t>Events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80" y="5852160"/>
            <a:ext cx="1645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000" b="0">
                <a:solidFill>
                  <a:srgbClr val="495057"/>
                </a:solidFill>
                <a:latin typeface="Calibri"/>
              </a:defRPr>
            </a:pPr>
            <a:r>
              <a:t>New sponsor</a:t>
            </a:r>
            <a:br/>
            <a:r>
              <a:t>category unlocked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18320" y="4389120"/>
            <a:ext cx="19202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84D60"/>
            </a:solidFill>
          </a:ln>
          <a:effectLst>
            <a:outerShdw blurRad="152400" dist="508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418320" y="4389120"/>
            <a:ext cx="1920240" cy="45720"/>
          </a:xfrm>
          <a:prstGeom prst="roundRect">
            <a:avLst>
              <a:gd name="adj" fmla="val 8000"/>
            </a:avLst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55480" y="452628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E84D60"/>
                </a:solidFill>
                <a:latin typeface="Calibri"/>
              </a:defRPr>
            </a:pPr>
            <a:r>
              <a:t>IntelPoint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480" y="4937760"/>
            <a:ext cx="1645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000" b="0">
                <a:solidFill>
                  <a:srgbClr val="495057"/>
                </a:solidFill>
                <a:latin typeface="Calibri"/>
              </a:defRPr>
            </a:pPr>
            <a:r>
              <a:t>Reports in hours</a:t>
            </a:r>
            <a:br/>
            <a:r>
              <a:t>not days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18320" y="2011680"/>
            <a:ext cx="19202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24D36"/>
            </a:solidFill>
          </a:ln>
          <a:effectLst>
            <a:outerShdw blurRad="152400" dist="508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418320" y="2011680"/>
            <a:ext cx="1920240" cy="45720"/>
          </a:xfrm>
          <a:prstGeom prst="roundRect">
            <a:avLst>
              <a:gd name="adj" fmla="val 8000"/>
            </a:avLst>
          </a:prstGeom>
          <a:solidFill>
            <a:srgbClr val="024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55480" y="214884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24D36"/>
                </a:solidFill>
                <a:latin typeface="Calibri"/>
              </a:defRPr>
            </a:pPr>
            <a:r>
              <a:t>Competitive</a:t>
            </a:r>
            <a:br/>
            <a:r>
              <a:t>Moat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55480" y="2560320"/>
            <a:ext cx="1645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000" b="0">
                <a:solidFill>
                  <a:srgbClr val="495057"/>
                </a:solidFill>
                <a:latin typeface="Calibri"/>
              </a:defRPr>
            </a:pPr>
            <a:r>
              <a:t>First mover</a:t>
            </a:r>
            <a:br/>
            <a:r>
              <a:t>advantage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59E6F"/>
                </a:solidFill>
                <a:latin typeface="Calibri"/>
              </a:defRPr>
            </a:pPr>
            <a:r>
              <a:t>REVENUE DRIVER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5486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212529"/>
                </a:solidFill>
                <a:latin typeface="Calibri"/>
              </a:defRPr>
            </a:pPr>
            <a:r>
              <a:t>Higher-Value Ad Inventory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1097280" cy="45720"/>
          </a:xfrm>
          <a:prstGeom prst="rect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495057"/>
                </a:solidFill>
                <a:latin typeface="Calibri"/>
              </a:defRPr>
            </a:pPr>
            <a:r>
              <a:t>How data-exclusive content drives ad revenue: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286000"/>
            <a:ext cx="457200" cy="457200"/>
          </a:xfrm>
          <a:prstGeom prst="ellipse">
            <a:avLst/>
          </a:prstGeom>
          <a:solidFill>
            <a:srgbClr val="059E6F"/>
          </a:solidFill>
          <a:ln>
            <a:noFill/>
          </a:ln>
          <a:effectLst>
            <a:outerShdw blurRad="152400" dist="508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743200"/>
            <a:ext cx="36576" cy="59436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30428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212529"/>
                </a:solidFill>
                <a:latin typeface="Calibri"/>
              </a:defRPr>
            </a:pPr>
            <a:r>
              <a:t>Exclusive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60604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95057"/>
                </a:solidFill>
                <a:latin typeface="Calibri"/>
              </a:defRPr>
            </a:pPr>
            <a:r>
              <a:t>Government fiscal data</a:t>
            </a:r>
            <a:br/>
            <a:r>
              <a:t>no competitor has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337560"/>
            <a:ext cx="457200" cy="457200"/>
          </a:xfrm>
          <a:prstGeom prst="ellipse">
            <a:avLst/>
          </a:prstGeom>
          <a:solidFill>
            <a:srgbClr val="059E6F"/>
          </a:solidFill>
          <a:ln>
            <a:noFill/>
          </a:ln>
          <a:effectLst>
            <a:outerShdw blurRad="152400" dist="508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3794760"/>
            <a:ext cx="36576" cy="59436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335584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212529"/>
                </a:solidFill>
                <a:latin typeface="Calibri"/>
              </a:defRPr>
            </a:pPr>
            <a:r>
              <a:t>Better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65760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95057"/>
                </a:solidFill>
                <a:latin typeface="Calibri"/>
              </a:defRPr>
            </a:pPr>
            <a:r>
              <a:t>Data-backed articles rank</a:t>
            </a:r>
            <a:br/>
            <a:r>
              <a:t>higher, get shared more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389120"/>
            <a:ext cx="457200" cy="457200"/>
          </a:xfrm>
          <a:prstGeom prst="ellipse">
            <a:avLst/>
          </a:prstGeom>
          <a:solidFill>
            <a:srgbClr val="059E6F"/>
          </a:solidFill>
          <a:ln>
            <a:noFill/>
          </a:ln>
          <a:effectLst>
            <a:outerShdw blurRad="152400" dist="508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4846320"/>
            <a:ext cx="36576" cy="59436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40" y="440740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212529"/>
                </a:solidFill>
                <a:latin typeface="Calibri"/>
              </a:defRPr>
            </a:pPr>
            <a:r>
              <a:t>Premium Audience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70916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95057"/>
                </a:solidFill>
                <a:latin typeface="Calibri"/>
              </a:defRPr>
            </a:pPr>
            <a:r>
              <a:t>High-intent readers:</a:t>
            </a:r>
            <a:br/>
            <a:r>
              <a:t>fintech + enterprise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5440679"/>
            <a:ext cx="457200" cy="457200"/>
          </a:xfrm>
          <a:prstGeom prst="ellipse">
            <a:avLst/>
          </a:prstGeom>
          <a:solidFill>
            <a:srgbClr val="059E6F"/>
          </a:solidFill>
          <a:ln>
            <a:noFill/>
          </a:ln>
          <a:effectLst>
            <a:outerShdw blurRad="152400" dist="508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458967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212529"/>
                </a:solidFill>
                <a:latin typeface="Calibri"/>
              </a:defRPr>
            </a:pPr>
            <a:r>
              <a:t>Higher CPMs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5760719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95057"/>
                </a:solidFill>
                <a:latin typeface="Calibri"/>
              </a:defRPr>
            </a:pPr>
            <a:r>
              <a:t>Advertisers pay more</a:t>
            </a:r>
            <a:br/>
            <a:r>
              <a:t>for this demographic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1691640"/>
            <a:ext cx="548640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9ECEF"/>
            </a:solidFill>
          </a:ln>
          <a:effectLst>
            <a:outerShdw blurRad="152400" dist="508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943600" y="1691640"/>
            <a:ext cx="5486400" cy="41148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173736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E84D60"/>
                </a:solidFill>
                <a:latin typeface="Calibri"/>
              </a:defRPr>
            </a:pPr>
            <a:r>
              <a:t>BEFORE — Generic Policy Coverage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286000"/>
            <a:ext cx="4937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495057"/>
                </a:solidFill>
                <a:latin typeface="Calibri"/>
              </a:defRPr>
            </a:pPr>
            <a:r>
              <a:t>"Nigeria's digital economy plans look promising"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2834640"/>
            <a:ext cx="49377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defRPr sz="1200" b="0">
                <a:solidFill>
                  <a:srgbClr val="868E96"/>
                </a:solidFill>
                <a:latin typeface="Calibri"/>
              </a:defRPr>
            </a:pPr>
            <a:r>
              <a:t>→  Reads like a press release rewrite</a:t>
            </a:r>
            <a:br/>
            <a:r>
              <a:t>→  Low search ranking, low social sharing</a:t>
            </a:r>
            <a:br/>
            <a:r>
              <a:t>→  Generic audience, standard CPMs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0" y="4069080"/>
            <a:ext cx="548640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59E6F"/>
            </a:solidFill>
          </a:ln>
          <a:effectLst>
            <a:outerShdw blurRad="152400" dist="508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943600" y="4069080"/>
            <a:ext cx="5486400" cy="41148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411480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59E6F"/>
                </a:solidFill>
                <a:latin typeface="Calibri"/>
              </a:defRPr>
            </a:pPr>
            <a:r>
              <a:t>AFTER — Data-Backed Exclusive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4663440"/>
            <a:ext cx="49377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200"/>
              </a:lnSpc>
              <a:defRPr sz="1600" b="1">
                <a:solidFill>
                  <a:srgbClr val="212529"/>
                </a:solidFill>
                <a:latin typeface="Calibri"/>
              </a:defRPr>
            </a:pPr>
            <a:r>
              <a:t>"Lagos received ₦84.7B from FAAC in January — but only ₦2.1B reached its digital economy ministry"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5349240"/>
            <a:ext cx="49377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defRPr sz="1200" b="0">
                <a:solidFill>
                  <a:srgbClr val="059E6F"/>
                </a:solidFill>
                <a:latin typeface="Calibri"/>
              </a:defRPr>
            </a:pPr>
            <a:r>
              <a:t>→  Exclusive data = high organic search ranking</a:t>
            </a:r>
            <a:br/>
            <a:r>
              <a:t>→  Shareable insight drives social traffic</a:t>
            </a:r>
            <a:br/>
            <a:r>
              <a:t>→  Fintech/enterprise readers = premium ad CPMs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8503920" y="3794760"/>
            <a:ext cx="320040" cy="274320"/>
          </a:xfrm>
          <a:prstGeom prst="downArrow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59E6F"/>
                </a:solidFill>
                <a:latin typeface="Calibri"/>
              </a:defRPr>
            </a:pPr>
            <a:r>
              <a:t>REVENUE DRIVER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212529"/>
                </a:solidFill>
                <a:latin typeface="Calibri"/>
              </a:defRPr>
            </a:pPr>
            <a:r>
              <a:t>Premium "Policy Intelligence" Tier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1097280" cy="45720"/>
          </a:xfrm>
          <a:prstGeom prst="rect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495057"/>
                </a:solidFill>
                <a:latin typeface="Calibri"/>
              </a:defRPr>
            </a:pPr>
            <a:r>
              <a:t>Data-backed sponsored content commands premium pricing because it's more credible and has a longer shelf life.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468880"/>
            <a:ext cx="10515600" cy="384048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468880"/>
            <a:ext cx="10515600" cy="502920"/>
          </a:xfrm>
          <a:prstGeom prst="roundRect">
            <a:avLst>
              <a:gd name="adj" fmla="val 8000"/>
            </a:avLst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542032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EXAMPLE SCENARIO: Moniepoint Sponsored Series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3246120"/>
            <a:ext cx="310896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52400" dist="508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97280" y="3246120"/>
            <a:ext cx="3108960" cy="45720"/>
          </a:xfrm>
          <a:prstGeom prst="roundRect">
            <a:avLst>
              <a:gd name="adj" fmla="val 6000"/>
            </a:avLst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80160" y="3474720"/>
            <a:ext cx="457200" cy="457200"/>
          </a:xfrm>
          <a:prstGeom prst="ellipse">
            <a:avLst/>
          </a:prstGeom>
          <a:solidFill>
            <a:srgbClr val="059E6F"/>
          </a:solidFill>
          <a:ln>
            <a:noFill/>
          </a:ln>
          <a:effectLst>
            <a:outerShdw blurRad="152400" dist="508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20" y="352044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212529"/>
                </a:solidFill>
                <a:latin typeface="Calibri"/>
              </a:defRPr>
            </a:pPr>
            <a:r>
              <a:t>The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023360"/>
            <a:ext cx="27432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00"/>
              </a:lnSpc>
              <a:defRPr sz="1200" b="0">
                <a:solidFill>
                  <a:srgbClr val="495057"/>
                </a:solidFill>
                <a:latin typeface="Calibri"/>
              </a:defRPr>
            </a:pPr>
            <a:r>
              <a:t>Monthly "State of Digital Payments Infrastructure" report using actual government allocation data showing which states invest in payment infrastructure.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3246120"/>
            <a:ext cx="310896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52400" dist="508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0" y="3246120"/>
            <a:ext cx="3108960" cy="45720"/>
          </a:xfrm>
          <a:prstGeom prst="roundRect">
            <a:avLst>
              <a:gd name="adj" fmla="val 6000"/>
            </a:avLst>
          </a:prstGeom>
          <a:solidFill>
            <a:srgbClr val="339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754880" y="3474720"/>
            <a:ext cx="457200" cy="457200"/>
          </a:xfrm>
          <a:prstGeom prst="ellipse">
            <a:avLst/>
          </a:prstGeom>
          <a:solidFill>
            <a:srgbClr val="339AF0"/>
          </a:solidFill>
          <a:ln>
            <a:noFill/>
          </a:ln>
          <a:effectLst>
            <a:outerShdw blurRad="152400" dist="508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352044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212529"/>
                </a:solidFill>
                <a:latin typeface="Calibri"/>
              </a:defRPr>
            </a:pPr>
            <a:r>
              <a:t>Brand 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4023360"/>
            <a:ext cx="27432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00"/>
              </a:lnSpc>
              <a:defRPr sz="1200" b="0">
                <a:solidFill>
                  <a:srgbClr val="495057"/>
                </a:solidFill>
                <a:latin typeface="Calibri"/>
              </a:defRPr>
            </a:pPr>
            <a:r>
              <a:t>Moniepoint reaches state government readers and enterprise decision-makers who are actively researching government tech spending. Qualified leads, not impressions.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3246120"/>
            <a:ext cx="310896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52400" dist="508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46719" y="3246120"/>
            <a:ext cx="3108960" cy="4572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599" y="347472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>
            <a:outerShdw blurRad="152400" dist="508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59" y="352044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212529"/>
                </a:solidFill>
                <a:latin typeface="Calibri"/>
              </a:defRPr>
            </a:pPr>
            <a:r>
              <a:t>TechPoint Revenue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9" y="4023360"/>
            <a:ext cx="27432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00"/>
              </a:lnSpc>
              <a:defRPr sz="1200" b="0">
                <a:solidFill>
                  <a:srgbClr val="495057"/>
                </a:solidFill>
                <a:latin typeface="Calibri"/>
              </a:defRPr>
            </a:pPr>
            <a:r>
              <a:t>Premium pricing because the content has original, exclusive data. Not branded thought leadership — real fiscal intelligence. Longer shelf life = sustained traffic per piece.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59E6F"/>
                </a:solidFill>
                <a:latin typeface="Calibri"/>
              </a:defRPr>
            </a:pPr>
            <a:r>
              <a:t>REVENUE DRIVER 03 — HIGHEST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212529"/>
                </a:solidFill>
                <a:latin typeface="Calibri"/>
              </a:defRPr>
            </a:pPr>
            <a:r>
              <a:t>IntelPoint: More Reports, Better Margins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1097280" cy="45720"/>
          </a:xfrm>
          <a:prstGeom prst="rect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495057"/>
                </a:solidFill>
                <a:latin typeface="Calibri"/>
              </a:defRPr>
            </a:pPr>
            <a:r>
              <a:t>The most direct revenue impact. Research that took days now takes hours.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77440"/>
            <a:ext cx="502920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84D60"/>
            </a:solidFill>
          </a:ln>
          <a:effectLst>
            <a:outerShdw blurRad="152400" dist="508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377440"/>
            <a:ext cx="5029200" cy="457200"/>
          </a:xfrm>
          <a:prstGeom prst="roundRect">
            <a:avLst>
              <a:gd name="adj" fmla="val 8000"/>
            </a:avLst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WITHOUT OurNigeria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6324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E84D60"/>
                </a:solidFill>
                <a:latin typeface="Calibri"/>
              </a:defRPr>
            </a:pPr>
            <a:r>
              <a:t>⏱️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090672"/>
            <a:ext cx="3840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495057"/>
                </a:solidFill>
                <a:latin typeface="Calibri"/>
              </a:defRPr>
            </a:pPr>
            <a:r>
              <a:t>Days of manual PDF scraping per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65760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E84D60"/>
                </a:solidFill>
                <a:latin typeface="Calibri"/>
              </a:defRPr>
            </a:pPr>
            <a:r>
              <a:t>🗺️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685032"/>
            <a:ext cx="3840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495057"/>
                </a:solidFill>
                <a:latin typeface="Calibri"/>
              </a:defRPr>
            </a:pPr>
            <a:r>
              <a:t>Limited to states where data is findable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25196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E84D60"/>
                </a:solidFill>
                <a:latin typeface="Calibri"/>
              </a:defRPr>
            </a:pPr>
            <a:r>
              <a:t>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279392"/>
            <a:ext cx="3840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495057"/>
                </a:solidFill>
                <a:latin typeface="Calibri"/>
              </a:defRPr>
            </a:pPr>
            <a:r>
              <a:t>High labor cost erodes report margins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84632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E84D60"/>
                </a:solidFill>
                <a:latin typeface="Calibri"/>
              </a:defRPr>
            </a:pPr>
            <a:r>
              <a:t>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873752"/>
            <a:ext cx="3840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495057"/>
                </a:solidFill>
                <a:latin typeface="Calibri"/>
              </a:defRPr>
            </a:pPr>
            <a:r>
              <a:t>Slow RFP responses — "give us 3 weeks"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44068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E84D60"/>
                </a:solidFill>
                <a:latin typeface="Calibri"/>
              </a:defRPr>
            </a:pPr>
            <a:r>
              <a:t>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68112"/>
            <a:ext cx="3840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495057"/>
                </a:solidFill>
                <a:latin typeface="Calibri"/>
              </a:defRPr>
            </a:pPr>
            <a:r>
              <a:t>Gov fiscal reports often not worth the effort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89320" y="4023360"/>
            <a:ext cx="457200" cy="411480"/>
          </a:xfrm>
          <a:prstGeom prst="rightArrow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83680" y="2377440"/>
            <a:ext cx="502920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59E6F"/>
            </a:solidFill>
          </a:ln>
          <a:effectLst>
            <a:outerShdw blurRad="152400" dist="508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83680" y="2377440"/>
            <a:ext cx="5029200" cy="457200"/>
          </a:xfrm>
          <a:prstGeom prst="roundRect">
            <a:avLst>
              <a:gd name="adj" fmla="val 8000"/>
            </a:avLst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242316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WITH OurNigeria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06324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059E6F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3090672"/>
            <a:ext cx="3840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212529"/>
                </a:solidFill>
                <a:latin typeface="Calibri"/>
              </a:defRPr>
            </a:pPr>
            <a:r>
              <a:t>Data pulls in minutes, not days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65760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059E6F"/>
                </a:solidFill>
                <a:latin typeface="Calibri"/>
              </a:defRPr>
            </a:pPr>
            <a:r>
              <a:t>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3685032"/>
            <a:ext cx="3840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212529"/>
                </a:solidFill>
                <a:latin typeface="Calibri"/>
              </a:defRPr>
            </a:pPr>
            <a:r>
              <a:t>Full coverage: all 37 states, 774 LGAs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25196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059E6F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4279392"/>
            <a:ext cx="3840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212529"/>
                </a:solidFill>
                <a:latin typeface="Calibri"/>
              </a:defRPr>
            </a:pPr>
            <a:r>
              <a:t>Lower cost per report = better margins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84632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059E6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4873752"/>
            <a:ext cx="3840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212529"/>
                </a:solidFill>
                <a:latin typeface="Calibri"/>
              </a:defRPr>
            </a:pPr>
            <a:r>
              <a:t>"Kano's tech spending?" → Yes, today.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544068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059E6F"/>
                </a:solidFill>
                <a:latin typeface="Calibri"/>
              </a:defRPr>
            </a:pPr>
            <a:r>
              <a:t>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5468112"/>
            <a:ext cx="3840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212529"/>
                </a:solidFill>
                <a:latin typeface="Calibri"/>
              </a:defRPr>
            </a:pPr>
            <a:r>
              <a:t>New product: Gov Fiscal Intelligence reports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59E6F"/>
                </a:solidFill>
                <a:latin typeface="Calibri"/>
              </a:defRPr>
            </a:pPr>
            <a:r>
              <a:t>REVENUE DRIVERS 04 &amp;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212529"/>
                </a:solidFill>
                <a:latin typeface="Calibri"/>
              </a:defRPr>
            </a:pPr>
            <a:r>
              <a:t>Events &amp; Newsletter Revenue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1097280" cy="45720"/>
          </a:xfrm>
          <a:prstGeom prst="rect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530352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52400" dist="508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920240"/>
            <a:ext cx="53035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8720" y="219456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>
            <a:outerShdw blurRad="152400" dist="508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</a:defRPr>
            </a:pPr>
            <a:r>
              <a:t>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24028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212529"/>
                </a:solidFill>
                <a:latin typeface="Calibri"/>
              </a:defRPr>
            </a:pPr>
            <a:r>
              <a:t>Techpoint Build &amp; Inspired Events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92608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495057"/>
                </a:solidFill>
                <a:latin typeface="Calibri"/>
              </a:defRPr>
            </a:pPr>
            <a:r>
              <a:t>A "Civic Tech &amp; Government Spending" data track unlocks an entirely new sponsor category:</a:t>
            </a:r>
          </a:p>
        </p:txBody>
      </p:sp>
      <p:sp>
        <p:nvSpPr>
          <p:cNvPr id="11" name="Oval 10"/>
          <p:cNvSpPr/>
          <p:nvPr/>
        </p:nvSpPr>
        <p:spPr>
          <a:xfrm>
            <a:off x="1188720" y="3566160"/>
            <a:ext cx="320040" cy="3200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566160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52044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212529"/>
                </a:solidFill>
                <a:latin typeface="Calibri"/>
              </a:defRPr>
            </a:pPr>
            <a:r>
              <a:t>Government Agencies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79476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95057"/>
                </a:solidFill>
                <a:latin typeface="Calibri"/>
              </a:defRPr>
            </a:pPr>
            <a:r>
              <a:t>Federal and state digital economy ministries</a:t>
            </a:r>
          </a:p>
        </p:txBody>
      </p:sp>
      <p:sp>
        <p:nvSpPr>
          <p:cNvPr id="15" name="Oval 14"/>
          <p:cNvSpPr/>
          <p:nvPr/>
        </p:nvSpPr>
        <p:spPr>
          <a:xfrm>
            <a:off x="1188720" y="4251960"/>
            <a:ext cx="320040" cy="3200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251960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20624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212529"/>
                </a:solidFill>
                <a:latin typeface="Calibri"/>
              </a:defRPr>
            </a:pPr>
            <a:r>
              <a:t>Development Orgs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48056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95057"/>
                </a:solidFill>
                <a:latin typeface="Calibri"/>
              </a:defRPr>
            </a:pPr>
            <a:r>
              <a:t>World Bank, USAID, GIZ, AfDB</a:t>
            </a:r>
          </a:p>
        </p:txBody>
      </p:sp>
      <p:sp>
        <p:nvSpPr>
          <p:cNvPr id="19" name="Oval 18"/>
          <p:cNvSpPr/>
          <p:nvPr/>
        </p:nvSpPr>
        <p:spPr>
          <a:xfrm>
            <a:off x="1188720" y="4937760"/>
            <a:ext cx="320040" cy="3200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4937760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89204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212529"/>
                </a:solidFill>
                <a:latin typeface="Calibri"/>
              </a:defRPr>
            </a:pPr>
            <a:r>
              <a:t>Enterprise 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516636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95057"/>
                </a:solidFill>
                <a:latin typeface="Calibri"/>
              </a:defRPr>
            </a:pPr>
            <a:r>
              <a:t>Oracle, Microsoft, local IT vendors selling to government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88720" y="5577840"/>
            <a:ext cx="4572000" cy="457200"/>
          </a:xfrm>
          <a:prstGeom prst="roundRect">
            <a:avLst>
              <a:gd name="adj" fmla="val 5000"/>
            </a:avLst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0" y="5623560"/>
            <a:ext cx="4206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7C3AED"/>
                </a:solidFill>
                <a:latin typeface="Calibri"/>
              </a:defRPr>
            </a:pPr>
            <a:r>
              <a:t>One additional ₦5-10M sponsor per event is meaningful.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1920240"/>
            <a:ext cx="530352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52400" dist="508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92240" y="1920240"/>
            <a:ext cx="53035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58000" y="219456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>
            <a:outerShdw blurRad="152400" dist="508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</a:defRPr>
            </a:pPr>
            <a:r>
              <a:t>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224028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212529"/>
                </a:solidFill>
                <a:latin typeface="Calibri"/>
              </a:defRPr>
            </a:pPr>
            <a:r>
              <a:t>Techpoint Digest Newsletter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0" y="2926080"/>
            <a:ext cx="4572000" cy="1828800"/>
          </a:xfrm>
          <a:prstGeom prst="roundRect">
            <a:avLst>
              <a:gd name="adj" fmla="val 5000"/>
            </a:avLst>
          </a:prstGeom>
          <a:solidFill>
            <a:srgbClr val="FFF8E1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0" y="3063240"/>
            <a:ext cx="4023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📊  GOVERNMENT DATA SPOTLIGHT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0" y="3337560"/>
            <a:ext cx="4023360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0" y="3474720"/>
            <a:ext cx="40233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defRPr sz="1300" b="0">
                <a:solidFill>
                  <a:srgbClr val="212529"/>
                </a:solidFill>
                <a:latin typeface="Calibri"/>
              </a:defRPr>
            </a:pPr>
            <a:r>
              <a:t>This week: Ogun State's FAAC allocation dropped 23% month-over-month while Lagos saw a 12% increase. What's driving the divergence?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4251960"/>
            <a:ext cx="4023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59E6F"/>
                </a:solidFill>
                <a:latin typeface="Calibri"/>
              </a:defRPr>
            </a:pPr>
            <a:r>
              <a:t>Powered by OurNigeria  →  Read full analysis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50292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212529"/>
                </a:solidFill>
                <a:latin typeface="Calibri"/>
              </a:defRPr>
            </a:pPr>
            <a:r>
              <a:t>The revenue mechanism: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4406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95057"/>
                </a:solidFill>
                <a:latin typeface="Calibri"/>
              </a:defRPr>
            </a:pPr>
            <a:r>
              <a:t>Exclusive number-driven content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57150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F59E0B"/>
                </a:solidFill>
                <a:latin typeface="Calibri"/>
              </a:defRPr>
            </a:pPr>
            <a:r>
              <a:t>→  Higher open rates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9893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59E6F"/>
                </a:solidFill>
                <a:latin typeface="Calibri"/>
              </a:defRPr>
            </a:pPr>
            <a:r>
              <a:t>→  Higher newsletter sponsorship pricing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4D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457200"/>
            <a:ext cx="2743200" cy="2743200"/>
          </a:xfrm>
          <a:prstGeom prst="ellipse">
            <a:avLst/>
          </a:prstGeom>
          <a:solidFill>
            <a:srgbClr val="01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029200"/>
            <a:ext cx="2286000" cy="2286000"/>
          </a:xfrm>
          <a:prstGeom prst="ellipse">
            <a:avLst/>
          </a:prstGeom>
          <a:solidFill>
            <a:srgbClr val="01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502920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195560" y="502920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0" y="502920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69880" y="502920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607040" y="502920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0" y="516636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95560" y="516636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332720" y="516636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469880" y="516636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07040" y="516636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0" y="530352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195560" y="530352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332720" y="530352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469880" y="530352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07040" y="530352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0" y="544068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195560" y="544068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332720" y="544068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469880" y="544068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607040" y="544068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058400" y="557784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195560" y="557784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332720" y="557784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469880" y="557784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607040" y="557784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4864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59E6F"/>
                </a:solidFill>
                <a:latin typeface="Calibri"/>
              </a:defRPr>
            </a:pPr>
            <a:r>
              <a:t>COMPETITIVE ADVANTAGE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9144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The Window Is Open — But Closing Fast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1737360"/>
            <a:ext cx="1097280" cy="45720"/>
          </a:xfrm>
          <a:prstGeom prst="rect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2011680"/>
            <a:ext cx="9144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600"/>
              </a:lnSpc>
              <a:defRPr sz="1700" b="0">
                <a:solidFill>
                  <a:srgbClr val="D1FAE5"/>
                </a:solidFill>
                <a:latin typeface="Calibri"/>
              </a:defRPr>
            </a:pPr>
            <a:r>
              <a:t>If TechCabal or Stears gets structured government data first, TechPoint's policy</a:t>
            </a:r>
            <a:br/>
            <a:r>
              <a:t>content becomes second-tier. This is about protecting revenue, not just growing it.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3200400"/>
            <a:ext cx="3383280" cy="3017520"/>
          </a:xfrm>
          <a:prstGeom prst="roundRect">
            <a:avLst>
              <a:gd name="adj" fmla="val 8000"/>
            </a:avLst>
          </a:prstGeom>
          <a:solidFill>
            <a:srgbClr val="01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97280" y="3474720"/>
            <a:ext cx="502920" cy="502920"/>
          </a:xfrm>
          <a:prstGeom prst="ellipse">
            <a:avLst/>
          </a:prstGeom>
          <a:solidFill>
            <a:srgbClr val="059E6F"/>
          </a:solidFill>
          <a:ln>
            <a:noFill/>
          </a:ln>
          <a:effectLst>
            <a:outerShdw blurRad="152400" dist="508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37360" y="352044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2025 Budget Cycle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4114800"/>
            <a:ext cx="283464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00"/>
              </a:lnSpc>
              <a:defRPr sz="1300" b="0">
                <a:solidFill>
                  <a:srgbClr val="D1FAE5"/>
                </a:solidFill>
                <a:latin typeface="Calibri"/>
              </a:defRPr>
            </a:pPr>
            <a:r>
              <a:t>Peak interest in government fiscal data. Tinubu's digital economy policies are generating massive coverage demand. The moment is now.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0" y="3200400"/>
            <a:ext cx="3383280" cy="3017520"/>
          </a:xfrm>
          <a:prstGeom prst="roundRect">
            <a:avLst>
              <a:gd name="adj" fmla="val 8000"/>
            </a:avLst>
          </a:prstGeom>
          <a:solidFill>
            <a:srgbClr val="01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846320" y="3474720"/>
            <a:ext cx="502920" cy="502920"/>
          </a:xfrm>
          <a:prstGeom prst="ellipse">
            <a:avLst/>
          </a:prstGeom>
          <a:solidFill>
            <a:srgbClr val="059E6F"/>
          </a:solidFill>
          <a:ln>
            <a:noFill/>
          </a:ln>
          <a:effectLst>
            <a:outerShdw blurRad="152400" dist="508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🏃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352044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Competitor Movement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0" y="4114800"/>
            <a:ext cx="283464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00"/>
              </a:lnSpc>
              <a:defRPr sz="1300" b="0">
                <a:solidFill>
                  <a:srgbClr val="D1FAE5"/>
                </a:solidFill>
                <a:latin typeface="Calibri"/>
              </a:defRPr>
            </a:pPr>
            <a:r>
              <a:t>BudgIT, Dataphyte, and others are building similar capabilities. First tech publication to have structured fiscal data wins the positioning.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21040" y="3200400"/>
            <a:ext cx="3383280" cy="3017520"/>
          </a:xfrm>
          <a:prstGeom prst="roundRect">
            <a:avLst>
              <a:gd name="adj" fmla="val 8000"/>
            </a:avLst>
          </a:prstGeom>
          <a:solidFill>
            <a:srgbClr val="01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595360" y="3474720"/>
            <a:ext cx="502920" cy="502920"/>
          </a:xfrm>
          <a:prstGeom prst="ellipse">
            <a:avLst/>
          </a:prstGeom>
          <a:solidFill>
            <a:srgbClr val="059E6F"/>
          </a:solidFill>
          <a:ln>
            <a:noFill/>
          </a:ln>
          <a:effectLst>
            <a:outerShdw blurRad="152400" dist="508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352044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Advertiser Stakes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60" y="4114800"/>
            <a:ext cx="283464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00"/>
              </a:lnSpc>
              <a:defRPr sz="1300" b="0">
                <a:solidFill>
                  <a:srgbClr val="D1FAE5"/>
                </a:solidFill>
                <a:latin typeface="Calibri"/>
              </a:defRPr>
            </a:pPr>
            <a:r>
              <a:t>Brands sponsor the publication with the most credible policy coverage. Data authority equals advertising dollars. Second place gets leftovers.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59E6F"/>
                </a:solidFill>
                <a:latin typeface="Calibri"/>
              </a:defRPr>
            </a:pPr>
            <a:r>
              <a:t>PARTNERSHIP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212529"/>
                </a:solidFill>
                <a:latin typeface="Calibri"/>
              </a:defRPr>
            </a:pPr>
            <a:r>
              <a:t>How We Work Together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1097280" cy="45720"/>
          </a:xfrm>
          <a:prstGeom prst="rect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3246120"/>
            <a:ext cx="9601200" cy="36576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17320" y="3017520"/>
            <a:ext cx="502920" cy="502920"/>
          </a:xfrm>
          <a:prstGeom prst="ellipse">
            <a:avLst/>
          </a:prstGeom>
          <a:solidFill>
            <a:srgbClr val="059E6F"/>
          </a:solidFill>
          <a:ln>
            <a:noFill/>
          </a:ln>
          <a:effectLst>
            <a:outerShdw blurRad="152400" dist="508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749039"/>
            <a:ext cx="20116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9E6F"/>
            </a:solidFill>
          </a:ln>
          <a:effectLst>
            <a:outerShdw blurRad="152400" dist="508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3749039"/>
            <a:ext cx="2011680" cy="45720"/>
          </a:xfrm>
          <a:prstGeom prst="roundRect">
            <a:avLst>
              <a:gd name="adj" fmla="val 8000"/>
            </a:avLst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011680" y="3886200"/>
            <a:ext cx="685800" cy="228600"/>
          </a:xfrm>
          <a:prstGeom prst="roundRect">
            <a:avLst>
              <a:gd name="adj" fmla="val 5000"/>
            </a:avLst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3886200"/>
            <a:ext cx="685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206240"/>
            <a:ext cx="1737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212529"/>
                </a:solidFill>
                <a:latin typeface="Calibri"/>
              </a:defRPr>
            </a:pPr>
            <a:r>
              <a:t>Embedded</a:t>
            </a:r>
            <a:br/>
            <a:r>
              <a:t>Data Widgets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754880"/>
            <a:ext cx="1737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100" b="0">
                <a:solidFill>
                  <a:srgbClr val="495057"/>
                </a:solidFill>
                <a:latin typeface="Calibri"/>
              </a:defRPr>
            </a:pPr>
            <a:r>
              <a:t>Allocation tracker on</a:t>
            </a:r>
            <a:br/>
            <a:r>
              <a:t>policy pages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5303520"/>
            <a:ext cx="1737360" cy="18288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394960"/>
            <a:ext cx="1737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100" b="1">
                <a:solidFill>
                  <a:srgbClr val="059E6F"/>
                </a:solidFill>
                <a:latin typeface="Calibri"/>
              </a:defRPr>
            </a:pPr>
            <a:r>
              <a:t>↑ Time-on-page</a:t>
            </a:r>
            <a:br/>
            <a:r>
              <a:t>↑ Return visits</a:t>
            </a:r>
          </a:p>
        </p:txBody>
      </p:sp>
      <p:sp>
        <p:nvSpPr>
          <p:cNvPr id="16" name="Oval 15"/>
          <p:cNvSpPr/>
          <p:nvPr/>
        </p:nvSpPr>
        <p:spPr>
          <a:xfrm>
            <a:off x="3703320" y="3017520"/>
            <a:ext cx="502920" cy="502920"/>
          </a:xfrm>
          <a:prstGeom prst="ellipse">
            <a:avLst/>
          </a:prstGeom>
          <a:solidFill>
            <a:srgbClr val="339AF0"/>
          </a:solidFill>
          <a:ln>
            <a:noFill/>
          </a:ln>
          <a:effectLst>
            <a:outerShdw blurRad="152400" dist="508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08960" y="3749039"/>
            <a:ext cx="20116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39AF0"/>
            </a:solidFill>
          </a:ln>
          <a:effectLst>
            <a:outerShdw blurRad="152400" dist="508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108960" y="3749039"/>
            <a:ext cx="2011680" cy="45720"/>
          </a:xfrm>
          <a:prstGeom prst="roundRect">
            <a:avLst>
              <a:gd name="adj" fmla="val 8000"/>
            </a:avLst>
          </a:prstGeom>
          <a:solidFill>
            <a:srgbClr val="339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297680" y="3886200"/>
            <a:ext cx="685800" cy="228600"/>
          </a:xfrm>
          <a:prstGeom prst="roundRect">
            <a:avLst>
              <a:gd name="adj" fmla="val 5000"/>
            </a:avLst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3886200"/>
            <a:ext cx="685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4206240"/>
            <a:ext cx="1737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212529"/>
                </a:solidFill>
                <a:latin typeface="Calibri"/>
              </a:defRPr>
            </a:pPr>
            <a:r>
              <a:t>Co-Branded</a:t>
            </a:r>
            <a:br/>
            <a:r>
              <a:t>Monthly Report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4754880"/>
            <a:ext cx="1737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100" b="0">
                <a:solidFill>
                  <a:srgbClr val="495057"/>
                </a:solidFill>
                <a:latin typeface="Calibri"/>
              </a:defRPr>
            </a:pPr>
            <a:r>
              <a:t>TechPoint analysis +</a:t>
            </a:r>
            <a:br/>
            <a:r>
              <a:t>OurNigeria data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46120" y="5303520"/>
            <a:ext cx="1737360" cy="18288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46120" y="5394960"/>
            <a:ext cx="1737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100" b="1">
                <a:solidFill>
                  <a:srgbClr val="339AF0"/>
                </a:solidFill>
                <a:latin typeface="Calibri"/>
              </a:defRPr>
            </a:pPr>
            <a:r>
              <a:t>Sponsorship</a:t>
            </a:r>
            <a:br/>
            <a:r>
              <a:t>opportunity</a:t>
            </a:r>
          </a:p>
        </p:txBody>
      </p:sp>
      <p:sp>
        <p:nvSpPr>
          <p:cNvPr id="25" name="Oval 24"/>
          <p:cNvSpPr/>
          <p:nvPr/>
        </p:nvSpPr>
        <p:spPr>
          <a:xfrm>
            <a:off x="5989320" y="3017520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  <a:effectLst>
            <a:outerShdw blurRad="152400" dist="508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94960" y="3749039"/>
            <a:ext cx="20116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  <a:effectLst>
            <a:outerShdw blurRad="152400" dist="508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394960" y="3749039"/>
            <a:ext cx="2011680" cy="4572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83680" y="3886200"/>
            <a:ext cx="685800" cy="228600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3886200"/>
            <a:ext cx="685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Paid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2120" y="4206240"/>
            <a:ext cx="1737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212529"/>
                </a:solidFill>
                <a:latin typeface="Calibri"/>
              </a:defRPr>
            </a:pPr>
            <a:r>
              <a:t>IntelPoint</a:t>
            </a:r>
            <a:br/>
            <a:r>
              <a:t>API Access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4754880"/>
            <a:ext cx="1737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100" b="0">
                <a:solidFill>
                  <a:srgbClr val="495057"/>
                </a:solidFill>
                <a:latin typeface="Calibri"/>
              </a:defRPr>
            </a:pPr>
            <a:r>
              <a:t>Programmatic access</a:t>
            </a:r>
            <a:br/>
            <a:r>
              <a:t>for research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32120" y="5303520"/>
            <a:ext cx="1737360" cy="18288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32120" y="5394960"/>
            <a:ext cx="1737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100" b="1">
                <a:solidFill>
                  <a:srgbClr val="7C3AED"/>
                </a:solidFill>
                <a:latin typeface="Calibri"/>
              </a:defRPr>
            </a:pPr>
            <a:r>
              <a:t>More reports,</a:t>
            </a:r>
            <a:br/>
            <a:r>
              <a:t>better margins</a:t>
            </a:r>
          </a:p>
        </p:txBody>
      </p:sp>
      <p:sp>
        <p:nvSpPr>
          <p:cNvPr id="34" name="Oval 33"/>
          <p:cNvSpPr/>
          <p:nvPr/>
        </p:nvSpPr>
        <p:spPr>
          <a:xfrm>
            <a:off x="8275320" y="301752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  <a:effectLst>
            <a:outerShdw blurRad="152400" dist="508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80960" y="3749039"/>
            <a:ext cx="20116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>
            <a:outerShdw blurRad="152400" dist="508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680960" y="3749039"/>
            <a:ext cx="2011680" cy="4572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869680" y="3886200"/>
            <a:ext cx="685800" cy="228600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69680" y="3886200"/>
            <a:ext cx="685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Co-invest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18120" y="4206240"/>
            <a:ext cx="1737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212529"/>
                </a:solidFill>
                <a:latin typeface="Calibri"/>
              </a:defRPr>
            </a:pPr>
            <a:r>
              <a:t>Event</a:t>
            </a:r>
            <a:br/>
            <a:r>
              <a:t>Data Track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20" y="4754880"/>
            <a:ext cx="1737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100" b="0">
                <a:solidFill>
                  <a:srgbClr val="495057"/>
                </a:solidFill>
                <a:latin typeface="Calibri"/>
              </a:defRPr>
            </a:pPr>
            <a:r>
              <a:t>Civic Tech track at</a:t>
            </a:r>
            <a:br/>
            <a:r>
              <a:t>Techpoint Build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18120" y="5303520"/>
            <a:ext cx="1737360" cy="18288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18120" y="5394960"/>
            <a:ext cx="1737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100" b="1">
                <a:solidFill>
                  <a:srgbClr val="F59E0B"/>
                </a:solidFill>
                <a:latin typeface="Calibri"/>
              </a:defRPr>
            </a:pPr>
            <a:r>
              <a:t>New sponsor</a:t>
            </a:r>
            <a:br/>
            <a:r>
              <a:t>category</a:t>
            </a:r>
          </a:p>
        </p:txBody>
      </p:sp>
      <p:sp>
        <p:nvSpPr>
          <p:cNvPr id="43" name="Oval 42"/>
          <p:cNvSpPr/>
          <p:nvPr/>
        </p:nvSpPr>
        <p:spPr>
          <a:xfrm>
            <a:off x="10561320" y="3017520"/>
            <a:ext cx="502920" cy="502920"/>
          </a:xfrm>
          <a:prstGeom prst="ellipse">
            <a:avLst/>
          </a:prstGeom>
          <a:solidFill>
            <a:srgbClr val="E84D60"/>
          </a:solidFill>
          <a:ln>
            <a:noFill/>
          </a:ln>
          <a:effectLst>
            <a:outerShdw blurRad="152400" dist="508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66960" y="3749039"/>
            <a:ext cx="20116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4D60"/>
            </a:solidFill>
          </a:ln>
          <a:effectLst>
            <a:outerShdw blurRad="152400" dist="508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966960" y="3749039"/>
            <a:ext cx="2011680" cy="45720"/>
          </a:xfrm>
          <a:prstGeom prst="roundRect">
            <a:avLst>
              <a:gd name="adj" fmla="val 8000"/>
            </a:avLst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1155680" y="3886200"/>
            <a:ext cx="685800" cy="228600"/>
          </a:xfrm>
          <a:prstGeom prst="roundRect">
            <a:avLst>
              <a:gd name="adj" fmla="val 5000"/>
            </a:avLst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155680" y="3886200"/>
            <a:ext cx="685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04120" y="4206240"/>
            <a:ext cx="1737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212529"/>
                </a:solidFill>
                <a:latin typeface="Calibri"/>
              </a:defRPr>
            </a:pPr>
            <a:r>
              <a:t>Newsletter</a:t>
            </a:r>
            <a:br/>
            <a:r>
              <a:t>Data Segment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04120" y="4754880"/>
            <a:ext cx="1737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100" b="0">
                <a:solidFill>
                  <a:srgbClr val="495057"/>
                </a:solidFill>
                <a:latin typeface="Calibri"/>
              </a:defRPr>
            </a:pPr>
            <a:r>
              <a:t>Weekly fiscal data</a:t>
            </a:r>
            <a:br/>
            <a:r>
              <a:t>for Digest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104120" y="5303520"/>
            <a:ext cx="1737360" cy="18288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104120" y="5394960"/>
            <a:ext cx="1737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100" b="1">
                <a:solidFill>
                  <a:srgbClr val="E84D60"/>
                </a:solidFill>
                <a:latin typeface="Calibri"/>
              </a:defRPr>
            </a:pPr>
            <a:r>
              <a:t>Higher open rates</a:t>
            </a:r>
            <a:br/>
            <a:r>
              <a:t>= higher pricing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" y="169164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495057"/>
                </a:solidFill>
                <a:latin typeface="Calibri"/>
              </a:defRPr>
            </a:pPr>
            <a:r>
              <a:t>A flexible model: start with free content partnerships, scale into paid API access as value is proven.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4D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457200"/>
            <a:ext cx="3657600" cy="3657600"/>
          </a:xfrm>
          <a:prstGeom prst="ellipse">
            <a:avLst/>
          </a:prstGeom>
          <a:solidFill>
            <a:srgbClr val="01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4114800"/>
            <a:ext cx="2743200" cy="2743200"/>
          </a:xfrm>
          <a:prstGeom prst="ellipse">
            <a:avLst/>
          </a:prstGeom>
          <a:solidFill>
            <a:srgbClr val="01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38360" y="502920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75520" y="502920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12680" y="502920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149840" y="502920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87000" y="502920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424160" y="502920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61320" y="502920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0" y="516636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738360" y="516636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875520" y="516636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12680" y="516636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149840" y="516636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287000" y="516636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424160" y="516636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16636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01200" y="530352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738360" y="530352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875520" y="530352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12680" y="530352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149840" y="530352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287000" y="530352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424160" y="530352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561320" y="530352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01200" y="544068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738360" y="544068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75520" y="544068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012680" y="544068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149840" y="544068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287000" y="544068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424160" y="544068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561320" y="544068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601200" y="557784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738360" y="557784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875520" y="557784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12680" y="557784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49840" y="557784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287000" y="557784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424160" y="557784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561320" y="557784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57200" y="45720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94360" y="45720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31520" y="45720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68680" y="45720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57200" y="59436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94360" y="59436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31520" y="59436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68680" y="59436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57200" y="73152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94360" y="73152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31520" y="73152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68680" y="731520"/>
            <a:ext cx="45720" cy="4572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2960" y="91440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Let's Build This Together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2960" y="1920240"/>
            <a:ext cx="1097280" cy="45720"/>
          </a:xfrm>
          <a:prstGeom prst="rect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2960" y="2286000"/>
            <a:ext cx="8229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800"/>
              </a:lnSpc>
              <a:defRPr sz="1900" b="0">
                <a:solidFill>
                  <a:srgbClr val="D1FAE5"/>
                </a:solidFill>
                <a:latin typeface="Calibri"/>
              </a:defRPr>
            </a:pPr>
            <a:r>
              <a:t>"TechPoint already covers policy better than any Nigerian tech publication.</a:t>
            </a:r>
            <a:br/>
            <a:r>
              <a:t>We can make that coverage impossible to replicate."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22960" y="3474720"/>
            <a:ext cx="2560320" cy="2103120"/>
          </a:xfrm>
          <a:prstGeom prst="roundRect">
            <a:avLst>
              <a:gd name="adj" fmla="val 8000"/>
            </a:avLst>
          </a:prstGeom>
          <a:solidFill>
            <a:srgbClr val="01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1005840" y="3657600"/>
            <a:ext cx="731520" cy="274320"/>
          </a:xfrm>
          <a:prstGeom prst="roundRect">
            <a:avLst>
              <a:gd name="adj" fmla="val 5000"/>
            </a:avLst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05840" y="365760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15 min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5840" y="406908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5840" y="4434840"/>
            <a:ext cx="21945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00"/>
              </a:lnSpc>
              <a:defRPr sz="1200" b="0">
                <a:solidFill>
                  <a:srgbClr val="D1FAE5"/>
                </a:solidFill>
                <a:latin typeface="Calibri"/>
              </a:defRPr>
            </a:pPr>
            <a:r>
              <a:t>See OurNigeria's data capabilities in action with real government fiscal data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657600" y="3474720"/>
            <a:ext cx="2560320" cy="2103120"/>
          </a:xfrm>
          <a:prstGeom prst="roundRect">
            <a:avLst>
              <a:gd name="adj" fmla="val 8000"/>
            </a:avLst>
          </a:prstGeom>
          <a:solidFill>
            <a:srgbClr val="01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3840480" y="3657600"/>
            <a:ext cx="731520" cy="274320"/>
          </a:xfrm>
          <a:prstGeom prst="roundRect">
            <a:avLst>
              <a:gd name="adj" fmla="val 5000"/>
            </a:avLst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840480" y="365760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30 min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40480" y="406908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IntelPoint Deep-Dive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840480" y="4434840"/>
            <a:ext cx="21945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00"/>
              </a:lnSpc>
              <a:defRPr sz="1200" b="0">
                <a:solidFill>
                  <a:srgbClr val="D1FAE5"/>
                </a:solidFill>
                <a:latin typeface="Calibri"/>
              </a:defRPr>
            </a:pPr>
            <a:r>
              <a:t>Explore API integration for faster, more comprehensive research reports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492240" y="3474720"/>
            <a:ext cx="2560320" cy="2103120"/>
          </a:xfrm>
          <a:prstGeom prst="roundRect">
            <a:avLst>
              <a:gd name="adj" fmla="val 8000"/>
            </a:avLst>
          </a:prstGeom>
          <a:solidFill>
            <a:srgbClr val="01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6675120" y="3657600"/>
            <a:ext cx="731520" cy="274320"/>
          </a:xfrm>
          <a:prstGeom prst="roundRect">
            <a:avLst>
              <a:gd name="adj" fmla="val 5000"/>
            </a:avLst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675120" y="365760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Pilot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675120" y="406908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Proof of Concept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675120" y="4434840"/>
            <a:ext cx="21945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00"/>
              </a:lnSpc>
              <a:defRPr sz="1200" b="0">
                <a:solidFill>
                  <a:srgbClr val="D1FAE5"/>
                </a:solidFill>
                <a:latin typeface="Calibri"/>
              </a:defRPr>
            </a:pPr>
            <a:r>
              <a:t>One co-branded data article to prove the traffic and engagement impact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326880" y="3474720"/>
            <a:ext cx="2560320" cy="2103120"/>
          </a:xfrm>
          <a:prstGeom prst="roundRect">
            <a:avLst>
              <a:gd name="adj" fmla="val 8000"/>
            </a:avLst>
          </a:prstGeom>
          <a:solidFill>
            <a:srgbClr val="01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9509760" y="3657600"/>
            <a:ext cx="731520" cy="274320"/>
          </a:xfrm>
          <a:prstGeom prst="roundRect">
            <a:avLst>
              <a:gd name="adj" fmla="val 5000"/>
            </a:avLst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509760" y="365760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Scale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509760" y="406908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Full Partnership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509760" y="4434840"/>
            <a:ext cx="21945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00"/>
              </a:lnSpc>
              <a:defRPr sz="1200" b="0">
                <a:solidFill>
                  <a:srgbClr val="D1FAE5"/>
                </a:solidFill>
                <a:latin typeface="Calibri"/>
              </a:defRPr>
            </a:pPr>
            <a:r>
              <a:t>Embedded widgets, event track, newsletter integration, API access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103120" y="3767328"/>
            <a:ext cx="8229600" cy="27432"/>
          </a:xfrm>
          <a:prstGeom prst="rect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01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22960" y="6263640"/>
            <a:ext cx="10424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D1FAE5"/>
                </a:solidFill>
                <a:latin typeface="Calibri"/>
              </a:defRPr>
            </a:pPr>
            <a:r>
              <a:t>Contact: Warm introduction via Timi → Director of Sales    |    ournigeria.ng    |    March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