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C97B"/>
                </a:solidFill>
                <a:latin typeface="Segoe UI"/>
              </a:defRPr>
            </a:pPr>
            <a:r>
              <a:t>OURNIGERIA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EC0"/>
                </a:solidFill>
                <a:latin typeface="Segoe UI"/>
              </a:defRPr>
            </a:pPr>
            <a:r>
              <a:t>Do More. Know More. Earn More.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377440" cy="36576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C97B"/>
                </a:solidFill>
                <a:latin typeface="Segoe UI"/>
              </a:defRPr>
            </a:pPr>
            <a:r>
              <a:t>PARTNERSHIP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6400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t>OurNigeria  x  TechPoint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800">
                <a:solidFill>
                  <a:srgbClr val="A0AEC0"/>
                </a:solidFill>
                <a:latin typeface="Segoe UI"/>
              </a:defRPr>
            </a:pPr>
            <a:r>
              <a:t>How structured government fiscal data transforms TechPoint's policy coverage into a differentiated revenue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2194560" cy="10058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2578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C97B"/>
                </a:solidFill>
                <a:latin typeface="Segoe UI"/>
              </a:defRPr>
            </a:pPr>
            <a:r>
              <a:t>700+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Budget Documents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39" y="5120640"/>
            <a:ext cx="2194560" cy="10058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39" y="52578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C97B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39" y="56692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States Covered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59" y="5120640"/>
            <a:ext cx="2194560" cy="10058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59" y="52578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C97B"/>
                </a:solidFill>
                <a:latin typeface="Segoe UI"/>
              </a:defRPr>
            </a:pPr>
            <a:r>
              <a:t>708K+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56692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Data 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1371600"/>
            <a:ext cx="685800" cy="685800"/>
          </a:xfrm>
          <a:prstGeom prst="rect">
            <a:avLst/>
          </a:prstGeom>
          <a:solidFill>
            <a:srgbClr val="16203A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1371600"/>
            <a:ext cx="685800" cy="685800"/>
          </a:xfrm>
          <a:prstGeom prst="rect">
            <a:avLst/>
          </a:prstGeom>
          <a:solidFill>
            <a:srgbClr val="1A243D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32720" y="1371600"/>
            <a:ext cx="685800" cy="685800"/>
          </a:xfrm>
          <a:prstGeom prst="rect">
            <a:avLst/>
          </a:prstGeom>
          <a:solidFill>
            <a:srgbClr val="1E2840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155680" y="1371600"/>
            <a:ext cx="685800" cy="685800"/>
          </a:xfrm>
          <a:prstGeom prst="rect">
            <a:avLst/>
          </a:prstGeom>
          <a:solidFill>
            <a:srgbClr val="222C43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0" y="2194560"/>
            <a:ext cx="685800" cy="685800"/>
          </a:xfrm>
          <a:prstGeom prst="rect">
            <a:avLst/>
          </a:prstGeom>
          <a:solidFill>
            <a:srgbClr val="16203A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9760" y="2194560"/>
            <a:ext cx="685800" cy="685800"/>
          </a:xfrm>
          <a:prstGeom prst="rect">
            <a:avLst/>
          </a:prstGeom>
          <a:solidFill>
            <a:srgbClr val="1A243D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32720" y="2194560"/>
            <a:ext cx="685800" cy="685800"/>
          </a:xfrm>
          <a:prstGeom prst="rect">
            <a:avLst/>
          </a:prstGeom>
          <a:solidFill>
            <a:srgbClr val="1E2840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55680" y="2194560"/>
            <a:ext cx="685800" cy="685800"/>
          </a:xfrm>
          <a:prstGeom prst="rect">
            <a:avLst/>
          </a:prstGeom>
          <a:solidFill>
            <a:srgbClr val="222C43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0" y="3017520"/>
            <a:ext cx="685800" cy="685800"/>
          </a:xfrm>
          <a:prstGeom prst="rect">
            <a:avLst/>
          </a:prstGeom>
          <a:solidFill>
            <a:srgbClr val="16203A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9760" y="3017520"/>
            <a:ext cx="685800" cy="685800"/>
          </a:xfrm>
          <a:prstGeom prst="rect">
            <a:avLst/>
          </a:prstGeom>
          <a:solidFill>
            <a:srgbClr val="1A243D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332720" y="3017520"/>
            <a:ext cx="685800" cy="685800"/>
          </a:xfrm>
          <a:prstGeom prst="rect">
            <a:avLst/>
          </a:prstGeom>
          <a:solidFill>
            <a:srgbClr val="1E2840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155680" y="3017520"/>
            <a:ext cx="685800" cy="685800"/>
          </a:xfrm>
          <a:prstGeom prst="rect">
            <a:avLst/>
          </a:prstGeom>
          <a:solidFill>
            <a:srgbClr val="222C43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86800" y="3840480"/>
            <a:ext cx="685800" cy="685800"/>
          </a:xfrm>
          <a:prstGeom prst="rect">
            <a:avLst/>
          </a:prstGeom>
          <a:solidFill>
            <a:srgbClr val="16203A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0" y="3840480"/>
            <a:ext cx="685800" cy="685800"/>
          </a:xfrm>
          <a:prstGeom prst="rect">
            <a:avLst/>
          </a:prstGeom>
          <a:solidFill>
            <a:srgbClr val="1A243D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332720" y="3840480"/>
            <a:ext cx="685800" cy="685800"/>
          </a:xfrm>
          <a:prstGeom prst="rect">
            <a:avLst/>
          </a:prstGeom>
          <a:solidFill>
            <a:srgbClr val="1E2840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155680" y="3840480"/>
            <a:ext cx="685800" cy="685800"/>
          </a:xfrm>
          <a:prstGeom prst="rect">
            <a:avLst/>
          </a:prstGeom>
          <a:solidFill>
            <a:srgbClr val="222C43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86800" y="4663440"/>
            <a:ext cx="685800" cy="685800"/>
          </a:xfrm>
          <a:prstGeom prst="rect">
            <a:avLst/>
          </a:prstGeom>
          <a:solidFill>
            <a:srgbClr val="16203A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9760" y="4663440"/>
            <a:ext cx="685800" cy="685800"/>
          </a:xfrm>
          <a:prstGeom prst="rect">
            <a:avLst/>
          </a:prstGeom>
          <a:solidFill>
            <a:srgbClr val="1A243D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32720" y="4663440"/>
            <a:ext cx="685800" cy="685800"/>
          </a:xfrm>
          <a:prstGeom prst="rect">
            <a:avLst/>
          </a:prstGeom>
          <a:solidFill>
            <a:srgbClr val="1E2840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155680" y="4663440"/>
            <a:ext cx="685800" cy="685800"/>
          </a:xfrm>
          <a:prstGeom prst="rect">
            <a:avLst/>
          </a:prstGeom>
          <a:solidFill>
            <a:srgbClr val="222C43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86800" y="5486400"/>
            <a:ext cx="685800" cy="685800"/>
          </a:xfrm>
          <a:prstGeom prst="rect">
            <a:avLst/>
          </a:prstGeom>
          <a:solidFill>
            <a:srgbClr val="16203A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09760" y="5486400"/>
            <a:ext cx="685800" cy="685800"/>
          </a:xfrm>
          <a:prstGeom prst="rect">
            <a:avLst/>
          </a:prstGeom>
          <a:solidFill>
            <a:srgbClr val="1A243D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332720" y="5486400"/>
            <a:ext cx="685800" cy="685800"/>
          </a:xfrm>
          <a:prstGeom prst="rect">
            <a:avLst/>
          </a:prstGeom>
          <a:solidFill>
            <a:srgbClr val="1E2840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155680" y="5486400"/>
            <a:ext cx="685800" cy="685800"/>
          </a:xfrm>
          <a:prstGeom prst="rect">
            <a:avLst/>
          </a:prstGeom>
          <a:solidFill>
            <a:srgbClr val="222C43"/>
          </a:solidFill>
          <a:ln w="635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B93"/>
                </a:solidFill>
                <a:latin typeface="Segoe UI"/>
              </a:defRPr>
            </a:pPr>
            <a:r>
              <a:t>March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4D6A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Policy Coverage Without Fiscal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0AEC0"/>
                </a:solidFill>
                <a:latin typeface="Segoe UI"/>
              </a:defRPr>
            </a:pPr>
            <a:r>
              <a:t>TechPoint writes about policy impact on tech — but every number comes from manually found PDFs.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91840" cy="36576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1005840" y="3108960"/>
            <a:ext cx="502920" cy="502920"/>
          </a:xfrm>
          <a:prstGeom prst="donut">
            <a:avLst/>
          </a:prstGeom>
          <a:solidFill>
            <a:srgbClr val="2E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10896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4D6A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Hours Wasted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4D6A"/>
                </a:solidFill>
                <a:latin typeface="Segoe UI"/>
              </a:defRPr>
            </a:pPr>
            <a:r>
              <a:t>Manual PDF Scraping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4663440"/>
            <a:ext cx="1828800" cy="12700"/>
          </a:xfrm>
          <a:prstGeom prst="rect">
            <a:avLst/>
          </a:prstGeom>
          <a:solidFill>
            <a:srgbClr val="25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84632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Journalists spend hours hunting through scattered government PDFs for a single allocation figure. No API. No database. Just Google and hope.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743200"/>
            <a:ext cx="3291840" cy="36576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ross 13"/>
          <p:cNvSpPr/>
          <p:nvPr/>
        </p:nvSpPr>
        <p:spPr>
          <a:xfrm>
            <a:off x="4663440" y="3108960"/>
            <a:ext cx="502920" cy="502920"/>
          </a:xfrm>
          <a:prstGeom prst="plus">
            <a:avLst/>
          </a:prstGeom>
          <a:solidFill>
            <a:srgbClr val="2E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10896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4D6A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8404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No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206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4D6A"/>
                </a:solidFill>
                <a:latin typeface="Segoe UI"/>
              </a:defRPr>
            </a:pPr>
            <a:r>
              <a:t>Can't Cross-Check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4663440"/>
            <a:ext cx="1828800" cy="12700"/>
          </a:xfrm>
          <a:prstGeom prst="rect">
            <a:avLst/>
          </a:prstGeom>
          <a:solidFill>
            <a:srgbClr val="25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484632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When the government says "₦X allocated," there's no way to verify against actual disbursements across 37 states and 774 LGAs.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743200"/>
            <a:ext cx="3291840" cy="36576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olded Corner 20"/>
          <p:cNvSpPr/>
          <p:nvPr/>
        </p:nvSpPr>
        <p:spPr>
          <a:xfrm>
            <a:off x="8321040" y="3108960"/>
            <a:ext cx="502920" cy="502920"/>
          </a:xfrm>
          <a:prstGeom prst="foldedCorner">
            <a:avLst/>
          </a:prstGeom>
          <a:solidFill>
            <a:srgbClr val="2E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310896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4D6A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8404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Commodity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206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4D6A"/>
                </a:solidFill>
                <a:latin typeface="Segoe UI"/>
              </a:defRPr>
            </a:pPr>
            <a:r>
              <a:t>Same As Every Competitor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4663440"/>
            <a:ext cx="1828800" cy="12700"/>
          </a:xfrm>
          <a:prstGeom prst="rect">
            <a:avLst/>
          </a:prstGeom>
          <a:solidFill>
            <a:srgbClr val="25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84632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TechCabal, Stears, The Cable — they all have the same data blind spot. Everyone's rewriting the same press releases.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C97B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Structured Government Data, Instantly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0AEC0"/>
                </a:solidFill>
                <a:latin typeface="Segoe UI"/>
              </a:defRPr>
            </a:pPr>
            <a:r>
              <a:t>OurNigeria's AI pipeline turns 700+ budget documents into queryable, structured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4937760" cy="155448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54864" cy="155448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entagon 7"/>
          <p:cNvSpPr/>
          <p:nvPr/>
        </p:nvSpPr>
        <p:spPr>
          <a:xfrm>
            <a:off x="1051560" y="2971800"/>
            <a:ext cx="457200" cy="457200"/>
          </a:xfrm>
          <a:prstGeom prst="homePlat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8803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FAAC Allocations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91840"/>
            <a:ext cx="3657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Monthly federal transfers to every state and LGA. Historical trends. Compare across regions and time periods.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651760"/>
            <a:ext cx="4937760" cy="155448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651760"/>
            <a:ext cx="54864" cy="1554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olded Corner 12"/>
          <p:cNvSpPr/>
          <p:nvPr/>
        </p:nvSpPr>
        <p:spPr>
          <a:xfrm>
            <a:off x="6355080" y="2971800"/>
            <a:ext cx="457200" cy="457200"/>
          </a:xfrm>
          <a:prstGeom prst="foldedCorner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8803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Budget Line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291840"/>
            <a:ext cx="3657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What each of 37 states allocated to tech, digital economy, science &amp; innovation. Searchable by ministry.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4937760" cy="155448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54864" cy="155448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4800600"/>
            <a:ext cx="457200" cy="45720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47091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Spending vs. Allocation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120640"/>
            <a:ext cx="3657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Where budgeted money actually went — or didn't go. The accountability layer that no one else provides.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480560"/>
            <a:ext cx="4937760" cy="155448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4480560"/>
            <a:ext cx="54864" cy="1554480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6355080" y="4800600"/>
            <a:ext cx="457200" cy="457200"/>
          </a:xfrm>
          <a:prstGeom prst="chevron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47091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Corruption Flags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5120640"/>
            <a:ext cx="3657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Documented cases tied to specific budget lines, agencies, and amounts. Cross-referenced with public records.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6126480"/>
            <a:ext cx="10698480" cy="59436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619963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C97B"/>
                </a:solidFill>
                <a:latin typeface="Segoe UI"/>
              </a:defRPr>
            </a:pPr>
            <a:r>
              <a:t>700+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23620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EC0"/>
                </a:solidFill>
                <a:latin typeface="Segoe UI"/>
              </a:defRPr>
            </a:pPr>
            <a:r>
              <a:t>Documents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54096" y="619963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C97B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8496" y="623620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EC0"/>
                </a:solidFill>
                <a:latin typeface="Segoe UI"/>
              </a:defRPr>
            </a:pPr>
            <a:r>
              <a:t>States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3792" y="619963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C97B"/>
                </a:solidFill>
                <a:latin typeface="Segoe UI"/>
              </a:defRPr>
            </a:pPr>
            <a:r>
              <a:t>774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623620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EC0"/>
                </a:solidFill>
                <a:latin typeface="Segoe UI"/>
              </a:defRPr>
            </a:pPr>
            <a:r>
              <a:t>LGAs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3488" y="619963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C97B"/>
                </a:solidFill>
                <a:latin typeface="Segoe UI"/>
              </a:defRPr>
            </a:pPr>
            <a:r>
              <a:t>708K+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623620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EC0"/>
                </a:solidFill>
                <a:latin typeface="Segoe UI"/>
              </a:defRPr>
            </a:pPr>
            <a:r>
              <a:t>Data Points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73184" y="619963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C97B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87584" y="623620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EC0"/>
                </a:solidFill>
                <a:latin typeface="Segoe UI"/>
              </a:defRPr>
            </a:pPr>
            <a:r>
              <a:t>Natural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C97B"/>
                </a:solidFill>
                <a:latin typeface="Segoe UI"/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6 Revenue Multipliers for TechPoint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19202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29184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331720"/>
            <a:ext cx="457200" cy="4572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50008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Ad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0AEC0"/>
                </a:solidFill>
                <a:latin typeface="Segoe UI"/>
              </a:defRPr>
            </a:pPr>
            <a:r>
              <a:t>Higher CPMs from data-exclusive content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291840" cy="19202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011680"/>
            <a:ext cx="32918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233172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50008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Sponsored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01752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0AEC0"/>
                </a:solidFill>
                <a:latin typeface="Segoe UI"/>
              </a:defRPr>
            </a:pPr>
            <a:r>
              <a:t>Premium "Policy Intelligence" tier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291840" cy="19202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011680"/>
            <a:ext cx="3291840" cy="548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2331720"/>
            <a:ext cx="457200" cy="45720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350008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Newsletter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1752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0AEC0"/>
                </a:solidFill>
                <a:latin typeface="Segoe UI"/>
              </a:defRPr>
            </a:pPr>
            <a:r>
              <a:t>Exclusive data → higher open rates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97680"/>
            <a:ext cx="3291840" cy="19202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297680"/>
            <a:ext cx="3291840" cy="54864"/>
          </a:xfrm>
          <a:prstGeom prst="rect">
            <a:avLst/>
          </a:prstGeom>
          <a:solidFill>
            <a:srgbClr val="A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4617720"/>
            <a:ext cx="457200" cy="457200"/>
          </a:xfrm>
          <a:prstGeom prst="ellipse">
            <a:avLst/>
          </a:prstGeom>
          <a:solidFill>
            <a:srgbClr val="A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636008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0AEC0"/>
                </a:solidFill>
                <a:latin typeface="Segoe UI"/>
              </a:defRPr>
            </a:pPr>
            <a:r>
              <a:t>New sponsor category unlocked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297680"/>
            <a:ext cx="3291840" cy="19202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297680"/>
            <a:ext cx="3291840" cy="54864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3440" y="4617720"/>
            <a:ext cx="457200" cy="457200"/>
          </a:xfrm>
          <a:prstGeom prst="ellipse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636008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IntelPoint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30352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0AEC0"/>
                </a:solidFill>
                <a:latin typeface="Segoe UI"/>
              </a:defRPr>
            </a:pPr>
            <a:r>
              <a:t>Reports in hours not days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297680"/>
            <a:ext cx="3291840" cy="19202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4297680"/>
            <a:ext cx="329184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461772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636008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Competitive Moat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30352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0AEC0"/>
                </a:solidFill>
                <a:latin typeface="Segoe UI"/>
              </a:defRPr>
            </a:pPr>
            <a:r>
              <a:t>First mover advantage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C97B"/>
                </a:solidFill>
                <a:latin typeface="Segoe UI"/>
              </a:defRPr>
            </a:pPr>
            <a:r>
              <a:t>REVENUE DRIVER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Higher-Value Ad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Segoe UI"/>
              </a:defRPr>
            </a:pPr>
            <a:r>
              <a:t>How data-exclusive content drives ad revenue: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468880" cy="16459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377440"/>
            <a:ext cx="411480" cy="41148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231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Exclusive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Government fiscal data</a:t>
            </a:r>
            <a:br/>
            <a:r>
              <a:t>no competitor has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91840" y="2788920"/>
            <a:ext cx="201168" cy="201168"/>
          </a:xfrm>
          <a:prstGeom prst="rightArrow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2194560"/>
            <a:ext cx="2468880" cy="16459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49040" y="2377440"/>
            <a:ext cx="411480" cy="41148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4231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Better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9718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Data-backed articles rank</a:t>
            </a:r>
            <a:br/>
            <a:r>
              <a:t>higher, get shared more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26480" y="2788920"/>
            <a:ext cx="201168" cy="201168"/>
          </a:xfrm>
          <a:prstGeom prst="rightArrow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2194560"/>
            <a:ext cx="2468880" cy="16459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0" y="2377440"/>
            <a:ext cx="411480" cy="41148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4231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Premium Audience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718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High-intent readers:</a:t>
            </a:r>
            <a:br/>
            <a:r>
              <a:t>fintech + enterprise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61120" y="2788920"/>
            <a:ext cx="201168" cy="201168"/>
          </a:xfrm>
          <a:prstGeom prst="rightArrow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35440" y="2194560"/>
            <a:ext cx="2468880" cy="16459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18320" y="2377440"/>
            <a:ext cx="411480" cy="41148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4231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Higher CPMs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9718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Advertisers pay more</a:t>
            </a:r>
            <a:br/>
            <a:r>
              <a:t>for this demographic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06240"/>
            <a:ext cx="5303520" cy="2286000"/>
          </a:xfrm>
          <a:prstGeom prst="roundRect">
            <a:avLst/>
          </a:prstGeom>
          <a:solidFill>
            <a:srgbClr val="2E0A12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206240"/>
            <a:ext cx="54864" cy="2286000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3891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4D6A"/>
                </a:solidFill>
                <a:latin typeface="Segoe UI"/>
              </a:defRPr>
            </a:pPr>
            <a:r>
              <a:t>BEFORE — Generic Policy 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0060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"Nigeria's digital economy plans look promising"</a:t>
            </a:r>
          </a:p>
        </p:txBody>
      </p:sp>
      <p:sp>
        <p:nvSpPr>
          <p:cNvPr id="29" name="Cross 28"/>
          <p:cNvSpPr/>
          <p:nvPr/>
        </p:nvSpPr>
        <p:spPr>
          <a:xfrm>
            <a:off x="1005840" y="5349240"/>
            <a:ext cx="137160" cy="137160"/>
          </a:xfrm>
          <a:prstGeom prst="plus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530352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Reads like a press release rewrite</a:t>
            </a:r>
          </a:p>
        </p:txBody>
      </p:sp>
      <p:sp>
        <p:nvSpPr>
          <p:cNvPr id="31" name="Cross 30"/>
          <p:cNvSpPr/>
          <p:nvPr/>
        </p:nvSpPr>
        <p:spPr>
          <a:xfrm>
            <a:off x="1005840" y="5669280"/>
            <a:ext cx="137160" cy="137160"/>
          </a:xfrm>
          <a:prstGeom prst="plus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5623559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Low search ranking, low social sharing</a:t>
            </a:r>
          </a:p>
        </p:txBody>
      </p:sp>
      <p:sp>
        <p:nvSpPr>
          <p:cNvPr id="33" name="Cross 32"/>
          <p:cNvSpPr/>
          <p:nvPr/>
        </p:nvSpPr>
        <p:spPr>
          <a:xfrm>
            <a:off x="1005840" y="5989320"/>
            <a:ext cx="137160" cy="137160"/>
          </a:xfrm>
          <a:prstGeom prst="plus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59436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Generic audience, standard CPMs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206240"/>
            <a:ext cx="5303520" cy="2286000"/>
          </a:xfrm>
          <a:prstGeom prst="roundRect">
            <a:avLst/>
          </a:prstGeom>
          <a:solidFill>
            <a:srgbClr val="0A2E1F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4206240"/>
            <a:ext cx="54864" cy="22860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3891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C97B"/>
                </a:solidFill>
                <a:latin typeface="Segoe UI"/>
              </a:defRPr>
            </a:pPr>
            <a:r>
              <a:t>AFTER — Data-Backed Exclusive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75488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"Lagos received ₦84.7B from FAAC in January — but only ₦2.1B reached its digital economy ministry"</a:t>
            </a:r>
          </a:p>
        </p:txBody>
      </p:sp>
      <p:sp>
        <p:nvSpPr>
          <p:cNvPr id="39" name="4-Point Star 38"/>
          <p:cNvSpPr/>
          <p:nvPr/>
        </p:nvSpPr>
        <p:spPr>
          <a:xfrm>
            <a:off x="6583680" y="5440680"/>
            <a:ext cx="137160" cy="137160"/>
          </a:xfrm>
          <a:prstGeom prst="star4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Exclusive data = high organic search ranking</a:t>
            </a:r>
          </a:p>
        </p:txBody>
      </p:sp>
      <p:sp>
        <p:nvSpPr>
          <p:cNvPr id="41" name="4-Point Star 40"/>
          <p:cNvSpPr/>
          <p:nvPr/>
        </p:nvSpPr>
        <p:spPr>
          <a:xfrm>
            <a:off x="6583680" y="5760720"/>
            <a:ext cx="137160" cy="137160"/>
          </a:xfrm>
          <a:prstGeom prst="star4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Shareable insight drives social traffic</a:t>
            </a:r>
          </a:p>
        </p:txBody>
      </p:sp>
      <p:sp>
        <p:nvSpPr>
          <p:cNvPr id="43" name="4-Point Star 42"/>
          <p:cNvSpPr/>
          <p:nvPr/>
        </p:nvSpPr>
        <p:spPr>
          <a:xfrm>
            <a:off x="6583680" y="6080759"/>
            <a:ext cx="137160" cy="137160"/>
          </a:xfrm>
          <a:prstGeom prst="star4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Fintech/enterprise readers = premium ad CPMs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B4D8"/>
                </a:solidFill>
                <a:latin typeface="Segoe UI"/>
              </a:defRPr>
            </a:pPr>
            <a:r>
              <a:t>REVENUE DRIVER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Premium "Policy Intelligence"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Segoe UI"/>
              </a:defRPr>
            </a:pPr>
            <a:r>
              <a:t>Data-backed sponsored content commands premium pricing because it's more credible and has a longer shelf life.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457200"/>
          </a:xfrm>
          <a:prstGeom prst="roundRect">
            <a:avLst/>
          </a:prstGeom>
          <a:solidFill>
            <a:srgbClr val="0A1A2E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4203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B4D8"/>
                </a:solidFill>
                <a:latin typeface="Segoe UI"/>
              </a:defRPr>
            </a:pPr>
            <a:r>
              <a:t>EXAMPLE SCENARIO: Moniepoint Sponsored Series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3291840" cy="32004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32918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olded Corner 9"/>
          <p:cNvSpPr/>
          <p:nvPr/>
        </p:nvSpPr>
        <p:spPr>
          <a:xfrm>
            <a:off x="1005840" y="3566160"/>
            <a:ext cx="457200" cy="457200"/>
          </a:xfrm>
          <a:prstGeom prst="foldedCorner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356616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The 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206240"/>
            <a:ext cx="2286000" cy="12700"/>
          </a:xfrm>
          <a:prstGeom prst="rect">
            <a:avLst/>
          </a:prstGeom>
          <a:solidFill>
            <a:srgbClr val="25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Monthly "State of Digital Payments Infrastructure" report using actual government allocation data showing which states invest in payment infrastructure.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200400"/>
            <a:ext cx="3291840" cy="32004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3200400"/>
            <a:ext cx="3291840" cy="548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nut 15"/>
          <p:cNvSpPr/>
          <p:nvPr/>
        </p:nvSpPr>
        <p:spPr>
          <a:xfrm>
            <a:off x="4663440" y="3566160"/>
            <a:ext cx="457200" cy="457200"/>
          </a:xfrm>
          <a:prstGeom prst="donu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356616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Brand 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4206240"/>
            <a:ext cx="2286000" cy="12700"/>
          </a:xfrm>
          <a:prstGeom prst="rect">
            <a:avLst/>
          </a:prstGeom>
          <a:solidFill>
            <a:srgbClr val="25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443484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Moniepoint reaches state government readers and enterprise decision-makers who are actively researching government tech spending. Qualified leads, not impressions.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200400"/>
            <a:ext cx="3291840" cy="32004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200400"/>
            <a:ext cx="329184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Up Arrow 21"/>
          <p:cNvSpPr/>
          <p:nvPr/>
        </p:nvSpPr>
        <p:spPr>
          <a:xfrm>
            <a:off x="8321040" y="3566160"/>
            <a:ext cx="457200" cy="457200"/>
          </a:xfrm>
          <a:prstGeom prst="upArrow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356616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TechPoint Revenue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4206240"/>
            <a:ext cx="2286000" cy="12700"/>
          </a:xfrm>
          <a:prstGeom prst="rect">
            <a:avLst/>
          </a:prstGeom>
          <a:solidFill>
            <a:srgbClr val="25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43484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Premium pricing because the content has original, exclusive data. Not branded thought leadership — real fiscal intelligence. Longer shelf life = sustained traffic per piece.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0" y="457200"/>
            <a:ext cx="2011680" cy="320040"/>
          </a:xfrm>
          <a:prstGeom prst="roundRect">
            <a:avLst/>
          </a:prstGeom>
          <a:solidFill>
            <a:srgbClr val="2E0A12"/>
          </a:solidFill>
          <a:ln w="1270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0" y="48463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4D6A"/>
                </a:solidFill>
                <a:latin typeface="Segoe UI"/>
              </a:defRPr>
            </a:pPr>
            <a:r>
              <a:t>HIGHEST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B800"/>
                </a:solidFill>
                <a:latin typeface="Segoe UI"/>
              </a:defRPr>
            </a:pPr>
            <a:r>
              <a:t>REVENUE DRIVER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IntelPoint: More Reports, Better Margins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Segoe UI"/>
              </a:defRPr>
            </a:pPr>
            <a:r>
              <a:t>The most direct revenue impact. Research that took days now takes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5120640" cy="4114800"/>
          </a:xfrm>
          <a:prstGeom prst="roundRect">
            <a:avLst/>
          </a:prstGeom>
          <a:solidFill>
            <a:srgbClr val="2E0A12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5120640" cy="54864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4D6A"/>
                </a:solidFill>
                <a:latin typeface="Segoe UI"/>
              </a:defRPr>
            </a:pPr>
            <a:r>
              <a:t>WITHOUT OurNigeria</a:t>
            </a:r>
          </a:p>
        </p:txBody>
      </p:sp>
      <p:sp>
        <p:nvSpPr>
          <p:cNvPr id="11" name="Donut 10"/>
          <p:cNvSpPr/>
          <p:nvPr/>
        </p:nvSpPr>
        <p:spPr>
          <a:xfrm>
            <a:off x="1188720" y="3337560"/>
            <a:ext cx="274320" cy="274320"/>
          </a:xfrm>
          <a:prstGeom prst="donu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355848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Days of manual PDF scraping per report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0" y="3931920"/>
            <a:ext cx="274320" cy="274320"/>
          </a:xfrm>
          <a:prstGeom prst="ellipse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950208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Limited to states where data is findable</a:t>
            </a:r>
          </a:p>
        </p:txBody>
      </p:sp>
      <p:sp>
        <p:nvSpPr>
          <p:cNvPr id="15" name="Diamond 14"/>
          <p:cNvSpPr/>
          <p:nvPr/>
        </p:nvSpPr>
        <p:spPr>
          <a:xfrm>
            <a:off x="1188720" y="4526280"/>
            <a:ext cx="274320" cy="274320"/>
          </a:xfrm>
          <a:prstGeom prst="diamond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544568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High labor cost erodes report margins</a:t>
            </a:r>
          </a:p>
        </p:txBody>
      </p:sp>
      <p:sp>
        <p:nvSpPr>
          <p:cNvPr id="17" name="Donut 16"/>
          <p:cNvSpPr/>
          <p:nvPr/>
        </p:nvSpPr>
        <p:spPr>
          <a:xfrm>
            <a:off x="1188720" y="5120640"/>
            <a:ext cx="274320" cy="274320"/>
          </a:xfrm>
          <a:prstGeom prst="donu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5138928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Slow RFP responses — "give us 3 weeks"</a:t>
            </a:r>
          </a:p>
        </p:txBody>
      </p:sp>
      <p:sp>
        <p:nvSpPr>
          <p:cNvPr id="19" name="&quot;No&quot; Symbol 18"/>
          <p:cNvSpPr/>
          <p:nvPr/>
        </p:nvSpPr>
        <p:spPr>
          <a:xfrm>
            <a:off x="1188720" y="5715000"/>
            <a:ext cx="274320" cy="274320"/>
          </a:xfrm>
          <a:prstGeom prst="noSmoking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5733288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Gov fiscal reports often not worth the effort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560320"/>
            <a:ext cx="5120640" cy="4114800"/>
          </a:xfrm>
          <a:prstGeom prst="roundRect">
            <a:avLst/>
          </a:prstGeom>
          <a:solidFill>
            <a:srgbClr val="0A2E1F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560320"/>
            <a:ext cx="512064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7889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C97B"/>
                </a:solidFill>
                <a:latin typeface="Segoe UI"/>
              </a:defRPr>
            </a:pPr>
            <a:r>
              <a:t>WITH OurNigeria API</a:t>
            </a:r>
          </a:p>
        </p:txBody>
      </p:sp>
      <p:sp>
        <p:nvSpPr>
          <p:cNvPr id="24" name="Lightning Bolt 23"/>
          <p:cNvSpPr/>
          <p:nvPr/>
        </p:nvSpPr>
        <p:spPr>
          <a:xfrm>
            <a:off x="6675120" y="3337560"/>
            <a:ext cx="274320" cy="274320"/>
          </a:xfrm>
          <a:prstGeom prst="lightningBol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3355848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Data pulls in minutes, not days</a:t>
            </a:r>
          </a:p>
        </p:txBody>
      </p:sp>
      <p:sp>
        <p:nvSpPr>
          <p:cNvPr id="26" name="Oval 25"/>
          <p:cNvSpPr/>
          <p:nvPr/>
        </p:nvSpPr>
        <p:spPr>
          <a:xfrm>
            <a:off x="6675120" y="3931920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3950208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Full coverage: all 37 states, 774 LGAs</a:t>
            </a:r>
          </a:p>
        </p:txBody>
      </p:sp>
      <p:sp>
        <p:nvSpPr>
          <p:cNvPr id="28" name="Up Arrow 27"/>
          <p:cNvSpPr/>
          <p:nvPr/>
        </p:nvSpPr>
        <p:spPr>
          <a:xfrm>
            <a:off x="6675120" y="4526280"/>
            <a:ext cx="274320" cy="274320"/>
          </a:xfrm>
          <a:prstGeom prst="upArrow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4544568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Lower cost per report = better margins</a:t>
            </a:r>
          </a:p>
        </p:txBody>
      </p:sp>
      <p:sp>
        <p:nvSpPr>
          <p:cNvPr id="30" name="4-Point Star 29"/>
          <p:cNvSpPr/>
          <p:nvPr/>
        </p:nvSpPr>
        <p:spPr>
          <a:xfrm>
            <a:off x="6675120" y="5120640"/>
            <a:ext cx="274320" cy="274320"/>
          </a:xfrm>
          <a:prstGeom prst="star4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5138928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"Kano's tech spending?" → Yes, today.</a:t>
            </a:r>
          </a:p>
        </p:txBody>
      </p:sp>
      <p:sp>
        <p:nvSpPr>
          <p:cNvPr id="32" name="4-Point Star 31"/>
          <p:cNvSpPr/>
          <p:nvPr/>
        </p:nvSpPr>
        <p:spPr>
          <a:xfrm>
            <a:off x="6675120" y="5715000"/>
            <a:ext cx="274320" cy="274320"/>
          </a:xfrm>
          <a:prstGeom prst="star4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5733288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New product: Gov Fiscal Intelligence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75CFF"/>
                </a:solidFill>
                <a:latin typeface="Segoe UI"/>
              </a:defRPr>
            </a:pPr>
            <a:r>
              <a:t>REVENUE DRIVERS 04 &amp;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Events &amp; Newsletter 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45720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303520" cy="54864"/>
          </a:xfrm>
          <a:prstGeom prst="rect">
            <a:avLst/>
          </a:prstGeom>
          <a:solidFill>
            <a:srgbClr val="A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Techpoint Build &amp; Inspired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A "Civic Tech &amp; Government Spending" data track unlocks an entirely new sponsor category: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3291840"/>
            <a:ext cx="365760" cy="365760"/>
          </a:xfrm>
          <a:prstGeom prst="ellipse">
            <a:avLst/>
          </a:prstGeom>
          <a:solidFill>
            <a:srgbClr val="A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918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Government Agencies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5844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Federal and state digital economy ministries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4069080"/>
            <a:ext cx="365760" cy="365760"/>
          </a:xfrm>
          <a:prstGeom prst="ellipse">
            <a:avLst/>
          </a:prstGeom>
          <a:solidFill>
            <a:srgbClr val="A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06908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Development Orgs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36168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World Bank, USAID, GIZ, AfDB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0" y="4846320"/>
            <a:ext cx="365760" cy="365760"/>
          </a:xfrm>
          <a:prstGeom prst="ellipse">
            <a:avLst/>
          </a:prstGeom>
          <a:solidFill>
            <a:srgbClr val="A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8463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Enterprise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51389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Oracle, Microsoft, local IT vendors selling to government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5669280"/>
            <a:ext cx="4572000" cy="411480"/>
          </a:xfrm>
          <a:prstGeom prst="roundRect">
            <a:avLst/>
          </a:prstGeom>
          <a:solidFill>
            <a:srgbClr val="0A1A2E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733288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75CFF"/>
                </a:solidFill>
                <a:latin typeface="Segoe UI"/>
              </a:defRPr>
            </a:pPr>
            <a:r>
              <a:t>One additional ₦5-10M sponsor per event is meaningful.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828800"/>
            <a:ext cx="5120640" cy="45720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828800"/>
            <a:ext cx="5120640" cy="548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1031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Techpoint Digest Newsletter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2743200"/>
            <a:ext cx="438912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0" y="2743200"/>
            <a:ext cx="4389120" cy="365760"/>
          </a:xfrm>
          <a:prstGeom prst="roundRect">
            <a:avLst/>
          </a:prstGeom>
          <a:solidFill>
            <a:srgbClr val="0A1A2E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2788920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B800"/>
                </a:solidFill>
                <a:latin typeface="Segoe UI"/>
              </a:defRPr>
            </a:pPr>
            <a:r>
              <a:t>GOVERNMENT DATA SPOTLIGHT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200400"/>
            <a:ext cx="40233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This week: Ogun State's FAAC allocation dropped 23% month-over-month while Lagos saw a 12% increase. What's driving the divergence?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251960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C97B"/>
                </a:solidFill>
                <a:latin typeface="Segoe UI"/>
              </a:defRPr>
            </a:pPr>
            <a:r>
              <a:t>Powered by OurNigeria  |  Read full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0292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The revenue mechanism: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858000" y="5394960"/>
            <a:ext cx="164592" cy="164592"/>
          </a:xfrm>
          <a:prstGeom prst="rightArrow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537667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Exclusive number-driven content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858000" y="5715000"/>
            <a:ext cx="164592" cy="164592"/>
          </a:xfrm>
          <a:prstGeom prst="rightArrow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569671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Higher open rates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858000" y="6035040"/>
            <a:ext cx="164592" cy="164592"/>
          </a:xfrm>
          <a:prstGeom prst="rightArrow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60167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Higher newsletter sponsorship pricing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4D6A"/>
                </a:solidFill>
                <a:latin typeface="Segoe UI"/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Window Is Open — But Closing Fast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640080"/>
          </a:xfrm>
          <a:prstGeom prst="roundRect">
            <a:avLst/>
          </a:prstGeom>
          <a:solidFill>
            <a:srgbClr val="2E0A12"/>
          </a:solidFill>
          <a:ln w="1270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If TechCabal or Stears gets structured government data first, TechPoint's policy content becomes second-tier. This is about protecting revenue, not just growing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291840" cy="32004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54864" cy="3200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lded Corner 8"/>
          <p:cNvSpPr/>
          <p:nvPr/>
        </p:nvSpPr>
        <p:spPr>
          <a:xfrm>
            <a:off x="1097280" y="3474720"/>
            <a:ext cx="502920" cy="502920"/>
          </a:xfrm>
          <a:prstGeom prst="foldedCorner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2025 Budget Cycle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4663440"/>
            <a:ext cx="1371600" cy="127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3776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Peak interest in government fiscal data. Tinubu's digital economy policies are generating massive coverage demand. The moment is now.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017520"/>
            <a:ext cx="3291840" cy="32004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3017520"/>
            <a:ext cx="54864" cy="3200400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4754880" y="3474720"/>
            <a:ext cx="502920" cy="502920"/>
          </a:xfrm>
          <a:prstGeom prst="rightArrow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42062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Competitor Movement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4663440"/>
            <a:ext cx="1371600" cy="12700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93776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BudgIT, Dataphyte, and others are building similar capabilities. First tech publication to have structured fiscal data wins the positioning.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017520"/>
            <a:ext cx="3291840" cy="32004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3017520"/>
            <a:ext cx="54864" cy="3200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0" y="3474720"/>
            <a:ext cx="502920" cy="5029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2062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Advertiser Stakes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4663440"/>
            <a:ext cx="1371600" cy="127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493776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Brands sponsor the publication with the most credible policy coverage. Data authority equals advertising dollars. Second place gets leftovers.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C97B"/>
                </a:solidFill>
                <a:latin typeface="Segoe UI"/>
              </a:defRPr>
            </a:pPr>
            <a:r>
              <a:t>PARTNERSHIP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How We Work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011680" cy="43891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01168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2103120"/>
            <a:ext cx="411480" cy="41148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130552"/>
            <a:ext cx="1097280" cy="320040"/>
          </a:xfrm>
          <a:prstGeom prst="roundRect">
            <a:avLst/>
          </a:prstGeom>
          <a:solidFill>
            <a:srgbClr val="0A2E1F"/>
          </a:solidFill>
          <a:ln w="1270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C97B"/>
                </a:solidFill>
                <a:latin typeface="Segoe UI"/>
              </a:defRPr>
            </a:pPr>
            <a: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Embedded</a:t>
            </a:r>
            <a:br/>
            <a:r>
              <a:t>Data Widgets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566160"/>
            <a:ext cx="1371600" cy="12700"/>
          </a:xfrm>
          <a:prstGeom prst="rect">
            <a:avLst/>
          </a:prstGeom>
          <a:solidFill>
            <a:srgbClr val="25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49040"/>
            <a:ext cx="17373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Allocation tracker on policy pages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846320"/>
            <a:ext cx="1371600" cy="12700"/>
          </a:xfrm>
          <a:prstGeom prst="rect">
            <a:avLst/>
          </a:prstGeom>
          <a:solidFill>
            <a:srgbClr val="25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p Arrow 13"/>
          <p:cNvSpPr/>
          <p:nvPr/>
        </p:nvSpPr>
        <p:spPr>
          <a:xfrm>
            <a:off x="594360" y="5074920"/>
            <a:ext cx="201168" cy="201168"/>
          </a:xfrm>
          <a:prstGeom prst="upArrow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4924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C97B"/>
                </a:solidFill>
                <a:latin typeface="Segoe UI"/>
              </a:defRPr>
            </a:pPr>
            <a:r>
              <a:t>Time-on-page</a:t>
            </a:r>
            <a:br/>
            <a:r>
              <a:t>Return visits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1828800"/>
            <a:ext cx="2011680" cy="43891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1828800"/>
            <a:ext cx="20116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34640" y="21031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130552"/>
            <a:ext cx="1097280" cy="320040"/>
          </a:xfrm>
          <a:prstGeom prst="roundRect">
            <a:avLst/>
          </a:prstGeom>
          <a:solidFill>
            <a:srgbClr val="0A2E1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21488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B4D8"/>
                </a:solidFill>
                <a:latin typeface="Segoe UI"/>
              </a:defRPr>
            </a:pPr>
            <a:r>
              <a:t>Free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74320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Co-Branded</a:t>
            </a:r>
            <a:br/>
            <a:r>
              <a:t>Monthly 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3566160"/>
            <a:ext cx="1371600" cy="12700"/>
          </a:xfrm>
          <a:prstGeom prst="rect">
            <a:avLst/>
          </a:prstGeom>
          <a:solidFill>
            <a:srgbClr val="25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3749040"/>
            <a:ext cx="17373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TechPoint analysis + OurNigeria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4846320"/>
            <a:ext cx="1371600" cy="12700"/>
          </a:xfrm>
          <a:prstGeom prst="rect">
            <a:avLst/>
          </a:prstGeom>
          <a:solidFill>
            <a:srgbClr val="25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Up Arrow 24"/>
          <p:cNvSpPr/>
          <p:nvPr/>
        </p:nvSpPr>
        <p:spPr>
          <a:xfrm>
            <a:off x="2880360" y="5074920"/>
            <a:ext cx="201168" cy="201168"/>
          </a:xfrm>
          <a:prstGeom prst="up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534924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B4D8"/>
                </a:solidFill>
                <a:latin typeface="Segoe UI"/>
              </a:defRPr>
            </a:pPr>
            <a:r>
              <a:t>Sponsorship</a:t>
            </a:r>
            <a:br/>
            <a:r>
              <a:t>opportunity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1828800"/>
            <a:ext cx="2011680" cy="43891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0" y="1828800"/>
            <a:ext cx="2011680" cy="548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20640" y="2103120"/>
            <a:ext cx="411480" cy="41148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2130552"/>
            <a:ext cx="1097280" cy="320040"/>
          </a:xfrm>
          <a:prstGeom prst="roundRect">
            <a:avLst/>
          </a:prstGeom>
          <a:solidFill>
            <a:srgbClr val="0A1A2E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0" y="21488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B800"/>
                </a:solidFill>
                <a:latin typeface="Segoe UI"/>
              </a:defRPr>
            </a:pPr>
            <a:r>
              <a:t>Paid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274320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IntelPoint</a:t>
            </a:r>
            <a:br/>
            <a:r>
              <a:t>API Access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66360" y="3566160"/>
            <a:ext cx="1371600" cy="12700"/>
          </a:xfrm>
          <a:prstGeom prst="rect">
            <a:avLst/>
          </a:prstGeom>
          <a:solidFill>
            <a:srgbClr val="25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66360" y="3749040"/>
            <a:ext cx="17373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Programmatic access for research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66360" y="4846320"/>
            <a:ext cx="1371600" cy="12700"/>
          </a:xfrm>
          <a:prstGeom prst="rect">
            <a:avLst/>
          </a:prstGeom>
          <a:solidFill>
            <a:srgbClr val="25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Up Arrow 35"/>
          <p:cNvSpPr/>
          <p:nvPr/>
        </p:nvSpPr>
        <p:spPr>
          <a:xfrm>
            <a:off x="5166360" y="5074920"/>
            <a:ext cx="201168" cy="201168"/>
          </a:xfrm>
          <a:prstGeom prst="upArrow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60" y="534924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B800"/>
                </a:solidFill>
                <a:latin typeface="Segoe UI"/>
              </a:defRPr>
            </a:pPr>
            <a:r>
              <a:t>More reports,</a:t>
            </a:r>
            <a:br/>
            <a:r>
              <a:t>better margins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1828800"/>
            <a:ext cx="2011680" cy="43891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0" y="1828800"/>
            <a:ext cx="2011680" cy="54864"/>
          </a:xfrm>
          <a:prstGeom prst="rect">
            <a:avLst/>
          </a:prstGeom>
          <a:solidFill>
            <a:srgbClr val="A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406640" y="2103120"/>
            <a:ext cx="411480" cy="411480"/>
          </a:xfrm>
          <a:prstGeom prst="ellipse">
            <a:avLst/>
          </a:prstGeom>
          <a:solidFill>
            <a:srgbClr val="A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55280" y="2130552"/>
            <a:ext cx="1097280" cy="320040"/>
          </a:xfrm>
          <a:prstGeom prst="roundRect">
            <a:avLst/>
          </a:prstGeom>
          <a:solidFill>
            <a:srgbClr val="2A1A3E"/>
          </a:solidFill>
          <a:ln w="12700">
            <a:solidFill>
              <a:srgbClr val="A7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0" y="21488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75CFF"/>
                </a:solidFill>
                <a:latin typeface="Segoe UI"/>
              </a:defRPr>
            </a:pPr>
            <a:r>
              <a:t>Co-invest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274320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Event</a:t>
            </a:r>
            <a:br/>
            <a:r>
              <a:t>Data Track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3566160"/>
            <a:ext cx="1371600" cy="12700"/>
          </a:xfrm>
          <a:prstGeom prst="rect">
            <a:avLst/>
          </a:prstGeom>
          <a:solidFill>
            <a:srgbClr val="25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3749040"/>
            <a:ext cx="17373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Civic Tech track at Techpoint Build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52360" y="4846320"/>
            <a:ext cx="1371600" cy="12700"/>
          </a:xfrm>
          <a:prstGeom prst="rect">
            <a:avLst/>
          </a:prstGeom>
          <a:solidFill>
            <a:srgbClr val="25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Up Arrow 46"/>
          <p:cNvSpPr/>
          <p:nvPr/>
        </p:nvSpPr>
        <p:spPr>
          <a:xfrm>
            <a:off x="7452360" y="5074920"/>
            <a:ext cx="201168" cy="201168"/>
          </a:xfrm>
          <a:prstGeom prst="upArrow">
            <a:avLst/>
          </a:prstGeom>
          <a:solidFill>
            <a:srgbClr val="A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534924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75CFF"/>
                </a:solidFill>
                <a:latin typeface="Segoe UI"/>
              </a:defRPr>
            </a:pPr>
            <a:r>
              <a:t>New sponsor</a:t>
            </a:r>
            <a:br/>
            <a:r>
              <a:t>category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01200" y="1828800"/>
            <a:ext cx="2011680" cy="43891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01200" y="1828800"/>
            <a:ext cx="201168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692640" y="21031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241280" y="2130552"/>
            <a:ext cx="1097280" cy="320040"/>
          </a:xfrm>
          <a:prstGeom prst="roundRect">
            <a:avLst/>
          </a:prstGeom>
          <a:solidFill>
            <a:srgbClr val="0A2E1F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41280" y="21488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8C42"/>
                </a:solidFill>
                <a:latin typeface="Segoe UI"/>
              </a:defRPr>
            </a:pPr>
            <a:r>
              <a:t>Free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38360" y="274320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Newsletter</a:t>
            </a:r>
            <a:br/>
            <a:r>
              <a:t>Data Segment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38360" y="3566160"/>
            <a:ext cx="1371600" cy="12700"/>
          </a:xfrm>
          <a:prstGeom prst="rect">
            <a:avLst/>
          </a:prstGeom>
          <a:solidFill>
            <a:srgbClr val="25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8360" y="3749040"/>
            <a:ext cx="17373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Weekly fiscal data for Digest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38360" y="4846320"/>
            <a:ext cx="1371600" cy="12700"/>
          </a:xfrm>
          <a:prstGeom prst="rect">
            <a:avLst/>
          </a:prstGeom>
          <a:solidFill>
            <a:srgbClr val="25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Up Arrow 57"/>
          <p:cNvSpPr/>
          <p:nvPr/>
        </p:nvSpPr>
        <p:spPr>
          <a:xfrm>
            <a:off x="9738360" y="5074920"/>
            <a:ext cx="201168" cy="201168"/>
          </a:xfrm>
          <a:prstGeom prst="upArrow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38360" y="534924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8C42"/>
                </a:solidFill>
                <a:latin typeface="Segoe UI"/>
              </a:defRPr>
            </a:pPr>
            <a:r>
              <a:t>Higher open rates</a:t>
            </a:r>
            <a:br/>
            <a:r>
              <a:t>= higher pricing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A flexible model: start with free content partnerships, scale into paid API access as value is proven.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Let's Build This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82296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4864" cy="8229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500" b="0" i="1">
                <a:solidFill>
                  <a:srgbClr val="FFFFFF"/>
                </a:solidFill>
                <a:latin typeface="Segoe UI"/>
              </a:defRPr>
            </a:pPr>
            <a:r>
              <a:t>"TechPoint already covers policy better than any Nigerian tech publication. We can make that coverage impossible to replicate."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2560320" cy="27432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256032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3154680"/>
            <a:ext cx="914400" cy="36576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72968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490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21031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See OurNigeria's data capabilities in action with real government fiscal data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64992" y="4023360"/>
            <a:ext cx="182880" cy="182880"/>
          </a:xfrm>
          <a:prstGeom prst="rightArrow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2834640"/>
            <a:ext cx="2560320" cy="27432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2834640"/>
            <a:ext cx="25603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94760" y="3154680"/>
            <a:ext cx="914400" cy="3657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3172968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7490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IntelPoint Deep-Dive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206240"/>
            <a:ext cx="21031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Explore API integration for faster, more comprehensive research reports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99632" y="4023360"/>
            <a:ext cx="182880" cy="18288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2834640"/>
            <a:ext cx="2560320" cy="27432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834640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29400" y="3154680"/>
            <a:ext cx="914400" cy="365760"/>
          </a:xfrm>
          <a:prstGeom prst="round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172968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490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Proof of Concept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206240"/>
            <a:ext cx="21031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One co-branded data article to prove the traffic and engagement impact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034272" y="4023360"/>
            <a:ext cx="182880" cy="182880"/>
          </a:xfrm>
          <a:prstGeom prst="rightArrow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35440" y="2834640"/>
            <a:ext cx="2560320" cy="27432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2834640"/>
            <a:ext cx="2560320" cy="54864"/>
          </a:xfrm>
          <a:prstGeom prst="rect">
            <a:avLst/>
          </a:prstGeom>
          <a:solidFill>
            <a:srgbClr val="A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64040" y="3154680"/>
            <a:ext cx="914400" cy="365760"/>
          </a:xfrm>
          <a:prstGeom prst="roundRect">
            <a:avLst/>
          </a:prstGeom>
          <a:solidFill>
            <a:srgbClr val="A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64040" y="3172968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37490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Full Partnership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4206240"/>
            <a:ext cx="21031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0AEC0"/>
                </a:solidFill>
                <a:latin typeface="Segoe UI"/>
              </a:defRPr>
            </a:pPr>
            <a:r>
              <a:t>Embedded widgets, event track, newsletter integration, API access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943600"/>
            <a:ext cx="10698480" cy="5486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6016752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EC0"/>
                </a:solidFill>
                <a:latin typeface="Segoe UI"/>
              </a:defRPr>
            </a:pPr>
            <a:r>
              <a:t>Contact: Warm introduction via Timi → Director of Sales    |    ournigeria.ng    |  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