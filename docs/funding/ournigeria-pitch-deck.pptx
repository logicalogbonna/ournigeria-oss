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image" Target="../media/image-3-17.png"/><Relationship Id="rId18" Type="http://schemas.openxmlformats.org/officeDocument/2006/relationships/image" Target="../media/image-3-18.svg"/><Relationship Id="rId19" Type="http://schemas.openxmlformats.org/officeDocument/2006/relationships/image" Target="../media/image-3-19.png"/><Relationship Id="rId20" Type="http://schemas.openxmlformats.org/officeDocument/2006/relationships/image" Target="../media/image-3-20.svg"/><Relationship Id="rId21" Type="http://schemas.openxmlformats.org/officeDocument/2006/relationships/image" Target="../media/image-3-21.png"/><Relationship Id="rId22" Type="http://schemas.openxmlformats.org/officeDocument/2006/relationships/image" Target="../media/image-3-22.svg"/><Relationship Id="rId23" Type="http://schemas.openxmlformats.org/officeDocument/2006/relationships/image" Target="../media/image-3-23.png"/><Relationship Id="rId24" Type="http://schemas.openxmlformats.org/officeDocument/2006/relationships/image" Target="../media/image-3-24.svg"/><Relationship Id="rId25" Type="http://schemas.openxmlformats.org/officeDocument/2006/relationships/slideLayout" Target="../slideLayouts/slideLayout1.xml"/><Relationship Id="rId2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05072" y="731520"/>
            <a:ext cx="594360" cy="594360"/>
          </a:xfrm>
          <a:prstGeom prst="rect">
            <a:avLst/>
          </a:prstGeom>
        </p:spPr>
      </p:pic>
      <p:sp>
        <p:nvSpPr>
          <p:cNvPr id="3" name="Text 0"/>
          <p:cNvSpPr/>
          <p:nvPr/>
        </p:nvSpPr>
        <p:spPr>
          <a:xfrm>
            <a:off x="457200" y="1508760"/>
            <a:ext cx="8229600" cy="594360"/>
          </a:xfrm>
          <a:prstGeom prst="rect">
            <a:avLst/>
          </a:prstGeom>
          <a:noFill/>
          <a:ln/>
        </p:spPr>
        <p:txBody>
          <a:bodyPr wrap="square" rtlCol="0" anchor="ctr"/>
          <a:lstStyle/>
          <a:p>
            <a:pPr algn="ctr" indent="0" marL="0">
              <a:buNone/>
            </a:pPr>
            <a:r>
              <a:rPr lang="en-US" sz="4200" b="1" dirty="0">
                <a:solidFill>
                  <a:srgbClr val="FFFFFF"/>
                </a:solidFill>
                <a:latin typeface="DM Sans" pitchFamily="34" charset="0"/>
                <a:ea typeface="DM Sans" pitchFamily="34" charset="-122"/>
                <a:cs typeface="DM Sans" pitchFamily="34" charset="-120"/>
              </a:rPr>
              <a:t>OurNigeria</a:t>
            </a:r>
            <a:endParaRPr lang="en-US" sz="4200" dirty="0"/>
          </a:p>
        </p:txBody>
      </p:sp>
      <p:sp>
        <p:nvSpPr>
          <p:cNvPr id="4" name="Text 1"/>
          <p:cNvSpPr/>
          <p:nvPr/>
        </p:nvSpPr>
        <p:spPr>
          <a:xfrm>
            <a:off x="1371600" y="2194560"/>
            <a:ext cx="6400800" cy="685800"/>
          </a:xfrm>
          <a:prstGeom prst="rect">
            <a:avLst/>
          </a:prstGeom>
          <a:noFill/>
          <a:ln/>
        </p:spPr>
        <p:txBody>
          <a:bodyPr wrap="square" rtlCol="0" anchor="ctr"/>
          <a:lstStyle/>
          <a:p>
            <a:pPr algn="ctr" indent="0" marL="0">
              <a:lnSpc>
                <a:spcPct val="140000"/>
              </a:lnSpc>
              <a:buNone/>
            </a:pPr>
            <a:r>
              <a:rPr lang="en-US" sz="1400" dirty="0">
                <a:solidFill>
                  <a:srgbClr val="FFFFFF">
                    <a:alpha val="90000"/>
                  </a:srgbClr>
                </a:solidFill>
                <a:latin typeface="Inter" pitchFamily="34" charset="0"/>
                <a:ea typeface="Inter" pitchFamily="34" charset="-122"/>
                <a:cs typeface="Inter" pitchFamily="34" charset="-120"/>
              </a:rPr>
              <a:t>AI-powered government data infrastructure for Africa.</a:t>
            </a:r>
            <a:endParaRPr lang="en-US" sz="1400" dirty="0"/>
          </a:p>
          <a:p>
            <a:pPr algn="ctr" indent="0" marL="0">
              <a:lnSpc>
                <a:spcPct val="140000"/>
              </a:lnSpc>
              <a:buNone/>
            </a:pPr>
            <a:r>
              <a:rPr lang="en-US" sz="1400" dirty="0">
                <a:solidFill>
                  <a:srgbClr val="FFFFFF">
                    <a:alpha val="90000"/>
                  </a:srgbClr>
                </a:solidFill>
                <a:latin typeface="Inter" pitchFamily="34" charset="0"/>
                <a:ea typeface="Inter" pitchFamily="34" charset="-122"/>
                <a:cs typeface="Inter" pitchFamily="34" charset="-120"/>
              </a:rPr>
              <a:t>Turning 700+ budget documents into enterprise intelligence.</a:t>
            </a:r>
            <a:endParaRPr lang="en-US" sz="1400" dirty="0"/>
          </a:p>
        </p:txBody>
      </p:sp>
      <p:sp>
        <p:nvSpPr>
          <p:cNvPr id="5" name="Shape 2"/>
          <p:cNvSpPr/>
          <p:nvPr/>
        </p:nvSpPr>
        <p:spPr>
          <a:xfrm>
            <a:off x="4023360" y="3063240"/>
            <a:ext cx="1097280" cy="0"/>
          </a:xfrm>
          <a:prstGeom prst="line">
            <a:avLst/>
          </a:prstGeom>
          <a:noFill/>
          <a:ln w="19050">
            <a:solidFill>
              <a:srgbClr val="FFFFFF">
                <a:alpha val="40000"/>
              </a:srgbClr>
            </a:solidFill>
            <a:prstDash val="solid"/>
          </a:ln>
        </p:spPr>
      </p:sp>
      <p:sp>
        <p:nvSpPr>
          <p:cNvPr id="6" name="Text 3"/>
          <p:cNvSpPr/>
          <p:nvPr/>
        </p:nvSpPr>
        <p:spPr>
          <a:xfrm>
            <a:off x="1828800" y="3246120"/>
            <a:ext cx="5486400" cy="274320"/>
          </a:xfrm>
          <a:prstGeom prst="rect">
            <a:avLst/>
          </a:prstGeom>
          <a:noFill/>
          <a:ln/>
        </p:spPr>
        <p:txBody>
          <a:bodyPr wrap="square" rtlCol="0" anchor="ctr"/>
          <a:lstStyle/>
          <a:p>
            <a:pPr algn="ctr" indent="0" marL="0">
              <a:buNone/>
            </a:pPr>
            <a:r>
              <a:rPr lang="en-US" sz="1100" b="1" dirty="0">
                <a:solidFill>
                  <a:srgbClr val="FFFFFF">
                    <a:alpha val="85000"/>
                  </a:srgbClr>
                </a:solidFill>
                <a:latin typeface="Inter" pitchFamily="34" charset="0"/>
                <a:ea typeface="Inter" pitchFamily="34" charset="-122"/>
                <a:cs typeface="Inter" pitchFamily="34" charset="-120"/>
              </a:rPr>
              <a:t>PRE-SEED INVESTMENT DECK</a:t>
            </a:r>
            <a:endParaRPr lang="en-US" sz="1100" dirty="0"/>
          </a:p>
        </p:txBody>
      </p:sp>
      <p:sp>
        <p:nvSpPr>
          <p:cNvPr id="7" name="Text 4"/>
          <p:cNvSpPr/>
          <p:nvPr/>
        </p:nvSpPr>
        <p:spPr>
          <a:xfrm>
            <a:off x="1828800" y="3566160"/>
            <a:ext cx="5486400" cy="228600"/>
          </a:xfrm>
          <a:prstGeom prst="rect">
            <a:avLst/>
          </a:prstGeom>
          <a:noFill/>
          <a:ln/>
        </p:spPr>
        <p:txBody>
          <a:bodyPr wrap="square" rtlCol="0" anchor="ctr"/>
          <a:lstStyle/>
          <a:p>
            <a:pPr algn="ctr" indent="0" marL="0">
              <a:buNone/>
            </a:pPr>
            <a:r>
              <a:rPr lang="en-US" sz="950" dirty="0">
                <a:solidFill>
                  <a:srgbClr val="FFFFFF">
                    <a:alpha val="65000"/>
                  </a:srgbClr>
                </a:solidFill>
                <a:latin typeface="Inter" pitchFamily="34" charset="0"/>
                <a:ea typeface="Inter" pitchFamily="34" charset="-122"/>
                <a:cs typeface="Inter" pitchFamily="34" charset="-120"/>
              </a:rPr>
              <a:t>March 2026  |  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THE PROBLEM</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Nigeria's fiscal data is buried and broken</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Government spending data across 36 states exists only in scattered PDFs, scanned documents, and opaque portals. No one can access, query, or analyze it at scale.</a:t>
            </a:r>
            <a:endParaRPr lang="en-US" sz="1200" dirty="0"/>
          </a:p>
        </p:txBody>
      </p:sp>
      <p:sp>
        <p:nvSpPr>
          <p:cNvPr id="5" name="Shape 3"/>
          <p:cNvSpPr/>
          <p:nvPr/>
        </p:nvSpPr>
        <p:spPr>
          <a:xfrm>
            <a:off x="457200" y="1691640"/>
            <a:ext cx="3931920" cy="1280160"/>
          </a:xfrm>
          <a:prstGeom prst="rect">
            <a:avLst>
              <a:gd name="adj" fmla="val 8571"/>
            </a:avLst>
          </a:prstGeom>
          <a:solidFill>
            <a:srgbClr val="FEF2F2"/>
          </a:solidFill>
          <a:ln w="9525">
            <a:solidFill>
              <a:srgbClr val="FECAC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4360" y="1828800"/>
            <a:ext cx="365760" cy="365760"/>
          </a:xfrm>
          <a:prstGeom prst="rect">
            <a:avLst/>
          </a:prstGeom>
        </p:spPr>
      </p:pic>
      <p:sp>
        <p:nvSpPr>
          <p:cNvPr id="7" name="Text 4"/>
          <p:cNvSpPr/>
          <p:nvPr/>
        </p:nvSpPr>
        <p:spPr>
          <a:xfrm>
            <a:off x="1051560" y="1801368"/>
            <a:ext cx="315468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Inaccessible Data</a:t>
            </a:r>
            <a:endParaRPr lang="en-US" sz="1200" dirty="0"/>
          </a:p>
        </p:txBody>
      </p:sp>
      <p:sp>
        <p:nvSpPr>
          <p:cNvPr id="8" name="Text 5"/>
          <p:cNvSpPr/>
          <p:nvPr/>
        </p:nvSpPr>
        <p:spPr>
          <a:xfrm>
            <a:off x="640080" y="2194560"/>
            <a:ext cx="3566160" cy="68580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700+ budget documents spread across 37 states in PDF/XLSX format. No unified database. No API. No way to search or compare.</a:t>
            </a:r>
            <a:endParaRPr lang="en-US" sz="950" dirty="0"/>
          </a:p>
        </p:txBody>
      </p:sp>
      <p:sp>
        <p:nvSpPr>
          <p:cNvPr id="9" name="Shape 6"/>
          <p:cNvSpPr/>
          <p:nvPr/>
        </p:nvSpPr>
        <p:spPr>
          <a:xfrm>
            <a:off x="4663440" y="1691640"/>
            <a:ext cx="3931920" cy="1280160"/>
          </a:xfrm>
          <a:prstGeom prst="rect">
            <a:avLst>
              <a:gd name="adj" fmla="val 8571"/>
            </a:avLst>
          </a:prstGeom>
          <a:solidFill>
            <a:srgbClr val="FEF2F2"/>
          </a:solidFill>
          <a:ln w="9525">
            <a:solidFill>
              <a:srgbClr val="FECACA"/>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0600" y="1828800"/>
            <a:ext cx="365760" cy="365760"/>
          </a:xfrm>
          <a:prstGeom prst="rect">
            <a:avLst/>
          </a:prstGeom>
        </p:spPr>
      </p:pic>
      <p:sp>
        <p:nvSpPr>
          <p:cNvPr id="11" name="Text 7"/>
          <p:cNvSpPr/>
          <p:nvPr/>
        </p:nvSpPr>
        <p:spPr>
          <a:xfrm>
            <a:off x="5257800" y="1801368"/>
            <a:ext cx="315468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No Credit Intelligence</a:t>
            </a:r>
            <a:endParaRPr lang="en-US" sz="1200" dirty="0"/>
          </a:p>
        </p:txBody>
      </p:sp>
      <p:sp>
        <p:nvSpPr>
          <p:cNvPr id="12" name="Text 8"/>
          <p:cNvSpPr/>
          <p:nvPr/>
        </p:nvSpPr>
        <p:spPr>
          <a:xfrm>
            <a:off x="4846320" y="2194560"/>
            <a:ext cx="3566160" cy="68580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Banks lend billions to state governments without standardized fiscal health data. Credit agencies lack structured financial profiles.</a:t>
            </a:r>
            <a:endParaRPr lang="en-US" sz="950" dirty="0"/>
          </a:p>
        </p:txBody>
      </p:sp>
      <p:sp>
        <p:nvSpPr>
          <p:cNvPr id="13" name="Shape 9"/>
          <p:cNvSpPr/>
          <p:nvPr/>
        </p:nvSpPr>
        <p:spPr>
          <a:xfrm>
            <a:off x="457200" y="3154680"/>
            <a:ext cx="3931920" cy="1280160"/>
          </a:xfrm>
          <a:prstGeom prst="rect">
            <a:avLst>
              <a:gd name="adj" fmla="val 8571"/>
            </a:avLst>
          </a:prstGeom>
          <a:solidFill>
            <a:srgbClr val="FEF2F2"/>
          </a:solidFill>
          <a:ln w="9525">
            <a:solidFill>
              <a:srgbClr val="FECACA"/>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360" y="3291840"/>
            <a:ext cx="365760" cy="365760"/>
          </a:xfrm>
          <a:prstGeom prst="rect">
            <a:avLst/>
          </a:prstGeom>
        </p:spPr>
      </p:pic>
      <p:sp>
        <p:nvSpPr>
          <p:cNvPr id="15" name="Text 10"/>
          <p:cNvSpPr/>
          <p:nvPr/>
        </p:nvSpPr>
        <p:spPr>
          <a:xfrm>
            <a:off x="1051560" y="3264408"/>
            <a:ext cx="315468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Opaque Spending</a:t>
            </a:r>
            <a:endParaRPr lang="en-US" sz="1200" dirty="0"/>
          </a:p>
        </p:txBody>
      </p:sp>
      <p:sp>
        <p:nvSpPr>
          <p:cNvPr id="16" name="Text 11"/>
          <p:cNvSpPr/>
          <p:nvPr/>
        </p:nvSpPr>
        <p:spPr>
          <a:xfrm>
            <a:off x="640080" y="3657600"/>
            <a:ext cx="3566160" cy="68580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891,000+ federal contractor payments with no searchable interface. Citizens, journalists, and researchers can't track where money goes.</a:t>
            </a:r>
            <a:endParaRPr lang="en-US" sz="950" dirty="0"/>
          </a:p>
        </p:txBody>
      </p:sp>
      <p:sp>
        <p:nvSpPr>
          <p:cNvPr id="17" name="Shape 12"/>
          <p:cNvSpPr/>
          <p:nvPr/>
        </p:nvSpPr>
        <p:spPr>
          <a:xfrm>
            <a:off x="4663440" y="3154680"/>
            <a:ext cx="3931920" cy="1280160"/>
          </a:xfrm>
          <a:prstGeom prst="rect">
            <a:avLst>
              <a:gd name="adj" fmla="val 8571"/>
            </a:avLst>
          </a:prstGeom>
          <a:solidFill>
            <a:srgbClr val="FEF2F2"/>
          </a:solidFill>
          <a:ln w="9525">
            <a:solidFill>
              <a:srgbClr val="FECACA"/>
            </a:solidFill>
            <a:prstDash val="solid"/>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00600" y="3291840"/>
            <a:ext cx="365760" cy="365760"/>
          </a:xfrm>
          <a:prstGeom prst="rect">
            <a:avLst/>
          </a:prstGeom>
        </p:spPr>
      </p:pic>
      <p:sp>
        <p:nvSpPr>
          <p:cNvPr id="19" name="Text 13"/>
          <p:cNvSpPr/>
          <p:nvPr/>
        </p:nvSpPr>
        <p:spPr>
          <a:xfrm>
            <a:off x="5257800" y="3264408"/>
            <a:ext cx="315468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Research Bottleneck</a:t>
            </a:r>
            <a:endParaRPr lang="en-US" sz="1200" dirty="0"/>
          </a:p>
        </p:txBody>
      </p:sp>
      <p:sp>
        <p:nvSpPr>
          <p:cNvPr id="20" name="Text 14"/>
          <p:cNvSpPr/>
          <p:nvPr/>
        </p:nvSpPr>
        <p:spPr>
          <a:xfrm>
            <a:off x="4846320" y="3657600"/>
            <a:ext cx="3566160" cy="68580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NGOs, consultants, and media spend weeks manually extracting data from government PDFs. Every fiscal analysis starts from scratch.</a:t>
            </a:r>
            <a:endParaRPr lang="en-US" sz="95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5760" y="4617720"/>
            <a:ext cx="228600" cy="228600"/>
          </a:xfrm>
          <a:prstGeom prst="rect">
            <a:avLst/>
          </a:prstGeom>
        </p:spPr>
      </p:pic>
      <p:sp>
        <p:nvSpPr>
          <p:cNvPr id="22" name="Text 15"/>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23" name="Text 16"/>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THE SOLUTION</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AI that turns government documents into queryable intelligence</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A multi-agent AI pipeline ingests, structures, and serves Nigeria's fiscal data via natural language queries and enterprise APIs.</a:t>
            </a:r>
            <a:endParaRPr lang="en-US" sz="1200" dirty="0"/>
          </a:p>
        </p:txBody>
      </p:sp>
      <p:sp>
        <p:nvSpPr>
          <p:cNvPr id="5" name="Shape 3"/>
          <p:cNvSpPr/>
          <p:nvPr/>
        </p:nvSpPr>
        <p:spPr>
          <a:xfrm>
            <a:off x="457200" y="1691640"/>
            <a:ext cx="2377440" cy="2103120"/>
          </a:xfrm>
          <a:prstGeom prst="rect">
            <a:avLst>
              <a:gd name="adj" fmla="val 5217"/>
            </a:avLst>
          </a:prstGeom>
          <a:solidFill>
            <a:srgbClr val="F8FAFC"/>
          </a:solidFill>
          <a:ln w="9525">
            <a:solidFill>
              <a:srgbClr val="E2E8F0"/>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34440" y="1828800"/>
            <a:ext cx="640080" cy="640080"/>
          </a:xfrm>
          <a:prstGeom prst="rect">
            <a:avLst/>
          </a:prstGeom>
        </p:spPr>
      </p:pic>
      <p:sp>
        <p:nvSpPr>
          <p:cNvPr id="7" name="Text 4"/>
          <p:cNvSpPr/>
          <p:nvPr/>
        </p:nvSpPr>
        <p:spPr>
          <a:xfrm>
            <a:off x="457200" y="2560320"/>
            <a:ext cx="2377440" cy="256032"/>
          </a:xfrm>
          <a:prstGeom prst="rect">
            <a:avLst/>
          </a:prstGeom>
          <a:noFill/>
          <a:ln/>
        </p:spPr>
        <p:txBody>
          <a:bodyPr wrap="square" rtlCol="0" anchor="ctr"/>
          <a:lstStyle/>
          <a:p>
            <a:pPr algn="ctr" indent="0" marL="0">
              <a:buNone/>
            </a:pPr>
            <a:r>
              <a:rPr lang="en-US" sz="1300" b="1" dirty="0">
                <a:solidFill>
                  <a:srgbClr val="0F172A"/>
                </a:solidFill>
                <a:latin typeface="DM Sans" pitchFamily="34" charset="0"/>
                <a:ea typeface="DM Sans" pitchFamily="34" charset="-122"/>
                <a:cs typeface="DM Sans" pitchFamily="34" charset="-120"/>
              </a:rPr>
              <a:t>Ingest</a:t>
            </a:r>
            <a:endParaRPr lang="en-US" sz="1300" dirty="0"/>
          </a:p>
        </p:txBody>
      </p:sp>
      <p:sp>
        <p:nvSpPr>
          <p:cNvPr id="8" name="Text 5"/>
          <p:cNvSpPr/>
          <p:nvPr/>
        </p:nvSpPr>
        <p:spPr>
          <a:xfrm>
            <a:off x="594360" y="2834640"/>
            <a:ext cx="2103120" cy="822960"/>
          </a:xfrm>
          <a:prstGeom prst="rect">
            <a:avLst/>
          </a:prstGeom>
          <a:noFill/>
          <a:ln/>
        </p:spPr>
        <p:txBody>
          <a:bodyPr wrap="square" rtlCol="0" anchor="ctr"/>
          <a:lstStyle/>
          <a:p>
            <a:pPr algn="ctr" indent="0" marL="0">
              <a:lnSpc>
                <a:spcPct val="135000"/>
              </a:lnSpc>
              <a:buNone/>
            </a:pPr>
            <a:r>
              <a:rPr lang="en-US" sz="900" dirty="0">
                <a:solidFill>
                  <a:srgbClr val="64748B"/>
                </a:solidFill>
                <a:latin typeface="Inter" pitchFamily="34" charset="0"/>
                <a:ea typeface="Inter" pitchFamily="34" charset="-122"/>
                <a:cs typeface="Inter" pitchFamily="34" charset="-120"/>
              </a:rPr>
              <a:t>PDF, XLSX, DOCX extractors process 700+ budget docs, corruption records, and payment data across all 37 states.</a:t>
            </a:r>
            <a:endParaRPr lang="en-US" sz="9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80360" y="2331720"/>
            <a:ext cx="502920" cy="320040"/>
          </a:xfrm>
          <a:prstGeom prst="rect">
            <a:avLst/>
          </a:prstGeom>
        </p:spPr>
      </p:pic>
      <p:sp>
        <p:nvSpPr>
          <p:cNvPr id="10" name="Shape 6"/>
          <p:cNvSpPr/>
          <p:nvPr/>
        </p:nvSpPr>
        <p:spPr>
          <a:xfrm>
            <a:off x="3474720" y="1691640"/>
            <a:ext cx="2377440" cy="2103120"/>
          </a:xfrm>
          <a:prstGeom prst="rect">
            <a:avLst>
              <a:gd name="adj" fmla="val 5217"/>
            </a:avLst>
          </a:prstGeom>
          <a:solidFill>
            <a:srgbClr val="F8FAFC"/>
          </a:solidFill>
          <a:ln w="9525">
            <a:solidFill>
              <a:srgbClr val="E2E8F0"/>
            </a:solidFill>
            <a:prstDash val="solid"/>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51960" y="1828800"/>
            <a:ext cx="640080" cy="640080"/>
          </a:xfrm>
          <a:prstGeom prst="rect">
            <a:avLst/>
          </a:prstGeom>
        </p:spPr>
      </p:pic>
      <p:sp>
        <p:nvSpPr>
          <p:cNvPr id="12" name="Text 7"/>
          <p:cNvSpPr/>
          <p:nvPr/>
        </p:nvSpPr>
        <p:spPr>
          <a:xfrm>
            <a:off x="3474720" y="2560320"/>
            <a:ext cx="2377440" cy="256032"/>
          </a:xfrm>
          <a:prstGeom prst="rect">
            <a:avLst/>
          </a:prstGeom>
          <a:noFill/>
          <a:ln/>
        </p:spPr>
        <p:txBody>
          <a:bodyPr wrap="square" rtlCol="0" anchor="ctr"/>
          <a:lstStyle/>
          <a:p>
            <a:pPr algn="ctr" indent="0" marL="0">
              <a:buNone/>
            </a:pPr>
            <a:r>
              <a:rPr lang="en-US" sz="1300" b="1" dirty="0">
                <a:solidFill>
                  <a:srgbClr val="0F172A"/>
                </a:solidFill>
                <a:latin typeface="DM Sans" pitchFamily="34" charset="0"/>
                <a:ea typeface="DM Sans" pitchFamily="34" charset="-122"/>
                <a:cs typeface="DM Sans" pitchFamily="34" charset="-120"/>
              </a:rPr>
              <a:t>Analyze</a:t>
            </a:r>
            <a:endParaRPr lang="en-US" sz="1300" dirty="0"/>
          </a:p>
        </p:txBody>
      </p:sp>
      <p:sp>
        <p:nvSpPr>
          <p:cNvPr id="13" name="Text 8"/>
          <p:cNvSpPr/>
          <p:nvPr/>
        </p:nvSpPr>
        <p:spPr>
          <a:xfrm>
            <a:off x="3611880" y="2834640"/>
            <a:ext cx="2103120" cy="822960"/>
          </a:xfrm>
          <a:prstGeom prst="rect">
            <a:avLst/>
          </a:prstGeom>
          <a:noFill/>
          <a:ln/>
        </p:spPr>
        <p:txBody>
          <a:bodyPr wrap="square" rtlCol="0" anchor="ctr"/>
          <a:lstStyle/>
          <a:p>
            <a:pPr algn="ctr" indent="0" marL="0">
              <a:lnSpc>
                <a:spcPct val="135000"/>
              </a:lnSpc>
              <a:buNone/>
            </a:pPr>
            <a:r>
              <a:rPr lang="en-US" sz="900" dirty="0">
                <a:solidFill>
                  <a:srgbClr val="64748B"/>
                </a:solidFill>
                <a:latin typeface="Inter" pitchFamily="34" charset="0"/>
                <a:ea typeface="Inter" pitchFamily="34" charset="-122"/>
                <a:cs typeface="Inter" pitchFamily="34" charset="-120"/>
              </a:rPr>
              <a:t>6 specialist AI agents -- Budget, Corruption, GovSpend, FAAC, Impact -- analyze and cross-reference data in real time.</a:t>
            </a:r>
            <a:endParaRPr lang="en-US" sz="9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97880" y="2331720"/>
            <a:ext cx="502920" cy="320040"/>
          </a:xfrm>
          <a:prstGeom prst="rect">
            <a:avLst/>
          </a:prstGeom>
        </p:spPr>
      </p:pic>
      <p:sp>
        <p:nvSpPr>
          <p:cNvPr id="15" name="Shape 9"/>
          <p:cNvSpPr/>
          <p:nvPr/>
        </p:nvSpPr>
        <p:spPr>
          <a:xfrm>
            <a:off x="6492240" y="1691640"/>
            <a:ext cx="2377440" cy="2103120"/>
          </a:xfrm>
          <a:prstGeom prst="rect">
            <a:avLst>
              <a:gd name="adj" fmla="val 5217"/>
            </a:avLst>
          </a:prstGeom>
          <a:solidFill>
            <a:srgbClr val="F8FAFC"/>
          </a:solidFill>
          <a:ln w="9525">
            <a:solidFill>
              <a:srgbClr val="E2E8F0"/>
            </a:solidFill>
            <a:prstDash val="solid"/>
          </a:ln>
        </p:spPr>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69480" y="1828800"/>
            <a:ext cx="640080" cy="640080"/>
          </a:xfrm>
          <a:prstGeom prst="rect">
            <a:avLst/>
          </a:prstGeom>
        </p:spPr>
      </p:pic>
      <p:sp>
        <p:nvSpPr>
          <p:cNvPr id="17" name="Text 10"/>
          <p:cNvSpPr/>
          <p:nvPr/>
        </p:nvSpPr>
        <p:spPr>
          <a:xfrm>
            <a:off x="6492240" y="2560320"/>
            <a:ext cx="2377440" cy="256032"/>
          </a:xfrm>
          <a:prstGeom prst="rect">
            <a:avLst/>
          </a:prstGeom>
          <a:noFill/>
          <a:ln/>
        </p:spPr>
        <p:txBody>
          <a:bodyPr wrap="square" rtlCol="0" anchor="ctr"/>
          <a:lstStyle/>
          <a:p>
            <a:pPr algn="ctr" indent="0" marL="0">
              <a:buNone/>
            </a:pPr>
            <a:r>
              <a:rPr lang="en-US" sz="1300" b="1" dirty="0">
                <a:solidFill>
                  <a:srgbClr val="0F172A"/>
                </a:solidFill>
                <a:latin typeface="DM Sans" pitchFamily="34" charset="0"/>
                <a:ea typeface="DM Sans" pitchFamily="34" charset="-122"/>
                <a:cs typeface="DM Sans" pitchFamily="34" charset="-120"/>
              </a:rPr>
              <a:t>Serve</a:t>
            </a:r>
            <a:endParaRPr lang="en-US" sz="1300" dirty="0"/>
          </a:p>
        </p:txBody>
      </p:sp>
      <p:sp>
        <p:nvSpPr>
          <p:cNvPr id="18" name="Text 11"/>
          <p:cNvSpPr/>
          <p:nvPr/>
        </p:nvSpPr>
        <p:spPr>
          <a:xfrm>
            <a:off x="6629400" y="2834640"/>
            <a:ext cx="2103120" cy="822960"/>
          </a:xfrm>
          <a:prstGeom prst="rect">
            <a:avLst/>
          </a:prstGeom>
          <a:noFill/>
          <a:ln/>
        </p:spPr>
        <p:txBody>
          <a:bodyPr wrap="square" rtlCol="0" anchor="ctr"/>
          <a:lstStyle/>
          <a:p>
            <a:pPr algn="ctr" indent="0" marL="0">
              <a:lnSpc>
                <a:spcPct val="135000"/>
              </a:lnSpc>
              <a:buNone/>
            </a:pPr>
            <a:r>
              <a:rPr lang="en-US" sz="900" dirty="0">
                <a:solidFill>
                  <a:srgbClr val="64748B"/>
                </a:solidFill>
                <a:latin typeface="Inter" pitchFamily="34" charset="0"/>
                <a:ea typeface="Inter" pitchFamily="34" charset="-122"/>
                <a:cs typeface="Inter" pitchFamily="34" charset="-120"/>
              </a:rPr>
              <a:t>Enterprise API, chat interface, Telegram bot, and embeddable widgets. Ask in English or Pidgin, get cited answers.</a:t>
            </a:r>
            <a:endParaRPr lang="en-US" sz="9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200" y="3995928"/>
            <a:ext cx="182880" cy="182880"/>
          </a:xfrm>
          <a:prstGeom prst="rect">
            <a:avLst/>
          </a:prstGeom>
        </p:spPr>
      </p:pic>
      <p:sp>
        <p:nvSpPr>
          <p:cNvPr id="20" name="Text 12"/>
          <p:cNvSpPr/>
          <p:nvPr/>
        </p:nvSpPr>
        <p:spPr>
          <a:xfrm>
            <a:off x="685800" y="3977640"/>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708K+ vector embeddings</a:t>
            </a:r>
            <a:endParaRPr lang="en-US" sz="900" dirty="0"/>
          </a:p>
        </p:txBody>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337560" y="3995928"/>
            <a:ext cx="182880" cy="182880"/>
          </a:xfrm>
          <a:prstGeom prst="rect">
            <a:avLst/>
          </a:prstGeom>
        </p:spPr>
      </p:pic>
      <p:sp>
        <p:nvSpPr>
          <p:cNvPr id="22" name="Text 13"/>
          <p:cNvSpPr/>
          <p:nvPr/>
        </p:nvSpPr>
        <p:spPr>
          <a:xfrm>
            <a:off x="3566160" y="3977640"/>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22 chart types</a:t>
            </a:r>
            <a:endParaRPr lang="en-US" sz="900" dirty="0"/>
          </a:p>
        </p:txBody>
      </p:sp>
      <p:pic>
        <p:nvPicPr>
          <p:cNvPr id="2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17920" y="3995928"/>
            <a:ext cx="182880" cy="182880"/>
          </a:xfrm>
          <a:prstGeom prst="rect">
            <a:avLst/>
          </a:prstGeom>
        </p:spPr>
      </p:pic>
      <p:sp>
        <p:nvSpPr>
          <p:cNvPr id="24" name="Text 14"/>
          <p:cNvSpPr/>
          <p:nvPr/>
        </p:nvSpPr>
        <p:spPr>
          <a:xfrm>
            <a:off x="6446520" y="3977640"/>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Source citations</a:t>
            </a:r>
            <a:endParaRPr lang="en-US" sz="900" dirty="0"/>
          </a:p>
        </p:txBody>
      </p:sp>
      <p:pic>
        <p:nvPicPr>
          <p:cNvPr id="2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7200" y="4379976"/>
            <a:ext cx="182880" cy="182880"/>
          </a:xfrm>
          <a:prstGeom prst="rect">
            <a:avLst/>
          </a:prstGeom>
        </p:spPr>
      </p:pic>
      <p:sp>
        <p:nvSpPr>
          <p:cNvPr id="26" name="Text 15"/>
          <p:cNvSpPr/>
          <p:nvPr/>
        </p:nvSpPr>
        <p:spPr>
          <a:xfrm>
            <a:off x="685800" y="4361688"/>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English + Pidgin</a:t>
            </a:r>
            <a:endParaRPr lang="en-US" sz="900" dirty="0"/>
          </a:p>
        </p:txBody>
      </p:sp>
      <p:pic>
        <p:nvPicPr>
          <p:cNvPr id="27"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337560" y="4379976"/>
            <a:ext cx="182880" cy="182880"/>
          </a:xfrm>
          <a:prstGeom prst="rect">
            <a:avLst/>
          </a:prstGeom>
        </p:spPr>
      </p:pic>
      <p:sp>
        <p:nvSpPr>
          <p:cNvPr id="28" name="Text 16"/>
          <p:cNvSpPr/>
          <p:nvPr/>
        </p:nvSpPr>
        <p:spPr>
          <a:xfrm>
            <a:off x="3566160" y="4361688"/>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Real-time streaming</a:t>
            </a:r>
            <a:endParaRPr lang="en-US" sz="900" dirty="0"/>
          </a:p>
        </p:txBody>
      </p:sp>
      <p:pic>
        <p:nvPicPr>
          <p:cNvPr id="29"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217920" y="4379976"/>
            <a:ext cx="182880" cy="182880"/>
          </a:xfrm>
          <a:prstGeom prst="rect">
            <a:avLst/>
          </a:prstGeom>
        </p:spPr>
      </p:pic>
      <p:sp>
        <p:nvSpPr>
          <p:cNvPr id="30" name="Text 17"/>
          <p:cNvSpPr/>
          <p:nvPr/>
        </p:nvSpPr>
        <p:spPr>
          <a:xfrm>
            <a:off x="6446520" y="4361688"/>
            <a:ext cx="2468880" cy="219456"/>
          </a:xfrm>
          <a:prstGeom prst="rect">
            <a:avLst/>
          </a:prstGeom>
          <a:noFill/>
          <a:ln/>
        </p:spPr>
        <p:txBody>
          <a:bodyPr wrap="square" rtlCol="0" anchor="ctr"/>
          <a:lstStyle/>
          <a:p>
            <a:pPr indent="0" marL="0">
              <a:buNone/>
            </a:pPr>
            <a:r>
              <a:rPr lang="en-US" sz="900" dirty="0">
                <a:solidFill>
                  <a:srgbClr val="0F172A"/>
                </a:solidFill>
                <a:latin typeface="Inter" pitchFamily="34" charset="0"/>
                <a:ea typeface="Inter" pitchFamily="34" charset="-122"/>
                <a:cs typeface="Inter" pitchFamily="34" charset="-120"/>
              </a:rPr>
              <a:t>Shareable conversations</a:t>
            </a:r>
            <a:endParaRPr lang="en-US" sz="900" dirty="0"/>
          </a:p>
        </p:txBody>
      </p:sp>
      <p:pic>
        <p:nvPicPr>
          <p:cNvPr id="31"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65760" y="4617720"/>
            <a:ext cx="228600" cy="228600"/>
          </a:xfrm>
          <a:prstGeom prst="rect">
            <a:avLst/>
          </a:prstGeom>
        </p:spPr>
      </p:pic>
      <p:sp>
        <p:nvSpPr>
          <p:cNvPr id="32" name="Text 18"/>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33" name="Text 19"/>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MARKET OPPORTUNITY</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Government data is a zero-dollar market becoming a billion-dollar one</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No structured, queryable source for Nigerian government fiscal data exists. We're building the infrastructure layer.</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691640"/>
            <a:ext cx="274320" cy="274320"/>
          </a:xfrm>
          <a:prstGeom prst="rect">
            <a:avLst/>
          </a:prstGeom>
        </p:spPr>
      </p:pic>
      <p:sp>
        <p:nvSpPr>
          <p:cNvPr id="6" name="Text 3"/>
          <p:cNvSpPr/>
          <p:nvPr/>
        </p:nvSpPr>
        <p:spPr>
          <a:xfrm>
            <a:off x="804672" y="1691640"/>
            <a:ext cx="27432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Who Needs This Data</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3931920" cy="914400"/>
        </p:xfrm>
        <a:graphic>
          <a:graphicData uri="http://schemas.openxmlformats.org/drawingml/2006/table">
            <a:tbl>
              <a:tblPr/>
              <a:tblGrid>
                <a:gridCol w="2926080"/>
                <a:gridCol w="1005840"/>
              </a:tblGrid>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Credit rating agencies (CRC, FirstCentral)</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High value</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Banks lending to governments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High value</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Media houses (TechCabal, Premium Times)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Quick wins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Research &amp; consulting firms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Recurring</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NGOs &amp; development partners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Grant-funded</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Insurance companies &amp; MFBs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059669"/>
                          </a:solidFill>
                          <a:latin typeface="Inter" pitchFamily="34" charset="0"/>
                          <a:ea typeface="Inter" pitchFamily="34" charset="-122"/>
                          <a:cs typeface="Inter" pitchFamily="34" charset="-120"/>
                        </a:rPr>
                        <a:t>Growing</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54880" y="1691640"/>
            <a:ext cx="274320" cy="274320"/>
          </a:xfrm>
          <a:prstGeom prst="rect">
            <a:avLst/>
          </a:prstGeom>
        </p:spPr>
      </p:pic>
      <p:sp>
        <p:nvSpPr>
          <p:cNvPr id="9" name="Text 4"/>
          <p:cNvSpPr/>
          <p:nvPr/>
        </p:nvSpPr>
        <p:spPr>
          <a:xfrm>
            <a:off x="5102352" y="1691640"/>
            <a:ext cx="27432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Africa Macro Tailwinds</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754880" y="2057400"/>
          <a:ext cx="3931920" cy="914400"/>
        </p:xfrm>
        <a:graphic>
          <a:graphicData uri="http://schemas.openxmlformats.org/drawingml/2006/table">
            <a:tbl>
              <a:tblPr/>
              <a:tblGrid>
                <a:gridCol w="2926080"/>
                <a:gridCol w="1005840"/>
              </a:tblGrid>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Population under 35</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75%</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Internet users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500M+</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Mobile penetration</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93%</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GDP growth (projected)</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3-6%/yr</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Nigeria's annual budget</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$30B+</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950" dirty="0">
                          <a:solidFill>
                            <a:srgbClr val="0F172A"/>
                          </a:solidFill>
                          <a:latin typeface="Inter" pitchFamily="34" charset="0"/>
                          <a:ea typeface="Inter" pitchFamily="34" charset="-122"/>
                          <a:cs typeface="Inter" pitchFamily="34" charset="-120"/>
                        </a:rPr>
                        <a:t>States with budget data online</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50" b="1" dirty="0">
                          <a:solidFill>
                            <a:srgbClr val="059669"/>
                          </a:solidFill>
                          <a:latin typeface="Inter" pitchFamily="34" charset="0"/>
                          <a:ea typeface="Inter" pitchFamily="34" charset="-122"/>
                          <a:cs typeface="Inter" pitchFamily="34" charset="-120"/>
                        </a:rPr>
                        <a:t>&lt;5</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Shape 5"/>
          <p:cNvSpPr/>
          <p:nvPr/>
        </p:nvSpPr>
        <p:spPr>
          <a:xfrm>
            <a:off x="4754880" y="3977640"/>
            <a:ext cx="3931920" cy="777240"/>
          </a:xfrm>
          <a:prstGeom prst="rect">
            <a:avLst>
              <a:gd name="adj" fmla="val 11765"/>
            </a:avLst>
          </a:prstGeom>
          <a:solidFill>
            <a:srgbClr val="ECFDF5"/>
          </a:solidFill>
          <a:ln w="12700">
            <a:solidFill>
              <a:srgbClr val="D1FAE5"/>
            </a:solidFill>
            <a:prstDash val="solid"/>
          </a:ln>
        </p:spPr>
      </p:sp>
      <p:sp>
        <p:nvSpPr>
          <p:cNvPr id="12" name="Text 6"/>
          <p:cNvSpPr/>
          <p:nvPr/>
        </p:nvSpPr>
        <p:spPr>
          <a:xfrm>
            <a:off x="4937760" y="4023360"/>
            <a:ext cx="3566160" cy="685800"/>
          </a:xfrm>
          <a:prstGeom prst="rect">
            <a:avLst/>
          </a:prstGeom>
          <a:noFill/>
          <a:ln/>
        </p:spPr>
        <p:txBody>
          <a:bodyPr wrap="square" rtlCol="0" anchor="ctr"/>
          <a:lstStyle/>
          <a:p>
            <a:pPr indent="0" marL="0">
              <a:lnSpc>
                <a:spcPct val="135000"/>
              </a:lnSpc>
              <a:buNone/>
            </a:pPr>
            <a:r>
              <a:rPr lang="en-US" sz="900" b="1" dirty="0">
                <a:solidFill>
                  <a:srgbClr val="059669"/>
                </a:solidFill>
                <a:latin typeface="Inter" pitchFamily="34" charset="0"/>
                <a:ea typeface="Inter" pitchFamily="34" charset="-122"/>
                <a:cs typeface="Inter" pitchFamily="34" charset="-120"/>
              </a:rPr>
              <a:t>First mover advantage: </a:t>
            </a:r>
            <a:pPr indent="0" marL="0">
              <a:lnSpc>
                <a:spcPct val="135000"/>
              </a:lnSpc>
              <a:buNone/>
            </a:pPr>
            <a:r>
              <a:rPr lang="en-US" sz="900" dirty="0">
                <a:solidFill>
                  <a:srgbClr val="047857"/>
                </a:solidFill>
                <a:latin typeface="Inter" pitchFamily="34" charset="0"/>
                <a:ea typeface="Inter" pitchFamily="34" charset="-122"/>
                <a:cs typeface="Inter" pitchFamily="34" charset="-120"/>
              </a:rPr>
              <a:t>No competitor has structured fiscal data across all 37 Nigerian states. The data moat compounds — every document ingested makes the platform harder to replicate.</a:t>
            </a:r>
            <a:endParaRPr lang="en-US" sz="9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760" y="4617720"/>
            <a:ext cx="228600" cy="228600"/>
          </a:xfrm>
          <a:prstGeom prst="rect">
            <a:avLst/>
          </a:prstGeom>
        </p:spPr>
      </p:pic>
      <p:sp>
        <p:nvSpPr>
          <p:cNvPr id="14" name="Text 7"/>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15" name="Text 8"/>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BUSINESS MODEL</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Dual-entity: for-profit data company + non-profit civic platform</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Citizens never pay. Revenue comes from organizations that extract professional value from government data.</a:t>
            </a:r>
            <a:endParaRPr lang="en-US" sz="1200" dirty="0"/>
          </a:p>
        </p:txBody>
      </p:sp>
      <p:sp>
        <p:nvSpPr>
          <p:cNvPr id="5" name="Shape 3"/>
          <p:cNvSpPr/>
          <p:nvPr/>
        </p:nvSpPr>
        <p:spPr>
          <a:xfrm>
            <a:off x="457200" y="1691640"/>
            <a:ext cx="3931920" cy="2377440"/>
          </a:xfrm>
          <a:prstGeom prst="rect">
            <a:avLst>
              <a:gd name="adj" fmla="val 4615"/>
            </a:avLst>
          </a:prstGeom>
          <a:solidFill>
            <a:srgbClr val="ECFDF5"/>
          </a:solidFill>
          <a:ln w="19050">
            <a:solidFill>
              <a:srgbClr val="059669"/>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080" y="1783080"/>
            <a:ext cx="320040" cy="320040"/>
          </a:xfrm>
          <a:prstGeom prst="rect">
            <a:avLst/>
          </a:prstGeom>
        </p:spPr>
      </p:pic>
      <p:sp>
        <p:nvSpPr>
          <p:cNvPr id="7" name="Text 4"/>
          <p:cNvSpPr/>
          <p:nvPr/>
        </p:nvSpPr>
        <p:spPr>
          <a:xfrm>
            <a:off x="1005840" y="1783080"/>
            <a:ext cx="3200400" cy="274320"/>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OurNigeria Research</a:t>
            </a:r>
            <a:endParaRPr lang="en-US" sz="1400" dirty="0"/>
          </a:p>
        </p:txBody>
      </p:sp>
      <p:sp>
        <p:nvSpPr>
          <p:cNvPr id="8" name="Text 5"/>
          <p:cNvSpPr/>
          <p:nvPr/>
        </p:nvSpPr>
        <p:spPr>
          <a:xfrm>
            <a:off x="1005840" y="2057400"/>
            <a:ext cx="3200400" cy="182880"/>
          </a:xfrm>
          <a:prstGeom prst="rect">
            <a:avLst/>
          </a:prstGeom>
          <a:noFill/>
          <a:ln/>
        </p:spPr>
        <p:txBody>
          <a:bodyPr wrap="square" rtlCol="0" anchor="ctr"/>
          <a:lstStyle/>
          <a:p>
            <a:pPr indent="0" marL="0">
              <a:buNone/>
            </a:pPr>
            <a:r>
              <a:rPr lang="en-US" sz="800" b="1" dirty="0">
                <a:solidFill>
                  <a:srgbClr val="059669"/>
                </a:solidFill>
                <a:latin typeface="Inter" pitchFamily="34" charset="0"/>
                <a:ea typeface="Inter" pitchFamily="34" charset="-122"/>
                <a:cs typeface="Inter" pitchFamily="34" charset="-120"/>
              </a:rPr>
              <a:t>FOR-PROFIT  |  REVENUE ENGINE</a:t>
            </a:r>
            <a:endParaRPr lang="en-US" sz="800" dirty="0"/>
          </a:p>
        </p:txBody>
      </p:sp>
      <p:sp>
        <p:nvSpPr>
          <p:cNvPr id="9" name="Text 6"/>
          <p:cNvSpPr/>
          <p:nvPr/>
        </p:nvSpPr>
        <p:spPr>
          <a:xfrm>
            <a:off x="685800" y="2331720"/>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Data API subscriptions ($50–$500/mo)</a:t>
            </a:r>
            <a:endParaRPr lang="en-US" sz="950" dirty="0"/>
          </a:p>
        </p:txBody>
      </p:sp>
      <p:sp>
        <p:nvSpPr>
          <p:cNvPr id="10" name="Text 7"/>
          <p:cNvSpPr/>
          <p:nvPr/>
        </p:nvSpPr>
        <p:spPr>
          <a:xfrm>
            <a:off x="685800" y="2587752"/>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Bulk data licensing for credit agencies &amp; banks</a:t>
            </a:r>
            <a:endParaRPr lang="en-US" sz="950" dirty="0"/>
          </a:p>
        </p:txBody>
      </p:sp>
      <p:sp>
        <p:nvSpPr>
          <p:cNvPr id="11" name="Text 8"/>
          <p:cNvSpPr/>
          <p:nvPr/>
        </p:nvSpPr>
        <p:spPr>
          <a:xfrm>
            <a:off x="685800" y="2843784"/>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Commissioned research reports</a:t>
            </a:r>
            <a:endParaRPr lang="en-US" sz="950" dirty="0"/>
          </a:p>
        </p:txBody>
      </p:sp>
      <p:sp>
        <p:nvSpPr>
          <p:cNvPr id="12" name="Text 9"/>
          <p:cNvSpPr/>
          <p:nvPr/>
        </p:nvSpPr>
        <p:spPr>
          <a:xfrm>
            <a:off x="685800" y="3099816"/>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Government creditworthiness profiles</a:t>
            </a:r>
            <a:endParaRPr lang="en-US" sz="950" dirty="0"/>
          </a:p>
        </p:txBody>
      </p:sp>
      <p:sp>
        <p:nvSpPr>
          <p:cNvPr id="13" name="Text 10"/>
          <p:cNvSpPr/>
          <p:nvPr/>
        </p:nvSpPr>
        <p:spPr>
          <a:xfrm>
            <a:off x="685800" y="3355848"/>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Media partnerships with revenue share</a:t>
            </a:r>
            <a:endParaRPr lang="en-US" sz="950" dirty="0"/>
          </a:p>
        </p:txBody>
      </p:sp>
      <p:sp>
        <p:nvSpPr>
          <p:cNvPr id="14" name="Text 11"/>
          <p:cNvSpPr/>
          <p:nvPr/>
        </p:nvSpPr>
        <p:spPr>
          <a:xfrm>
            <a:off x="685800" y="3611880"/>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Embeddable widgets &amp; fact-checking API</a:t>
            </a:r>
            <a:endParaRPr lang="en-US" sz="950" dirty="0"/>
          </a:p>
        </p:txBody>
      </p:sp>
      <p:sp>
        <p:nvSpPr>
          <p:cNvPr id="15" name="Shape 12"/>
          <p:cNvSpPr/>
          <p:nvPr/>
        </p:nvSpPr>
        <p:spPr>
          <a:xfrm>
            <a:off x="4754880" y="1691640"/>
            <a:ext cx="3931920" cy="2377440"/>
          </a:xfrm>
          <a:prstGeom prst="rect">
            <a:avLst>
              <a:gd name="adj" fmla="val 4615"/>
            </a:avLst>
          </a:prstGeom>
          <a:solidFill>
            <a:srgbClr val="FFFBEB"/>
          </a:solidFill>
          <a:ln w="19050">
            <a:solidFill>
              <a:srgbClr val="D97706"/>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37760" y="1783080"/>
            <a:ext cx="320040" cy="320040"/>
          </a:xfrm>
          <a:prstGeom prst="rect">
            <a:avLst/>
          </a:prstGeom>
        </p:spPr>
      </p:pic>
      <p:sp>
        <p:nvSpPr>
          <p:cNvPr id="17" name="Text 13"/>
          <p:cNvSpPr/>
          <p:nvPr/>
        </p:nvSpPr>
        <p:spPr>
          <a:xfrm>
            <a:off x="5303520" y="1783080"/>
            <a:ext cx="3200400" cy="274320"/>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OurNigeria Foundation</a:t>
            </a:r>
            <a:endParaRPr lang="en-US" sz="1400" dirty="0"/>
          </a:p>
        </p:txBody>
      </p:sp>
      <p:sp>
        <p:nvSpPr>
          <p:cNvPr id="18" name="Text 14"/>
          <p:cNvSpPr/>
          <p:nvPr/>
        </p:nvSpPr>
        <p:spPr>
          <a:xfrm>
            <a:off x="5303520" y="2057400"/>
            <a:ext cx="3200400" cy="182880"/>
          </a:xfrm>
          <a:prstGeom prst="rect">
            <a:avLst/>
          </a:prstGeom>
          <a:noFill/>
          <a:ln/>
        </p:spPr>
        <p:txBody>
          <a:bodyPr wrap="square" rtlCol="0" anchor="ctr"/>
          <a:lstStyle/>
          <a:p>
            <a:pPr indent="0" marL="0">
              <a:buNone/>
            </a:pPr>
            <a:r>
              <a:rPr lang="en-US" sz="800" b="1" dirty="0">
                <a:solidFill>
                  <a:srgbClr val="D97706"/>
                </a:solidFill>
                <a:latin typeface="Inter" pitchFamily="34" charset="0"/>
                <a:ea typeface="Inter" pitchFamily="34" charset="-122"/>
                <a:cs typeface="Inter" pitchFamily="34" charset="-120"/>
              </a:rPr>
              <a:t>NON-PROFIT  |  CIVIC MISSION</a:t>
            </a:r>
            <a:endParaRPr lang="en-US" sz="800" dirty="0"/>
          </a:p>
        </p:txBody>
      </p:sp>
      <p:sp>
        <p:nvSpPr>
          <p:cNvPr id="19" name="Text 15"/>
          <p:cNvSpPr/>
          <p:nvPr/>
        </p:nvSpPr>
        <p:spPr>
          <a:xfrm>
            <a:off x="4983480" y="2331720"/>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Free citizen-facing chat platform</a:t>
            </a:r>
            <a:endParaRPr lang="en-US" sz="950" dirty="0"/>
          </a:p>
        </p:txBody>
      </p:sp>
      <p:sp>
        <p:nvSpPr>
          <p:cNvPr id="20" name="Text 16"/>
          <p:cNvSpPr/>
          <p:nvPr/>
        </p:nvSpPr>
        <p:spPr>
          <a:xfrm>
            <a:off x="4983480" y="2587752"/>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Budget transparency tools for all</a:t>
            </a:r>
            <a:endParaRPr lang="en-US" sz="950" dirty="0"/>
          </a:p>
        </p:txBody>
      </p:sp>
      <p:sp>
        <p:nvSpPr>
          <p:cNvPr id="21" name="Text 17"/>
          <p:cNvSpPr/>
          <p:nvPr/>
        </p:nvSpPr>
        <p:spPr>
          <a:xfrm>
            <a:off x="4983480" y="2843784"/>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Civic education content &amp; campaigns</a:t>
            </a:r>
            <a:endParaRPr lang="en-US" sz="950" dirty="0"/>
          </a:p>
        </p:txBody>
      </p:sp>
      <p:sp>
        <p:nvSpPr>
          <p:cNvPr id="22" name="Text 18"/>
          <p:cNvSpPr/>
          <p:nvPr/>
        </p:nvSpPr>
        <p:spPr>
          <a:xfrm>
            <a:off x="4983480" y="3099816"/>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University research access programs</a:t>
            </a:r>
            <a:endParaRPr lang="en-US" sz="950" dirty="0"/>
          </a:p>
        </p:txBody>
      </p:sp>
      <p:sp>
        <p:nvSpPr>
          <p:cNvPr id="23" name="Text 19"/>
          <p:cNvSpPr/>
          <p:nvPr/>
        </p:nvSpPr>
        <p:spPr>
          <a:xfrm>
            <a:off x="4983480" y="3355848"/>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Funded by grants + for-profit cross-subsidy</a:t>
            </a:r>
            <a:endParaRPr lang="en-US" sz="950" dirty="0"/>
          </a:p>
        </p:txBody>
      </p:sp>
      <p:sp>
        <p:nvSpPr>
          <p:cNvPr id="24" name="Text 20"/>
          <p:cNvSpPr/>
          <p:nvPr/>
        </p:nvSpPr>
        <p:spPr>
          <a:xfrm>
            <a:off x="4983480" y="3611880"/>
            <a:ext cx="3474720" cy="237744"/>
          </a:xfrm>
          <a:prstGeom prst="rect">
            <a:avLst/>
          </a:prstGeom>
          <a:noFill/>
          <a:ln/>
        </p:spPr>
        <p:txBody>
          <a:bodyPr wrap="square" rtlCol="0" anchor="ctr"/>
          <a:lstStyle/>
          <a:p>
            <a:pPr indent="0" marL="0">
              <a:buNone/>
            </a:pPr>
            <a:r>
              <a:rPr lang="en-US" sz="950" dirty="0">
                <a:solidFill>
                  <a:srgbClr val="0F172A"/>
                </a:solidFill>
                <a:latin typeface="Inter" pitchFamily="34" charset="0"/>
                <a:ea typeface="Inter" pitchFamily="34" charset="-122"/>
                <a:cs typeface="Inter" pitchFamily="34" charset="-120"/>
              </a:rPr>
              <a:t>→  Editorial neutrality on all public content</a:t>
            </a:r>
            <a:endParaRPr lang="en-US" sz="950" dirty="0"/>
          </a:p>
        </p:txBody>
      </p:sp>
      <p:sp>
        <p:nvSpPr>
          <p:cNvPr id="25" name="Shape 21"/>
          <p:cNvSpPr/>
          <p:nvPr/>
        </p:nvSpPr>
        <p:spPr>
          <a:xfrm>
            <a:off x="457200" y="4206240"/>
            <a:ext cx="8229600" cy="548640"/>
          </a:xfrm>
          <a:prstGeom prst="rect">
            <a:avLst>
              <a:gd name="adj" fmla="val 13333"/>
            </a:avLst>
          </a:prstGeom>
          <a:solidFill>
            <a:srgbClr val="F8FAFC"/>
          </a:solidFill>
          <a:ln w="9525">
            <a:solidFill>
              <a:srgbClr val="E2E8F0"/>
            </a:solidFill>
            <a:prstDash val="dash"/>
          </a:ln>
        </p:spPr>
      </p:sp>
      <p:sp>
        <p:nvSpPr>
          <p:cNvPr id="26" name="Text 22"/>
          <p:cNvSpPr/>
          <p:nvPr/>
        </p:nvSpPr>
        <p:spPr>
          <a:xfrm>
            <a:off x="640080" y="4224528"/>
            <a:ext cx="7863840" cy="502920"/>
          </a:xfrm>
          <a:prstGeom prst="rect">
            <a:avLst/>
          </a:prstGeom>
          <a:noFill/>
          <a:ln/>
        </p:spPr>
        <p:txBody>
          <a:bodyPr wrap="square" rtlCol="0" anchor="ctr"/>
          <a:lstStyle/>
          <a:p>
            <a:pPr algn="ctr" indent="0" marL="0">
              <a:lnSpc>
                <a:spcPct val="140000"/>
              </a:lnSpc>
              <a:buNone/>
            </a:pPr>
            <a:r>
              <a:rPr lang="en-US" sz="900" dirty="0">
                <a:solidFill>
                  <a:srgbClr val="64748B"/>
                </a:solidFill>
                <a:latin typeface="Inter" pitchFamily="34" charset="0"/>
                <a:ea typeface="Inter" pitchFamily="34" charset="-122"/>
                <a:cs typeface="Inter" pitchFamily="34" charset="-120"/>
              </a:rPr>
              <a:t>Same technology stack  |  Same data pipeline  |  Same AI agents</a:t>
            </a:r>
            <a:endParaRPr lang="en-US" sz="900" dirty="0"/>
          </a:p>
          <a:p>
            <a:pPr algn="ctr" indent="0" marL="0">
              <a:lnSpc>
                <a:spcPct val="140000"/>
              </a:lnSpc>
              <a:buNone/>
            </a:pPr>
            <a:r>
              <a:rPr lang="en-US" sz="900" dirty="0">
                <a:solidFill>
                  <a:srgbClr val="64748B"/>
                </a:solidFill>
                <a:latin typeface="Inter" pitchFamily="34" charset="0"/>
                <a:ea typeface="Inter" pitchFamily="34" charset="-122"/>
                <a:cs typeface="Inter" pitchFamily="34" charset="-120"/>
              </a:rPr>
              <a:t>For-profit revenue funds the non-profit mission. The civic platform drives brand &amp; distribution.</a:t>
            </a:r>
            <a:endParaRPr lang="en-US" sz="900" dirty="0"/>
          </a:p>
        </p:txBody>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760" y="4617720"/>
            <a:ext cx="228600" cy="228600"/>
          </a:xfrm>
          <a:prstGeom prst="rect">
            <a:avLst/>
          </a:prstGeom>
        </p:spPr>
      </p:pic>
      <p:sp>
        <p:nvSpPr>
          <p:cNvPr id="28" name="Text 23"/>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29" name="Text 24"/>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TRACTION</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Pre-revenue, but the hard part is done</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The data moat and AI pipeline are built. Investment accelerates go-to-market.</a:t>
            </a:r>
            <a:endParaRPr lang="en-US" sz="1200" dirty="0"/>
          </a:p>
        </p:txBody>
      </p:sp>
      <p:sp>
        <p:nvSpPr>
          <p:cNvPr id="5" name="Shape 3"/>
          <p:cNvSpPr/>
          <p:nvPr/>
        </p:nvSpPr>
        <p:spPr>
          <a:xfrm>
            <a:off x="457200" y="1645920"/>
            <a:ext cx="1920240" cy="868680"/>
          </a:xfrm>
          <a:prstGeom prst="rect">
            <a:avLst>
              <a:gd name="adj" fmla="val 10526"/>
            </a:avLst>
          </a:prstGeom>
          <a:solidFill>
            <a:srgbClr val="F8FAFC"/>
          </a:solidFill>
          <a:ln w="9525">
            <a:solidFill>
              <a:srgbClr val="E2E8F0"/>
            </a:solidFill>
            <a:prstDash val="solid"/>
          </a:ln>
        </p:spPr>
      </p:sp>
      <p:sp>
        <p:nvSpPr>
          <p:cNvPr id="6" name="Text 4"/>
          <p:cNvSpPr/>
          <p:nvPr/>
        </p:nvSpPr>
        <p:spPr>
          <a:xfrm>
            <a:off x="457200" y="1664208"/>
            <a:ext cx="1920240" cy="384048"/>
          </a:xfrm>
          <a:prstGeom prst="rect">
            <a:avLst/>
          </a:prstGeom>
          <a:noFill/>
          <a:ln/>
        </p:spPr>
        <p:txBody>
          <a:bodyPr wrap="square" rtlCol="0" anchor="ctr"/>
          <a:lstStyle/>
          <a:p>
            <a:pPr algn="ctr" indent="0" marL="0">
              <a:buNone/>
            </a:pPr>
            <a:r>
              <a:rPr lang="en-US" sz="2600" b="1" dirty="0">
                <a:solidFill>
                  <a:srgbClr val="059669"/>
                </a:solidFill>
                <a:latin typeface="DM Sans" pitchFamily="34" charset="0"/>
                <a:ea typeface="DM Sans" pitchFamily="34" charset="-122"/>
                <a:cs typeface="DM Sans" pitchFamily="34" charset="-120"/>
              </a:rPr>
              <a:t>37</a:t>
            </a:r>
            <a:endParaRPr lang="en-US" sz="2600" dirty="0"/>
          </a:p>
        </p:txBody>
      </p:sp>
      <p:sp>
        <p:nvSpPr>
          <p:cNvPr id="7" name="Text 5"/>
          <p:cNvSpPr/>
          <p:nvPr/>
        </p:nvSpPr>
        <p:spPr>
          <a:xfrm>
            <a:off x="457200" y="2029968"/>
            <a:ext cx="1920240" cy="411480"/>
          </a:xfrm>
          <a:prstGeom prst="rect">
            <a:avLst/>
          </a:prstGeom>
          <a:noFill/>
          <a:ln/>
        </p:spPr>
        <p:txBody>
          <a:bodyPr wrap="square" rtlCol="0" anchor="ct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States covered</a:t>
            </a:r>
            <a:endParaRPr lang="en-US" sz="850" dirty="0"/>
          </a:p>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(100% of Nigeria)</a:t>
            </a:r>
            <a:endParaRPr lang="en-US" sz="850" dirty="0"/>
          </a:p>
        </p:txBody>
      </p:sp>
      <p:sp>
        <p:nvSpPr>
          <p:cNvPr id="8" name="Shape 6"/>
          <p:cNvSpPr/>
          <p:nvPr/>
        </p:nvSpPr>
        <p:spPr>
          <a:xfrm>
            <a:off x="2633472" y="1645920"/>
            <a:ext cx="1920240" cy="868680"/>
          </a:xfrm>
          <a:prstGeom prst="rect">
            <a:avLst>
              <a:gd name="adj" fmla="val 10526"/>
            </a:avLst>
          </a:prstGeom>
          <a:solidFill>
            <a:srgbClr val="F8FAFC"/>
          </a:solidFill>
          <a:ln w="9525">
            <a:solidFill>
              <a:srgbClr val="E2E8F0"/>
            </a:solidFill>
            <a:prstDash val="solid"/>
          </a:ln>
        </p:spPr>
      </p:sp>
      <p:sp>
        <p:nvSpPr>
          <p:cNvPr id="9" name="Text 7"/>
          <p:cNvSpPr/>
          <p:nvPr/>
        </p:nvSpPr>
        <p:spPr>
          <a:xfrm>
            <a:off x="2633472" y="1664208"/>
            <a:ext cx="1920240" cy="384048"/>
          </a:xfrm>
          <a:prstGeom prst="rect">
            <a:avLst/>
          </a:prstGeom>
          <a:noFill/>
          <a:ln/>
        </p:spPr>
        <p:txBody>
          <a:bodyPr wrap="square" rtlCol="0" anchor="ctr"/>
          <a:lstStyle/>
          <a:p>
            <a:pPr algn="ctr" indent="0" marL="0">
              <a:buNone/>
            </a:pPr>
            <a:r>
              <a:rPr lang="en-US" sz="2600" b="1" dirty="0">
                <a:solidFill>
                  <a:srgbClr val="059669"/>
                </a:solidFill>
                <a:latin typeface="DM Sans" pitchFamily="34" charset="0"/>
                <a:ea typeface="DM Sans" pitchFamily="34" charset="-122"/>
                <a:cs typeface="DM Sans" pitchFamily="34" charset="-120"/>
              </a:rPr>
              <a:t>708K+</a:t>
            </a:r>
            <a:endParaRPr lang="en-US" sz="2600" dirty="0"/>
          </a:p>
        </p:txBody>
      </p:sp>
      <p:sp>
        <p:nvSpPr>
          <p:cNvPr id="10" name="Text 8"/>
          <p:cNvSpPr/>
          <p:nvPr/>
        </p:nvSpPr>
        <p:spPr>
          <a:xfrm>
            <a:off x="2633472" y="2029968"/>
            <a:ext cx="1920240" cy="411480"/>
          </a:xfrm>
          <a:prstGeom prst="rect">
            <a:avLst/>
          </a:prstGeom>
          <a:noFill/>
          <a:ln/>
        </p:spPr>
        <p:txBody>
          <a:bodyPr wrap="square" rtlCol="0" anchor="ct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Vector</a:t>
            </a:r>
            <a:endParaRPr lang="en-US" sz="850" dirty="0"/>
          </a:p>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embeddings</a:t>
            </a:r>
            <a:endParaRPr lang="en-US" sz="850" dirty="0"/>
          </a:p>
        </p:txBody>
      </p:sp>
      <p:sp>
        <p:nvSpPr>
          <p:cNvPr id="11" name="Shape 9"/>
          <p:cNvSpPr/>
          <p:nvPr/>
        </p:nvSpPr>
        <p:spPr>
          <a:xfrm>
            <a:off x="4809744" y="1645920"/>
            <a:ext cx="1920240" cy="868680"/>
          </a:xfrm>
          <a:prstGeom prst="rect">
            <a:avLst>
              <a:gd name="adj" fmla="val 10526"/>
            </a:avLst>
          </a:prstGeom>
          <a:solidFill>
            <a:srgbClr val="F8FAFC"/>
          </a:solidFill>
          <a:ln w="9525">
            <a:solidFill>
              <a:srgbClr val="E2E8F0"/>
            </a:solidFill>
            <a:prstDash val="solid"/>
          </a:ln>
        </p:spPr>
      </p:sp>
      <p:sp>
        <p:nvSpPr>
          <p:cNvPr id="12" name="Text 10"/>
          <p:cNvSpPr/>
          <p:nvPr/>
        </p:nvSpPr>
        <p:spPr>
          <a:xfrm>
            <a:off x="4809744" y="1664208"/>
            <a:ext cx="1920240" cy="384048"/>
          </a:xfrm>
          <a:prstGeom prst="rect">
            <a:avLst/>
          </a:prstGeom>
          <a:noFill/>
          <a:ln/>
        </p:spPr>
        <p:txBody>
          <a:bodyPr wrap="square" rtlCol="0" anchor="ctr"/>
          <a:lstStyle/>
          <a:p>
            <a:pPr algn="ctr" indent="0" marL="0">
              <a:buNone/>
            </a:pPr>
            <a:r>
              <a:rPr lang="en-US" sz="2600" b="1" dirty="0">
                <a:solidFill>
                  <a:srgbClr val="059669"/>
                </a:solidFill>
                <a:latin typeface="DM Sans" pitchFamily="34" charset="0"/>
                <a:ea typeface="DM Sans" pitchFamily="34" charset="-122"/>
                <a:cs typeface="DM Sans" pitchFamily="34" charset="-120"/>
              </a:rPr>
              <a:t>891K+</a:t>
            </a:r>
            <a:endParaRPr lang="en-US" sz="2600" dirty="0"/>
          </a:p>
        </p:txBody>
      </p:sp>
      <p:sp>
        <p:nvSpPr>
          <p:cNvPr id="13" name="Text 11"/>
          <p:cNvSpPr/>
          <p:nvPr/>
        </p:nvSpPr>
        <p:spPr>
          <a:xfrm>
            <a:off x="4809744" y="2029968"/>
            <a:ext cx="1920240" cy="411480"/>
          </a:xfrm>
          <a:prstGeom prst="rect">
            <a:avLst/>
          </a:prstGeom>
          <a:noFill/>
          <a:ln/>
        </p:spPr>
        <p:txBody>
          <a:bodyPr wrap="square" rtlCol="0" anchor="ct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Payment</a:t>
            </a:r>
            <a:endParaRPr lang="en-US" sz="850" dirty="0"/>
          </a:p>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records</a:t>
            </a:r>
            <a:endParaRPr lang="en-US" sz="850" dirty="0"/>
          </a:p>
        </p:txBody>
      </p:sp>
      <p:sp>
        <p:nvSpPr>
          <p:cNvPr id="14" name="Shape 12"/>
          <p:cNvSpPr/>
          <p:nvPr/>
        </p:nvSpPr>
        <p:spPr>
          <a:xfrm>
            <a:off x="6986016" y="1645920"/>
            <a:ext cx="1920240" cy="868680"/>
          </a:xfrm>
          <a:prstGeom prst="rect">
            <a:avLst>
              <a:gd name="adj" fmla="val 10526"/>
            </a:avLst>
          </a:prstGeom>
          <a:solidFill>
            <a:srgbClr val="F8FAFC"/>
          </a:solidFill>
          <a:ln w="9525">
            <a:solidFill>
              <a:srgbClr val="E2E8F0"/>
            </a:solidFill>
            <a:prstDash val="solid"/>
          </a:ln>
        </p:spPr>
      </p:sp>
      <p:sp>
        <p:nvSpPr>
          <p:cNvPr id="15" name="Text 13"/>
          <p:cNvSpPr/>
          <p:nvPr/>
        </p:nvSpPr>
        <p:spPr>
          <a:xfrm>
            <a:off x="6986016" y="1664208"/>
            <a:ext cx="1920240" cy="384048"/>
          </a:xfrm>
          <a:prstGeom prst="rect">
            <a:avLst/>
          </a:prstGeom>
          <a:noFill/>
          <a:ln/>
        </p:spPr>
        <p:txBody>
          <a:bodyPr wrap="square" rtlCol="0" anchor="ctr"/>
          <a:lstStyle/>
          <a:p>
            <a:pPr algn="ctr" indent="0" marL="0">
              <a:buNone/>
            </a:pPr>
            <a:r>
              <a:rPr lang="en-US" sz="2600" b="1" dirty="0">
                <a:solidFill>
                  <a:srgbClr val="059669"/>
                </a:solidFill>
                <a:latin typeface="DM Sans" pitchFamily="34" charset="0"/>
                <a:ea typeface="DM Sans" pitchFamily="34" charset="-122"/>
                <a:cs typeface="DM Sans" pitchFamily="34" charset="-120"/>
              </a:rPr>
              <a:t>700+</a:t>
            </a:r>
            <a:endParaRPr lang="en-US" sz="2600" dirty="0"/>
          </a:p>
        </p:txBody>
      </p:sp>
      <p:sp>
        <p:nvSpPr>
          <p:cNvPr id="16" name="Text 14"/>
          <p:cNvSpPr/>
          <p:nvPr/>
        </p:nvSpPr>
        <p:spPr>
          <a:xfrm>
            <a:off x="6986016" y="2029968"/>
            <a:ext cx="1920240" cy="411480"/>
          </a:xfrm>
          <a:prstGeom prst="rect">
            <a:avLst/>
          </a:prstGeom>
          <a:noFill/>
          <a:ln/>
        </p:spPr>
        <p:txBody>
          <a:bodyPr wrap="square" rtlCol="0" anchor="ct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Documents</a:t>
            </a:r>
            <a:endParaRPr lang="en-US" sz="850" dirty="0"/>
          </a:p>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ingested</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8229600" cy="914400"/>
        </p:xfrm>
        <a:graphic>
          <a:graphicData uri="http://schemas.openxmlformats.org/drawingml/2006/table">
            <a:tbl>
              <a:tblPr/>
              <a:tblGrid>
                <a:gridCol w="1828800"/>
                <a:gridCol w="640080"/>
                <a:gridCol w="5760720"/>
              </a:tblGrid>
              <a:tr h="274320">
                <a:tc>
                  <a:txBody>
                    <a:bodyPr/>
                    <a:lstStyle/>
                    <a:p>
                      <a:pPr indent="0" marL="0">
                        <a:buNone/>
                      </a:pPr>
                      <a:r>
                        <a:rPr lang="en-US" sz="850" b="1" dirty="0">
                          <a:solidFill>
                            <a:srgbClr val="047857"/>
                          </a:solidFill>
                          <a:latin typeface="Inter" pitchFamily="34" charset="0"/>
                          <a:ea typeface="Inter" pitchFamily="34" charset="-122"/>
                          <a:cs typeface="Inter" pitchFamily="34" charset="-120"/>
                        </a:rPr>
                        <a:t>CAPABILITY</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STATUS</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DETAIL</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Multi-agent AI pipeline</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59669"/>
                          </a:solidFill>
                          <a:latin typeface="Inter" pitchFamily="34" charset="0"/>
                          <a:ea typeface="Inter" pitchFamily="34" charset="-122"/>
                          <a:cs typeface="Inter" pitchFamily="34" charset="-120"/>
                        </a:rPr>
                        <a:t>LIVE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6 specialist agents (Budget, Corruption, GovSpend, FAAC, Impact, Router)</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Chat interface (Web)</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59669"/>
                          </a:solidFill>
                          <a:latin typeface="Inter" pitchFamily="34" charset="0"/>
                          <a:ea typeface="Inter" pitchFamily="34" charset="-122"/>
                          <a:cs typeface="Inter" pitchFamily="34" charset="-120"/>
                        </a:rPr>
                        <a:t>LIVE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English + Pidgin, 22 chart types, source citations, shareable links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Telegram bot</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59669"/>
                          </a:solidFill>
                          <a:latin typeface="Inter" pitchFamily="34" charset="0"/>
                          <a:ea typeface="Inter" pitchFamily="34" charset="-122"/>
                          <a:cs typeface="Inter" pitchFamily="34" charset="-120"/>
                        </a:rPr>
                        <a:t>LIVE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Full query capability via Telegram</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Data ingestion pipeline</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59669"/>
                          </a:solidFill>
                          <a:latin typeface="Inter" pitchFamily="34" charset="0"/>
                          <a:ea typeface="Inter" pitchFamily="34" charset="-122"/>
                          <a:cs typeface="Inter" pitchFamily="34" charset="-120"/>
                        </a:rPr>
                        <a:t>LIVE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PDF/XLSX/DOCX extractors, Voyage AI embeddings, pgvector</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Admin dashboard</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59669"/>
                          </a:solidFill>
                          <a:latin typeface="Inter" pitchFamily="34" charset="0"/>
                          <a:ea typeface="Inter" pitchFamily="34" charset="-122"/>
                          <a:cs typeface="Inter" pitchFamily="34" charset="-120"/>
                        </a:rPr>
                        <a:t>LIVE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User management, analytics, system settings, ingestion tracking</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Enterprise API</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D97706"/>
                          </a:solidFill>
                          <a:latin typeface="Inter" pitchFamily="34" charset="0"/>
                          <a:ea typeface="Inter" pitchFamily="34" charset="-122"/>
                          <a:cs typeface="Inter" pitchFamily="34" charset="-120"/>
                        </a:rPr>
                        <a:t>NEXT</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Authenticated API layer for B2B customers — first product to monetize</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950" dirty="0">
                          <a:solidFill>
                            <a:srgbClr val="0F172A"/>
                          </a:solidFill>
                          <a:latin typeface="Inter" pitchFamily="34" charset="0"/>
                          <a:ea typeface="Inter" pitchFamily="34" charset="-122"/>
                          <a:cs typeface="Inter" pitchFamily="34" charset="-120"/>
                        </a:rPr>
                        <a:t>WhatsApp integration</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D97706"/>
                          </a:solidFill>
                          <a:latin typeface="Inter" pitchFamily="34" charset="0"/>
                          <a:ea typeface="Inter" pitchFamily="34" charset="-122"/>
                          <a:cs typeface="Inter" pitchFamily="34" charset="-120"/>
                        </a:rPr>
                        <a:t>NEXT</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Highest-reach channel for Nigerian users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5760" y="4617720"/>
            <a:ext cx="228600" cy="228600"/>
          </a:xfrm>
          <a:prstGeom prst="rect">
            <a:avLst/>
          </a:prstGeom>
        </p:spPr>
      </p:pic>
      <p:sp>
        <p:nvSpPr>
          <p:cNvPr id="19" name="Text 15"/>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20" name="Text 16"/>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TEAM</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Built by a technical founder, guided by market expertise</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Lean team with full-stack capability. Investment funds the first key hires.</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737360"/>
            <a:ext cx="502920" cy="502920"/>
          </a:xfrm>
          <a:prstGeom prst="rect">
            <a:avLst/>
          </a:prstGeom>
        </p:spPr>
      </p:pic>
      <p:sp>
        <p:nvSpPr>
          <p:cNvPr id="6" name="Text 3"/>
          <p:cNvSpPr/>
          <p:nvPr/>
        </p:nvSpPr>
        <p:spPr>
          <a:xfrm>
            <a:off x="1097280" y="1737360"/>
            <a:ext cx="3200400" cy="256032"/>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Arinze Ogbonna</a:t>
            </a:r>
            <a:endParaRPr lang="en-US" sz="1400" dirty="0"/>
          </a:p>
        </p:txBody>
      </p:sp>
      <p:sp>
        <p:nvSpPr>
          <p:cNvPr id="7" name="Text 4"/>
          <p:cNvSpPr/>
          <p:nvPr/>
        </p:nvSpPr>
        <p:spPr>
          <a:xfrm>
            <a:off x="1097280" y="1975104"/>
            <a:ext cx="3200400" cy="182880"/>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FOUNDER &amp; CEO</a:t>
            </a:r>
            <a:endParaRPr lang="en-US" sz="850" dirty="0"/>
          </a:p>
        </p:txBody>
      </p:sp>
      <p:sp>
        <p:nvSpPr>
          <p:cNvPr id="8" name="Text 5"/>
          <p:cNvSpPr/>
          <p:nvPr/>
        </p:nvSpPr>
        <p:spPr>
          <a:xfrm>
            <a:off x="1097280" y="2194560"/>
            <a:ext cx="3474720" cy="64008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Full-stack engineer who built the entire platform solo — multi-agent AI pipeline, ingestion system, frontend, admin dashboard, and Telegram bot. Deep expertise in AI/ML, distributed systems, and Nigerian civic data.</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54880" y="1737360"/>
            <a:ext cx="502920" cy="502920"/>
          </a:xfrm>
          <a:prstGeom prst="rect">
            <a:avLst/>
          </a:prstGeom>
        </p:spPr>
      </p:pic>
      <p:sp>
        <p:nvSpPr>
          <p:cNvPr id="10" name="Text 6"/>
          <p:cNvSpPr/>
          <p:nvPr/>
        </p:nvSpPr>
        <p:spPr>
          <a:xfrm>
            <a:off x="5394960" y="1737360"/>
            <a:ext cx="3200400" cy="256032"/>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Timi</a:t>
            </a:r>
            <a:endParaRPr lang="en-US" sz="1400" dirty="0"/>
          </a:p>
        </p:txBody>
      </p:sp>
      <p:sp>
        <p:nvSpPr>
          <p:cNvPr id="11" name="Text 7"/>
          <p:cNvSpPr/>
          <p:nvPr/>
        </p:nvSpPr>
        <p:spPr>
          <a:xfrm>
            <a:off x="5394960" y="1975104"/>
            <a:ext cx="3200400" cy="182880"/>
          </a:xfrm>
          <a:prstGeom prst="rect">
            <a:avLst/>
          </a:prstGeom>
          <a:noFill/>
          <a:ln/>
        </p:spPr>
        <p:txBody>
          <a:bodyPr wrap="square" rtlCol="0" anchor="ctr"/>
          <a:lstStyle/>
          <a:p>
            <a:pPr indent="0" marL="0">
              <a:buNone/>
            </a:pPr>
            <a:r>
              <a:rPr lang="en-US" sz="850" b="1" dirty="0">
                <a:solidFill>
                  <a:srgbClr val="D97706"/>
                </a:solidFill>
                <a:latin typeface="Inter" pitchFamily="34" charset="0"/>
                <a:ea typeface="Inter" pitchFamily="34" charset="-122"/>
                <a:cs typeface="Inter" pitchFamily="34" charset="-120"/>
              </a:rPr>
              <a:t>ADVISOR  |  STRATEGY &amp; GTM</a:t>
            </a:r>
            <a:endParaRPr lang="en-US" sz="850" dirty="0"/>
          </a:p>
        </p:txBody>
      </p:sp>
      <p:sp>
        <p:nvSpPr>
          <p:cNvPr id="12" name="Text 8"/>
          <p:cNvSpPr/>
          <p:nvPr/>
        </p:nvSpPr>
        <p:spPr>
          <a:xfrm>
            <a:off x="5394960" y="2194560"/>
            <a:ext cx="3291840" cy="640080"/>
          </a:xfrm>
          <a:prstGeom prst="rect">
            <a:avLst/>
          </a:prstGeom>
          <a:noFill/>
          <a:ln/>
        </p:spPr>
        <p:txBody>
          <a:bodyPr wrap="square" rtlCol="0" anchor="ctr"/>
          <a:lstStyle/>
          <a:p>
            <a:pPr indent="0" marL="0">
              <a:lnSpc>
                <a:spcPct val="135000"/>
              </a:lnSpc>
              <a:buNone/>
            </a:pPr>
            <a:r>
              <a:rPr lang="en-US" sz="950" dirty="0">
                <a:solidFill>
                  <a:srgbClr val="64748B"/>
                </a:solidFill>
                <a:latin typeface="Inter" pitchFamily="34" charset="0"/>
                <a:ea typeface="Inter" pitchFamily="34" charset="-122"/>
                <a:cs typeface="Inter" pitchFamily="34" charset="-120"/>
              </a:rPr>
              <a:t>Strategic advisor driving go-to-market, entity structuring, and customer pipeline. Guided the dual-entity model and B2B revenue strategy.</a:t>
            </a:r>
            <a:endParaRPr lang="en-US" sz="950" dirty="0"/>
          </a:p>
        </p:txBody>
      </p:sp>
      <p:sp>
        <p:nvSpPr>
          <p:cNvPr id="13" name="Text 9"/>
          <p:cNvSpPr/>
          <p:nvPr/>
        </p:nvSpPr>
        <p:spPr>
          <a:xfrm>
            <a:off x="457200" y="3017520"/>
            <a:ext cx="36576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Hiring Plan (Post-Investment)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914400"/>
        </p:xfrm>
        <a:graphic>
          <a:graphicData uri="http://schemas.openxmlformats.org/drawingml/2006/table">
            <a:tbl>
              <a:tblPr/>
              <a:tblGrid>
                <a:gridCol w="914400"/>
                <a:gridCol w="2286000"/>
                <a:gridCol w="5029200"/>
              </a:tblGrid>
              <a:tr h="274320">
                <a:tc>
                  <a:txBody>
                    <a:bodyPr/>
                    <a:lstStyle/>
                    <a:p>
                      <a:pPr indent="0" marL="0">
                        <a:buNone/>
                      </a:pPr>
                      <a:r>
                        <a:rPr lang="en-US" sz="850" b="1" dirty="0">
                          <a:solidFill>
                            <a:srgbClr val="047857"/>
                          </a:solidFill>
                          <a:latin typeface="Inter" pitchFamily="34" charset="0"/>
                          <a:ea typeface="Inter" pitchFamily="34" charset="-122"/>
                          <a:cs typeface="Inter" pitchFamily="34" charset="-120"/>
                        </a:rPr>
                        <a:t>PHASE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ROLE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PURPOSE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r>
              <a:tr h="274320">
                <a:tc>
                  <a:txBody>
                    <a:bodyPr/>
                    <a:lstStyle/>
                    <a:p>
                      <a:pPr indent="0" marL="0">
                        <a:buNone/>
                      </a:pPr>
                      <a:r>
                        <a:rPr lang="en-US" sz="850" b="1" dirty="0">
                          <a:solidFill>
                            <a:srgbClr val="059669"/>
                          </a:solidFill>
                          <a:latin typeface="Inter" pitchFamily="34" charset="0"/>
                          <a:ea typeface="Inter" pitchFamily="34" charset="-122"/>
                          <a:cs typeface="Inter" pitchFamily="34" charset="-120"/>
                        </a:rPr>
                        <a:t>Phase 2</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F172A"/>
                          </a:solidFill>
                          <a:latin typeface="Inter" pitchFamily="34" charset="0"/>
                          <a:ea typeface="Inter" pitchFamily="34" charset="-122"/>
                          <a:cs typeface="Inter" pitchFamily="34" charset="-120"/>
                        </a:rPr>
                        <a:t>Backend / Data Engineer</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Build enterprise API, scale data pipeline, optimize RAG</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850" b="1" dirty="0">
                          <a:solidFill>
                            <a:srgbClr val="059669"/>
                          </a:solidFill>
                          <a:latin typeface="Inter" pitchFamily="34" charset="0"/>
                          <a:ea typeface="Inter" pitchFamily="34" charset="-122"/>
                          <a:cs typeface="Inter" pitchFamily="34" charset="-120"/>
                        </a:rPr>
                        <a:t>Phase 2</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F172A"/>
                          </a:solidFill>
                          <a:latin typeface="Inter" pitchFamily="34" charset="0"/>
                          <a:ea typeface="Inter" pitchFamily="34" charset="-122"/>
                          <a:cs typeface="Inter" pitchFamily="34" charset="-120"/>
                        </a:rPr>
                        <a:t>Content Writer / Editor</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Data narratives, social content, civic education materials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850" b="1" dirty="0">
                          <a:solidFill>
                            <a:srgbClr val="D97706"/>
                          </a:solidFill>
                          <a:latin typeface="Inter" pitchFamily="34" charset="0"/>
                          <a:ea typeface="Inter" pitchFamily="34" charset="-122"/>
                          <a:cs typeface="Inter" pitchFamily="34" charset="-120"/>
                        </a:rPr>
                        <a:t>Phase 3</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F172A"/>
                          </a:solidFill>
                          <a:latin typeface="Inter" pitchFamily="34" charset="0"/>
                          <a:ea typeface="Inter" pitchFamily="34" charset="-122"/>
                          <a:cs typeface="Inter" pitchFamily="34" charset="-120"/>
                        </a:rPr>
                        <a:t>Sales / Partnerships</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Close enterprise customers, manage media partnerships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850" b="1" dirty="0">
                          <a:solidFill>
                            <a:srgbClr val="D97706"/>
                          </a:solidFill>
                          <a:latin typeface="Inter" pitchFamily="34" charset="0"/>
                          <a:ea typeface="Inter" pitchFamily="34" charset="-122"/>
                          <a:cs typeface="Inter" pitchFamily="34" charset="-120"/>
                        </a:rPr>
                        <a:t>Phase 3</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F172A"/>
                          </a:solidFill>
                          <a:latin typeface="Inter" pitchFamily="34" charset="0"/>
                          <a:ea typeface="Inter" pitchFamily="34" charset="-122"/>
                          <a:cs typeface="Inter" pitchFamily="34" charset="-120"/>
                        </a:rPr>
                        <a:t>Research Analyst</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Commissioned reports, credit intelligence products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760" y="4617720"/>
            <a:ext cx="228600" cy="228600"/>
          </a:xfrm>
          <a:prstGeom prst="rect">
            <a:avLst/>
          </a:prstGeom>
        </p:spPr>
      </p:pic>
      <p:sp>
        <p:nvSpPr>
          <p:cNvPr id="16" name="Text 10"/>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17" name="Text 11"/>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ROADMAP</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18-month path to revenue and sustainability</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Clear milestones from current state to profitability.</a:t>
            </a:r>
            <a:endParaRPr lang="en-US" sz="1200" dirty="0"/>
          </a:p>
        </p:txBody>
      </p:sp>
      <p:sp>
        <p:nvSpPr>
          <p:cNvPr id="5" name="Shape 3"/>
          <p:cNvSpPr/>
          <p:nvPr/>
        </p:nvSpPr>
        <p:spPr>
          <a:xfrm>
            <a:off x="457200" y="1645920"/>
            <a:ext cx="2651760" cy="45720"/>
          </a:xfrm>
          <a:prstGeom prst="rect">
            <a:avLst/>
          </a:prstGeom>
          <a:solidFill>
            <a:srgbClr val="059669"/>
          </a:solidFill>
          <a:ln/>
        </p:spPr>
      </p:sp>
      <p:sp>
        <p:nvSpPr>
          <p:cNvPr id="6" name="Shape 4"/>
          <p:cNvSpPr/>
          <p:nvPr/>
        </p:nvSpPr>
        <p:spPr>
          <a:xfrm>
            <a:off x="457200" y="1691640"/>
            <a:ext cx="2651760" cy="1920240"/>
          </a:xfrm>
          <a:prstGeom prst="rect">
            <a:avLst/>
          </a:prstGeom>
          <a:solidFill>
            <a:srgbClr val="F8FAFC"/>
          </a:solidFill>
          <a:ln w="9525">
            <a:solidFill>
              <a:srgbClr val="E2E8F0"/>
            </a:solidFill>
            <a:prstDash val="solid"/>
          </a:ln>
        </p:spPr>
      </p:sp>
      <p:sp>
        <p:nvSpPr>
          <p:cNvPr id="7" name="Text 5"/>
          <p:cNvSpPr/>
          <p:nvPr/>
        </p:nvSpPr>
        <p:spPr>
          <a:xfrm>
            <a:off x="594360" y="1737360"/>
            <a:ext cx="2377440" cy="182880"/>
          </a:xfrm>
          <a:prstGeom prst="rect">
            <a:avLst/>
          </a:prstGeom>
          <a:noFill/>
          <a:ln/>
        </p:spPr>
        <p:txBody>
          <a:bodyPr wrap="square" rtlCol="0" anchor="ctr"/>
          <a:lstStyle/>
          <a:p>
            <a:pPr indent="0" marL="0">
              <a:buNone/>
            </a:pPr>
            <a:r>
              <a:rPr lang="en-US" sz="800" b="1" dirty="0">
                <a:solidFill>
                  <a:srgbClr val="059669"/>
                </a:solidFill>
                <a:latin typeface="Inter" pitchFamily="34" charset="0"/>
                <a:ea typeface="Inter" pitchFamily="34" charset="-122"/>
                <a:cs typeface="Inter" pitchFamily="34" charset="-120"/>
              </a:rPr>
              <a:t>MONTHS 0–3</a:t>
            </a:r>
            <a:endParaRPr lang="en-US" sz="800" dirty="0"/>
          </a:p>
        </p:txBody>
      </p:sp>
      <p:sp>
        <p:nvSpPr>
          <p:cNvPr id="8" name="Text 6"/>
          <p:cNvSpPr/>
          <p:nvPr/>
        </p:nvSpPr>
        <p:spPr>
          <a:xfrm>
            <a:off x="594360" y="1920240"/>
            <a:ext cx="2377440" cy="22860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Foundation</a:t>
            </a:r>
            <a:endParaRPr lang="en-US" sz="1300" dirty="0"/>
          </a:p>
        </p:txBody>
      </p:sp>
      <p:sp>
        <p:nvSpPr>
          <p:cNvPr id="9" name="Text 7"/>
          <p:cNvSpPr/>
          <p:nvPr/>
        </p:nvSpPr>
        <p:spPr>
          <a:xfrm>
            <a:off x="594360" y="2194560"/>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Incorporate OurNigeria Research Ltd</a:t>
            </a:r>
            <a:endParaRPr lang="en-US" sz="900" dirty="0"/>
          </a:p>
        </p:txBody>
      </p:sp>
      <p:sp>
        <p:nvSpPr>
          <p:cNvPr id="10" name="Text 8"/>
          <p:cNvSpPr/>
          <p:nvPr/>
        </p:nvSpPr>
        <p:spPr>
          <a:xfrm>
            <a:off x="594360" y="2450592"/>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Build enterprise API layer</a:t>
            </a:r>
            <a:endParaRPr lang="en-US" sz="900" dirty="0"/>
          </a:p>
        </p:txBody>
      </p:sp>
      <p:sp>
        <p:nvSpPr>
          <p:cNvPr id="11" name="Text 9"/>
          <p:cNvSpPr/>
          <p:nvPr/>
        </p:nvSpPr>
        <p:spPr>
          <a:xfrm>
            <a:off x="594360" y="2706624"/>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Hire backend engineer</a:t>
            </a:r>
            <a:endParaRPr lang="en-US" sz="900" dirty="0"/>
          </a:p>
        </p:txBody>
      </p:sp>
      <p:sp>
        <p:nvSpPr>
          <p:cNvPr id="12" name="Text 10"/>
          <p:cNvSpPr/>
          <p:nvPr/>
        </p:nvSpPr>
        <p:spPr>
          <a:xfrm>
            <a:off x="594360" y="2962656"/>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Secure 3 LOIs from media houses</a:t>
            </a:r>
            <a:endParaRPr lang="en-US" sz="900" dirty="0"/>
          </a:p>
        </p:txBody>
      </p:sp>
      <p:sp>
        <p:nvSpPr>
          <p:cNvPr id="13" name="Text 11"/>
          <p:cNvSpPr/>
          <p:nvPr/>
        </p:nvSpPr>
        <p:spPr>
          <a:xfrm>
            <a:off x="594360" y="3218688"/>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Launch WhatsApp channel</a:t>
            </a:r>
            <a:endParaRPr lang="en-US" sz="900" dirty="0"/>
          </a:p>
        </p:txBody>
      </p:sp>
      <p:sp>
        <p:nvSpPr>
          <p:cNvPr id="14" name="Shape 12"/>
          <p:cNvSpPr/>
          <p:nvPr/>
        </p:nvSpPr>
        <p:spPr>
          <a:xfrm>
            <a:off x="3383280" y="1645920"/>
            <a:ext cx="2651760" cy="45720"/>
          </a:xfrm>
          <a:prstGeom prst="rect">
            <a:avLst/>
          </a:prstGeom>
          <a:solidFill>
            <a:srgbClr val="059669"/>
          </a:solidFill>
          <a:ln/>
        </p:spPr>
      </p:sp>
      <p:sp>
        <p:nvSpPr>
          <p:cNvPr id="15" name="Shape 13"/>
          <p:cNvSpPr/>
          <p:nvPr/>
        </p:nvSpPr>
        <p:spPr>
          <a:xfrm>
            <a:off x="3383280" y="1691640"/>
            <a:ext cx="2651760" cy="1920240"/>
          </a:xfrm>
          <a:prstGeom prst="rect">
            <a:avLst/>
          </a:prstGeom>
          <a:solidFill>
            <a:srgbClr val="F8FAFC"/>
          </a:solidFill>
          <a:ln w="9525">
            <a:solidFill>
              <a:srgbClr val="E2E8F0"/>
            </a:solidFill>
            <a:prstDash val="solid"/>
          </a:ln>
        </p:spPr>
      </p:sp>
      <p:sp>
        <p:nvSpPr>
          <p:cNvPr id="16" name="Text 14"/>
          <p:cNvSpPr/>
          <p:nvPr/>
        </p:nvSpPr>
        <p:spPr>
          <a:xfrm>
            <a:off x="3520440" y="1737360"/>
            <a:ext cx="2377440" cy="182880"/>
          </a:xfrm>
          <a:prstGeom prst="rect">
            <a:avLst/>
          </a:prstGeom>
          <a:noFill/>
          <a:ln/>
        </p:spPr>
        <p:txBody>
          <a:bodyPr wrap="square" rtlCol="0" anchor="ctr"/>
          <a:lstStyle/>
          <a:p>
            <a:pPr indent="0" marL="0">
              <a:buNone/>
            </a:pPr>
            <a:r>
              <a:rPr lang="en-US" sz="800" b="1" dirty="0">
                <a:solidFill>
                  <a:srgbClr val="059669"/>
                </a:solidFill>
                <a:latin typeface="Inter" pitchFamily="34" charset="0"/>
                <a:ea typeface="Inter" pitchFamily="34" charset="-122"/>
                <a:cs typeface="Inter" pitchFamily="34" charset="-120"/>
              </a:rPr>
              <a:t>MONTHS 3–9</a:t>
            </a:r>
            <a:endParaRPr lang="en-US" sz="800" dirty="0"/>
          </a:p>
        </p:txBody>
      </p:sp>
      <p:sp>
        <p:nvSpPr>
          <p:cNvPr id="17" name="Text 15"/>
          <p:cNvSpPr/>
          <p:nvPr/>
        </p:nvSpPr>
        <p:spPr>
          <a:xfrm>
            <a:off x="3520440" y="1920240"/>
            <a:ext cx="2377440" cy="22860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First Revenue</a:t>
            </a:r>
            <a:endParaRPr lang="en-US" sz="1300" dirty="0"/>
          </a:p>
        </p:txBody>
      </p:sp>
      <p:sp>
        <p:nvSpPr>
          <p:cNvPr id="18" name="Text 16"/>
          <p:cNvSpPr/>
          <p:nvPr/>
        </p:nvSpPr>
        <p:spPr>
          <a:xfrm>
            <a:off x="3520440" y="2194560"/>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Onboard 5–10 paying API customers</a:t>
            </a:r>
            <a:endParaRPr lang="en-US" sz="900" dirty="0"/>
          </a:p>
        </p:txBody>
      </p:sp>
      <p:sp>
        <p:nvSpPr>
          <p:cNvPr id="19" name="Text 17"/>
          <p:cNvSpPr/>
          <p:nvPr/>
        </p:nvSpPr>
        <p:spPr>
          <a:xfrm>
            <a:off x="3520440" y="2450592"/>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Launch credit intelligence MVP</a:t>
            </a:r>
            <a:endParaRPr lang="en-US" sz="900" dirty="0"/>
          </a:p>
        </p:txBody>
      </p:sp>
      <p:sp>
        <p:nvSpPr>
          <p:cNvPr id="20" name="Text 18"/>
          <p:cNvSpPr/>
          <p:nvPr/>
        </p:nvSpPr>
        <p:spPr>
          <a:xfrm>
            <a:off x="3520440" y="2706624"/>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Hire content writer</a:t>
            </a:r>
            <a:endParaRPr lang="en-US" sz="900" dirty="0"/>
          </a:p>
        </p:txBody>
      </p:sp>
      <p:sp>
        <p:nvSpPr>
          <p:cNvPr id="21" name="Text 19"/>
          <p:cNvSpPr/>
          <p:nvPr/>
        </p:nvSpPr>
        <p:spPr>
          <a:xfrm>
            <a:off x="3520440" y="2962656"/>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Reach $1,500/mo MRR</a:t>
            </a:r>
            <a:endParaRPr lang="en-US" sz="900" dirty="0"/>
          </a:p>
        </p:txBody>
      </p:sp>
      <p:sp>
        <p:nvSpPr>
          <p:cNvPr id="22" name="Text 20"/>
          <p:cNvSpPr/>
          <p:nvPr/>
        </p:nvSpPr>
        <p:spPr>
          <a:xfrm>
            <a:off x="3520440" y="3218688"/>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500+ daily active users (free tier)</a:t>
            </a:r>
            <a:endParaRPr lang="en-US" sz="900" dirty="0"/>
          </a:p>
        </p:txBody>
      </p:sp>
      <p:sp>
        <p:nvSpPr>
          <p:cNvPr id="23" name="Shape 21"/>
          <p:cNvSpPr/>
          <p:nvPr/>
        </p:nvSpPr>
        <p:spPr>
          <a:xfrm>
            <a:off x="6309360" y="1645920"/>
            <a:ext cx="2651760" cy="45720"/>
          </a:xfrm>
          <a:prstGeom prst="rect">
            <a:avLst/>
          </a:prstGeom>
          <a:solidFill>
            <a:srgbClr val="059669"/>
          </a:solidFill>
          <a:ln/>
        </p:spPr>
      </p:sp>
      <p:sp>
        <p:nvSpPr>
          <p:cNvPr id="24" name="Shape 22"/>
          <p:cNvSpPr/>
          <p:nvPr/>
        </p:nvSpPr>
        <p:spPr>
          <a:xfrm>
            <a:off x="6309360" y="1691640"/>
            <a:ext cx="2651760" cy="1920240"/>
          </a:xfrm>
          <a:prstGeom prst="rect">
            <a:avLst/>
          </a:prstGeom>
          <a:solidFill>
            <a:srgbClr val="F8FAFC"/>
          </a:solidFill>
          <a:ln w="9525">
            <a:solidFill>
              <a:srgbClr val="E2E8F0"/>
            </a:solidFill>
            <a:prstDash val="solid"/>
          </a:ln>
        </p:spPr>
      </p:sp>
      <p:sp>
        <p:nvSpPr>
          <p:cNvPr id="25" name="Text 23"/>
          <p:cNvSpPr/>
          <p:nvPr/>
        </p:nvSpPr>
        <p:spPr>
          <a:xfrm>
            <a:off x="6446520" y="1737360"/>
            <a:ext cx="2377440" cy="182880"/>
          </a:xfrm>
          <a:prstGeom prst="rect">
            <a:avLst/>
          </a:prstGeom>
          <a:noFill/>
          <a:ln/>
        </p:spPr>
        <p:txBody>
          <a:bodyPr wrap="square" rtlCol="0" anchor="ctr"/>
          <a:lstStyle/>
          <a:p>
            <a:pPr indent="0" marL="0">
              <a:buNone/>
            </a:pPr>
            <a:r>
              <a:rPr lang="en-US" sz="800" b="1" dirty="0">
                <a:solidFill>
                  <a:srgbClr val="059669"/>
                </a:solidFill>
                <a:latin typeface="Inter" pitchFamily="34" charset="0"/>
                <a:ea typeface="Inter" pitchFamily="34" charset="-122"/>
                <a:cs typeface="Inter" pitchFamily="34" charset="-120"/>
              </a:rPr>
              <a:t>MONTHS 9–18</a:t>
            </a:r>
            <a:endParaRPr lang="en-US" sz="800" dirty="0"/>
          </a:p>
        </p:txBody>
      </p:sp>
      <p:sp>
        <p:nvSpPr>
          <p:cNvPr id="26" name="Text 24"/>
          <p:cNvSpPr/>
          <p:nvPr/>
        </p:nvSpPr>
        <p:spPr>
          <a:xfrm>
            <a:off x="6446520" y="1920240"/>
            <a:ext cx="2377440" cy="22860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Scale &amp; Sustainability</a:t>
            </a:r>
            <a:endParaRPr lang="en-US" sz="1300" dirty="0"/>
          </a:p>
        </p:txBody>
      </p:sp>
      <p:sp>
        <p:nvSpPr>
          <p:cNvPr id="27" name="Text 25"/>
          <p:cNvSpPr/>
          <p:nvPr/>
        </p:nvSpPr>
        <p:spPr>
          <a:xfrm>
            <a:off x="6446520" y="2194560"/>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20+ enterprise customers</a:t>
            </a:r>
            <a:endParaRPr lang="en-US" sz="900" dirty="0"/>
          </a:p>
        </p:txBody>
      </p:sp>
      <p:sp>
        <p:nvSpPr>
          <p:cNvPr id="28" name="Text 26"/>
          <p:cNvSpPr/>
          <p:nvPr/>
        </p:nvSpPr>
        <p:spPr>
          <a:xfrm>
            <a:off x="6446520" y="2450592"/>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$5,000+/mo MRR</a:t>
            </a:r>
            <a:endParaRPr lang="en-US" sz="900" dirty="0"/>
          </a:p>
        </p:txBody>
      </p:sp>
      <p:sp>
        <p:nvSpPr>
          <p:cNvPr id="29" name="Text 27"/>
          <p:cNvSpPr/>
          <p:nvPr/>
        </p:nvSpPr>
        <p:spPr>
          <a:xfrm>
            <a:off x="6446520" y="2706624"/>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Expand to 2 additional African markets</a:t>
            </a:r>
            <a:endParaRPr lang="en-US" sz="900" dirty="0"/>
          </a:p>
        </p:txBody>
      </p:sp>
      <p:sp>
        <p:nvSpPr>
          <p:cNvPr id="30" name="Text 28"/>
          <p:cNvSpPr/>
          <p:nvPr/>
        </p:nvSpPr>
        <p:spPr>
          <a:xfrm>
            <a:off x="6446520" y="2962656"/>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Register OurNigeria Foundation</a:t>
            </a:r>
            <a:endParaRPr lang="en-US" sz="900" dirty="0"/>
          </a:p>
        </p:txBody>
      </p:sp>
      <p:sp>
        <p:nvSpPr>
          <p:cNvPr id="31" name="Text 29"/>
          <p:cNvSpPr/>
          <p:nvPr/>
        </p:nvSpPr>
        <p:spPr>
          <a:xfrm>
            <a:off x="6446520" y="3218688"/>
            <a:ext cx="2377440" cy="237744"/>
          </a:xfrm>
          <a:prstGeom prst="rect">
            <a:avLst/>
          </a:prstGeom>
          <a:noFill/>
          <a:ln/>
        </p:spPr>
        <p:txBody>
          <a:bodyPr wrap="square" rtlCol="0" anchor="ctr"/>
          <a:lstStyle/>
          <a:p>
            <a:pPr indent="0" marL="0">
              <a:buNone/>
            </a:pPr>
            <a:r>
              <a:rPr lang="en-US" sz="900" dirty="0">
                <a:solidFill>
                  <a:srgbClr val="64748B"/>
                </a:solidFill>
                <a:latin typeface="Inter" pitchFamily="34" charset="0"/>
                <a:ea typeface="Inter" pitchFamily="34" charset="-122"/>
                <a:cs typeface="Inter" pitchFamily="34" charset="-120"/>
              </a:rPr>
              <a:t>•  Apply for follow-on grants</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794760"/>
          <a:ext cx="8229600" cy="914400"/>
        </p:xfrm>
        <a:graphic>
          <a:graphicData uri="http://schemas.openxmlformats.org/drawingml/2006/table">
            <a:tbl>
              <a:tblPr/>
              <a:tblGrid>
                <a:gridCol w="2011680"/>
                <a:gridCol w="1828800"/>
                <a:gridCol w="2194560"/>
                <a:gridCol w="2194560"/>
              </a:tblGrid>
              <a:tr h="256032">
                <a:tc>
                  <a:txBody>
                    <a:bodyPr/>
                    <a:lstStyle/>
                    <a:p>
                      <a:pPr indent="0" marL="0">
                        <a:buNone/>
                      </a:pPr>
                      <a:r>
                        <a:rPr lang="en-US" sz="850" b="1" dirty="0">
                          <a:solidFill>
                            <a:srgbClr val="047857"/>
                          </a:solidFill>
                          <a:latin typeface="Inter" pitchFamily="34" charset="0"/>
                          <a:ea typeface="Inter" pitchFamily="34" charset="-122"/>
                          <a:cs typeface="Inter" pitchFamily="34" charset="-120"/>
                        </a:rPr>
                        <a:t>PHASE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MONTHLY COST</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MONTHLY REVENUE</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850" b="1" dirty="0">
                          <a:solidFill>
                            <a:srgbClr val="047857"/>
                          </a:solidFill>
                          <a:latin typeface="Inter" pitchFamily="34" charset="0"/>
                          <a:ea typeface="Inter" pitchFamily="34" charset="-122"/>
                          <a:cs typeface="Inter" pitchFamily="34" charset="-120"/>
                        </a:rPr>
                        <a:t>STATUS</a:t>
                      </a:r>
                      <a:endParaRPr lang="en-US" sz="8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r>
              <a:tr h="256032">
                <a:tc>
                  <a:txBody>
                    <a:bodyPr/>
                    <a:lstStyle/>
                    <a:p>
                      <a:pPr indent="0" marL="0">
                        <a:buNone/>
                      </a:pPr>
                      <a:r>
                        <a:rPr lang="en-US" sz="950" dirty="0">
                          <a:solidFill>
                            <a:srgbClr val="0F172A"/>
                          </a:solidFill>
                          <a:latin typeface="Inter" pitchFamily="34" charset="0"/>
                          <a:ea typeface="Inter" pitchFamily="34" charset="-122"/>
                          <a:cs typeface="Inter" pitchFamily="34" charset="-120"/>
                        </a:rPr>
                        <a:t>Pre-launch (now)</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~$50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059669"/>
                          </a:solidFill>
                          <a:latin typeface="Inter" pitchFamily="34" charset="0"/>
                          <a:ea typeface="Inter" pitchFamily="34" charset="-122"/>
                          <a:cs typeface="Inter" pitchFamily="34" charset="-120"/>
                        </a:rPr>
                        <a:t>Current</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950" dirty="0">
                          <a:solidFill>
                            <a:srgbClr val="0F172A"/>
                          </a:solidFill>
                          <a:latin typeface="Inter" pitchFamily="34" charset="0"/>
                          <a:ea typeface="Inter" pitchFamily="34" charset="-122"/>
                          <a:cs typeface="Inter" pitchFamily="34" charset="-120"/>
                        </a:rPr>
                        <a:t>Launch (Mo 1–6)</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~$350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$0–$500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First customers</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950" dirty="0">
                          <a:solidFill>
                            <a:srgbClr val="0F172A"/>
                          </a:solidFill>
                          <a:latin typeface="Inter" pitchFamily="34" charset="0"/>
                          <a:ea typeface="Inter" pitchFamily="34" charset="-122"/>
                          <a:cs typeface="Inter" pitchFamily="34" charset="-120"/>
                        </a:rPr>
                        <a:t>Traction (Mo 6–12)</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$600–$1,200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$1,500–$3,000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Break-even</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56032">
                <a:tc>
                  <a:txBody>
                    <a:bodyPr/>
                    <a:lstStyle/>
                    <a:p>
                      <a:pPr indent="0" marL="0">
                        <a:buNone/>
                      </a:pPr>
                      <a:r>
                        <a:rPr lang="en-US" sz="950" dirty="0">
                          <a:solidFill>
                            <a:srgbClr val="0F172A"/>
                          </a:solidFill>
                          <a:latin typeface="Inter" pitchFamily="34" charset="0"/>
                          <a:ea typeface="Inter" pitchFamily="34" charset="-122"/>
                          <a:cs typeface="Inter" pitchFamily="34" charset="-120"/>
                        </a:rPr>
                        <a:t>Scale (Mo 12–18)</a:t>
                      </a:r>
                      <a:endParaRPr lang="en-US" sz="95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$3,000–$6,000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64748B"/>
                          </a:solidFill>
                          <a:latin typeface="Inter" pitchFamily="34" charset="0"/>
                          <a:ea typeface="Inter" pitchFamily="34" charset="-122"/>
                          <a:cs typeface="Inter" pitchFamily="34" charset="-120"/>
                        </a:rPr>
                        <a:t>$5,000–$8,000</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166534"/>
                          </a:solidFill>
                          <a:latin typeface="Inter" pitchFamily="34" charset="0"/>
                          <a:ea typeface="Inter" pitchFamily="34" charset="-122"/>
                          <a:cs typeface="Inter" pitchFamily="34" charset="-120"/>
                        </a:rPr>
                        <a:t>Profitable</a:t>
                      </a:r>
                      <a:endParaRPr lang="en-US" sz="900" dirty="0">
                        <a:latin typeface="Inter" charset="0"/>
                        <a:ea typeface="Inter" charset="0"/>
                        <a:cs typeface="Inter"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bl>
          </a:graphicData>
        </a:graphic>
      </p:graphicFrame>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5760" y="4617720"/>
            <a:ext cx="228600" cy="228600"/>
          </a:xfrm>
          <a:prstGeom prst="rect">
            <a:avLst/>
          </a:prstGeom>
        </p:spPr>
      </p:pic>
      <p:sp>
        <p:nvSpPr>
          <p:cNvPr id="34" name="Text 30"/>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35" name="Text 31"/>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828800" cy="256032"/>
          </a:xfrm>
          <a:prstGeom prst="rect">
            <a:avLst/>
          </a:prstGeom>
          <a:noFill/>
          <a:ln/>
        </p:spPr>
        <p:txBody>
          <a:bodyPr wrap="square" rtlCol="0" anchor="ctr"/>
          <a:lstStyle/>
          <a:p>
            <a:pPr indent="0" marL="0">
              <a:buNone/>
            </a:pPr>
            <a:r>
              <a:rPr lang="en-US" sz="850" b="1" dirty="0">
                <a:solidFill>
                  <a:srgbClr val="059669"/>
                </a:solidFill>
                <a:latin typeface="Inter" pitchFamily="34" charset="0"/>
                <a:ea typeface="Inter" pitchFamily="34" charset="-122"/>
                <a:cs typeface="Inter" pitchFamily="34" charset="-120"/>
              </a:rPr>
              <a:t>THE ASK</a:t>
            </a:r>
            <a:endParaRPr lang="en-US" sz="850" dirty="0"/>
          </a:p>
        </p:txBody>
      </p:sp>
      <p:sp>
        <p:nvSpPr>
          <p:cNvPr id="3" name="Text 1"/>
          <p:cNvSpPr/>
          <p:nvPr/>
        </p:nvSpPr>
        <p:spPr>
          <a:xfrm>
            <a:off x="457200" y="658368"/>
            <a:ext cx="8229600" cy="438912"/>
          </a:xfrm>
          <a:prstGeom prst="rect">
            <a:avLst/>
          </a:prstGeom>
          <a:noFill/>
          <a:ln/>
        </p:spPr>
        <p:txBody>
          <a:bodyPr wrap="square" rtlCol="0" anchor="ctr"/>
          <a:lstStyle/>
          <a:p>
            <a:pPr indent="0" marL="0">
              <a:buNone/>
            </a:pPr>
            <a:r>
              <a:rPr lang="en-US" sz="2400" b="1" dirty="0">
                <a:solidFill>
                  <a:srgbClr val="0F172A"/>
                </a:solidFill>
                <a:latin typeface="DM Sans" pitchFamily="34" charset="0"/>
                <a:ea typeface="DM Sans" pitchFamily="34" charset="-122"/>
                <a:cs typeface="DM Sans" pitchFamily="34" charset="-120"/>
              </a:rPr>
              <a:t>Seed investment to go from built to sold</a:t>
            </a:r>
            <a:endParaRPr lang="en-US" sz="2400" dirty="0"/>
          </a:p>
        </p:txBody>
      </p:sp>
      <p:sp>
        <p:nvSpPr>
          <p:cNvPr id="4" name="Text 2"/>
          <p:cNvSpPr/>
          <p:nvPr/>
        </p:nvSpPr>
        <p:spPr>
          <a:xfrm>
            <a:off x="457200" y="1115568"/>
            <a:ext cx="7772400" cy="411480"/>
          </a:xfrm>
          <a:prstGeom prst="rect">
            <a:avLst/>
          </a:prstGeom>
          <a:noFill/>
          <a:ln/>
        </p:spPr>
        <p:txBody>
          <a:bodyPr wrap="square" rtlCol="0" anchor="ctr"/>
          <a:lstStyle/>
          <a:p>
            <a:pPr indent="0" marL="0">
              <a:lnSpc>
                <a:spcPct val="130000"/>
              </a:lnSpc>
              <a:buNone/>
            </a:pPr>
            <a:r>
              <a:rPr lang="en-US" sz="1200" dirty="0">
                <a:solidFill>
                  <a:srgbClr val="64748B"/>
                </a:solidFill>
                <a:latin typeface="Inter" pitchFamily="34" charset="0"/>
                <a:ea typeface="Inter" pitchFamily="34" charset="-122"/>
                <a:cs typeface="Inter" pitchFamily="34" charset="-120"/>
              </a:rPr>
              <a:t>The hardest part — building the data moat and AI pipeline — is done. Capital accelerates go-to-market.</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645920"/>
            <a:ext cx="8229600" cy="86868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800" y="1737360"/>
            <a:ext cx="502920" cy="502920"/>
          </a:xfrm>
          <a:prstGeom prst="rect">
            <a:avLst/>
          </a:prstGeom>
        </p:spPr>
      </p:pic>
      <p:sp>
        <p:nvSpPr>
          <p:cNvPr id="7" name="Text 3"/>
          <p:cNvSpPr/>
          <p:nvPr/>
        </p:nvSpPr>
        <p:spPr>
          <a:xfrm>
            <a:off x="1325880" y="1719072"/>
            <a:ext cx="3657600" cy="411480"/>
          </a:xfrm>
          <a:prstGeom prst="rect">
            <a:avLst/>
          </a:prstGeom>
          <a:noFill/>
          <a:ln/>
        </p:spPr>
        <p:txBody>
          <a:bodyPr wrap="square" rtlCol="0" anchor="ctr"/>
          <a:lstStyle/>
          <a:p>
            <a:pPr indent="0" marL="0">
              <a:buNone/>
            </a:pPr>
            <a:r>
              <a:rPr lang="en-US" sz="3200" b="1" dirty="0">
                <a:solidFill>
                  <a:srgbClr val="FFFFFF"/>
                </a:solidFill>
                <a:latin typeface="DM Sans" pitchFamily="34" charset="0"/>
                <a:ea typeface="DM Sans" pitchFamily="34" charset="-122"/>
                <a:cs typeface="DM Sans" pitchFamily="34" charset="-120"/>
              </a:rPr>
              <a:t>$250K – $500K</a:t>
            </a:r>
            <a:endParaRPr lang="en-US" sz="3200" dirty="0"/>
          </a:p>
        </p:txBody>
      </p:sp>
      <p:sp>
        <p:nvSpPr>
          <p:cNvPr id="8" name="Text 4"/>
          <p:cNvSpPr/>
          <p:nvPr/>
        </p:nvSpPr>
        <p:spPr>
          <a:xfrm>
            <a:off x="1325880" y="2121408"/>
            <a:ext cx="5486400" cy="228600"/>
          </a:xfrm>
          <a:prstGeom prst="rect">
            <a:avLst/>
          </a:prstGeom>
          <a:noFill/>
          <a:ln/>
        </p:spPr>
        <p:txBody>
          <a:bodyPr wrap="square" rtlCol="0" anchor="ctr"/>
          <a:lstStyle/>
          <a:p>
            <a:pPr indent="0" marL="0">
              <a:buNone/>
            </a:pPr>
            <a:r>
              <a:rPr lang="en-US" sz="1050" dirty="0">
                <a:solidFill>
                  <a:srgbClr val="FFFFFF">
                    <a:alpha val="85000"/>
                  </a:srgbClr>
                </a:solidFill>
                <a:latin typeface="Inter" pitchFamily="34" charset="0"/>
                <a:ea typeface="Inter" pitchFamily="34" charset="-122"/>
                <a:cs typeface="Inter" pitchFamily="34" charset="-120"/>
              </a:rPr>
              <a:t>Pre-Seed / Seed Round  |  OurNigeria Research (For-Profit)</a:t>
            </a:r>
            <a:endParaRPr lang="en-US" sz="1050" dirty="0"/>
          </a:p>
        </p:txBody>
      </p:sp>
      <p:sp>
        <p:nvSpPr>
          <p:cNvPr id="9" name="Shape 5"/>
          <p:cNvSpPr/>
          <p:nvPr/>
        </p:nvSpPr>
        <p:spPr>
          <a:xfrm>
            <a:off x="457200" y="2743200"/>
            <a:ext cx="1920240" cy="1051560"/>
          </a:xfrm>
          <a:prstGeom prst="rect">
            <a:avLst>
              <a:gd name="adj" fmla="val 8696"/>
            </a:avLst>
          </a:prstGeom>
          <a:solidFill>
            <a:srgbClr val="F8FAFC"/>
          </a:solidFill>
          <a:ln w="9525">
            <a:solidFill>
              <a:srgbClr val="E2E8F0"/>
            </a:solidFill>
            <a:prstDash val="solid"/>
          </a:ln>
        </p:spPr>
      </p:sp>
      <p:sp>
        <p:nvSpPr>
          <p:cNvPr id="10" name="Text 6"/>
          <p:cNvSpPr/>
          <p:nvPr/>
        </p:nvSpPr>
        <p:spPr>
          <a:xfrm>
            <a:off x="457200" y="2788920"/>
            <a:ext cx="1920240" cy="347472"/>
          </a:xfrm>
          <a:prstGeom prst="rect">
            <a:avLst/>
          </a:prstGeom>
          <a:noFill/>
          <a:ln/>
        </p:spPr>
        <p:txBody>
          <a:bodyPr wrap="square" rtlCol="0" anchor="ctr"/>
          <a:lstStyle/>
          <a:p>
            <a:pPr algn="ctr" indent="0" marL="0">
              <a:buNone/>
            </a:pPr>
            <a:r>
              <a:rPr lang="en-US" sz="2400" b="1" dirty="0">
                <a:solidFill>
                  <a:srgbClr val="059669"/>
                </a:solidFill>
                <a:latin typeface="DM Sans" pitchFamily="34" charset="0"/>
                <a:ea typeface="DM Sans" pitchFamily="34" charset="-122"/>
                <a:cs typeface="DM Sans" pitchFamily="34" charset="-120"/>
              </a:rPr>
              <a:t>40%</a:t>
            </a:r>
            <a:endParaRPr lang="en-US" sz="2400" dirty="0"/>
          </a:p>
        </p:txBody>
      </p:sp>
      <p:sp>
        <p:nvSpPr>
          <p:cNvPr id="11" name="Text 7"/>
          <p:cNvSpPr/>
          <p:nvPr/>
        </p:nvSpPr>
        <p:spPr>
          <a:xfrm>
            <a:off x="457200" y="3127248"/>
            <a:ext cx="1920240" cy="201168"/>
          </a:xfrm>
          <a:prstGeom prst="rect">
            <a:avLst/>
          </a:prstGeom>
          <a:noFill/>
          <a:ln/>
        </p:spPr>
        <p:txBody>
          <a:bodyPr wrap="square"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Engineering</a:t>
            </a:r>
            <a:endParaRPr lang="en-US" sz="1000" dirty="0"/>
          </a:p>
        </p:txBody>
      </p:sp>
      <p:sp>
        <p:nvSpPr>
          <p:cNvPr id="12" name="Text 8"/>
          <p:cNvSpPr/>
          <p:nvPr/>
        </p:nvSpPr>
        <p:spPr>
          <a:xfrm>
            <a:off x="457200" y="3337560"/>
            <a:ext cx="1920240" cy="365760"/>
          </a:xfrm>
          <a:prstGeom prst="rect">
            <a:avLst/>
          </a:prstGeom>
          <a:noFill/>
          <a:ln/>
        </p:spPr>
        <p:txBody>
          <a:bodyPr wrap="square" rtlCol="0" anchor="ctr"/>
          <a:lstStyle/>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Enterprise API,</a:t>
            </a:r>
            <a:endParaRPr lang="en-US" sz="850" dirty="0"/>
          </a:p>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premium features</a:t>
            </a:r>
            <a:endParaRPr lang="en-US" sz="850" dirty="0"/>
          </a:p>
        </p:txBody>
      </p:sp>
      <p:sp>
        <p:nvSpPr>
          <p:cNvPr id="13" name="Shape 9"/>
          <p:cNvSpPr/>
          <p:nvPr/>
        </p:nvSpPr>
        <p:spPr>
          <a:xfrm>
            <a:off x="2633472" y="2743200"/>
            <a:ext cx="1920240" cy="1051560"/>
          </a:xfrm>
          <a:prstGeom prst="rect">
            <a:avLst>
              <a:gd name="adj" fmla="val 8696"/>
            </a:avLst>
          </a:prstGeom>
          <a:solidFill>
            <a:srgbClr val="F8FAFC"/>
          </a:solidFill>
          <a:ln w="9525">
            <a:solidFill>
              <a:srgbClr val="E2E8F0"/>
            </a:solidFill>
            <a:prstDash val="solid"/>
          </a:ln>
        </p:spPr>
      </p:sp>
      <p:sp>
        <p:nvSpPr>
          <p:cNvPr id="14" name="Text 10"/>
          <p:cNvSpPr/>
          <p:nvPr/>
        </p:nvSpPr>
        <p:spPr>
          <a:xfrm>
            <a:off x="2633472" y="2788920"/>
            <a:ext cx="1920240" cy="347472"/>
          </a:xfrm>
          <a:prstGeom prst="rect">
            <a:avLst/>
          </a:prstGeom>
          <a:noFill/>
          <a:ln/>
        </p:spPr>
        <p:txBody>
          <a:bodyPr wrap="square" rtlCol="0" anchor="ctr"/>
          <a:lstStyle/>
          <a:p>
            <a:pPr algn="ctr" indent="0" marL="0">
              <a:buNone/>
            </a:pPr>
            <a:r>
              <a:rPr lang="en-US" sz="2400" b="1" dirty="0">
                <a:solidFill>
                  <a:srgbClr val="059669"/>
                </a:solidFill>
                <a:latin typeface="DM Sans" pitchFamily="34" charset="0"/>
                <a:ea typeface="DM Sans" pitchFamily="34" charset="-122"/>
                <a:cs typeface="DM Sans" pitchFamily="34" charset="-120"/>
              </a:rPr>
              <a:t>30%</a:t>
            </a:r>
            <a:endParaRPr lang="en-US" sz="2400" dirty="0"/>
          </a:p>
        </p:txBody>
      </p:sp>
      <p:sp>
        <p:nvSpPr>
          <p:cNvPr id="15" name="Text 11"/>
          <p:cNvSpPr/>
          <p:nvPr/>
        </p:nvSpPr>
        <p:spPr>
          <a:xfrm>
            <a:off x="2633472" y="3127248"/>
            <a:ext cx="1920240" cy="201168"/>
          </a:xfrm>
          <a:prstGeom prst="rect">
            <a:avLst/>
          </a:prstGeom>
          <a:noFill/>
          <a:ln/>
        </p:spPr>
        <p:txBody>
          <a:bodyPr wrap="square"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Go-to-Market</a:t>
            </a:r>
            <a:endParaRPr lang="en-US" sz="1000" dirty="0"/>
          </a:p>
        </p:txBody>
      </p:sp>
      <p:sp>
        <p:nvSpPr>
          <p:cNvPr id="16" name="Text 12"/>
          <p:cNvSpPr/>
          <p:nvPr/>
        </p:nvSpPr>
        <p:spPr>
          <a:xfrm>
            <a:off x="2633472" y="3337560"/>
            <a:ext cx="1920240" cy="365760"/>
          </a:xfrm>
          <a:prstGeom prst="rect">
            <a:avLst/>
          </a:prstGeom>
          <a:noFill/>
          <a:ln/>
        </p:spPr>
        <p:txBody>
          <a:bodyPr wrap="square" rtlCol="0" anchor="ctr"/>
          <a:lstStyle/>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First 5 paying</a:t>
            </a:r>
            <a:endParaRPr lang="en-US" sz="850" dirty="0"/>
          </a:p>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customers</a:t>
            </a:r>
            <a:endParaRPr lang="en-US" sz="850" dirty="0"/>
          </a:p>
        </p:txBody>
      </p:sp>
      <p:sp>
        <p:nvSpPr>
          <p:cNvPr id="17" name="Shape 13"/>
          <p:cNvSpPr/>
          <p:nvPr/>
        </p:nvSpPr>
        <p:spPr>
          <a:xfrm>
            <a:off x="4809744" y="2743200"/>
            <a:ext cx="1920240" cy="1051560"/>
          </a:xfrm>
          <a:prstGeom prst="rect">
            <a:avLst>
              <a:gd name="adj" fmla="val 8696"/>
            </a:avLst>
          </a:prstGeom>
          <a:solidFill>
            <a:srgbClr val="F8FAFC"/>
          </a:solidFill>
          <a:ln w="9525">
            <a:solidFill>
              <a:srgbClr val="E2E8F0"/>
            </a:solidFill>
            <a:prstDash val="solid"/>
          </a:ln>
        </p:spPr>
      </p:sp>
      <p:sp>
        <p:nvSpPr>
          <p:cNvPr id="18" name="Text 14"/>
          <p:cNvSpPr/>
          <p:nvPr/>
        </p:nvSpPr>
        <p:spPr>
          <a:xfrm>
            <a:off x="4809744" y="2788920"/>
            <a:ext cx="1920240" cy="347472"/>
          </a:xfrm>
          <a:prstGeom prst="rect">
            <a:avLst/>
          </a:prstGeom>
          <a:noFill/>
          <a:ln/>
        </p:spPr>
        <p:txBody>
          <a:bodyPr wrap="square" rtlCol="0" anchor="ctr"/>
          <a:lstStyle/>
          <a:p>
            <a:pPr algn="ctr" indent="0" marL="0">
              <a:buNone/>
            </a:pPr>
            <a:r>
              <a:rPr lang="en-US" sz="2400" b="1" dirty="0">
                <a:solidFill>
                  <a:srgbClr val="059669"/>
                </a:solidFill>
                <a:latin typeface="DM Sans" pitchFamily="34" charset="0"/>
                <a:ea typeface="DM Sans" pitchFamily="34" charset="-122"/>
                <a:cs typeface="DM Sans" pitchFamily="34" charset="-120"/>
              </a:rPr>
              <a:t>20%</a:t>
            </a:r>
            <a:endParaRPr lang="en-US" sz="2400" dirty="0"/>
          </a:p>
        </p:txBody>
      </p:sp>
      <p:sp>
        <p:nvSpPr>
          <p:cNvPr id="19" name="Text 15"/>
          <p:cNvSpPr/>
          <p:nvPr/>
        </p:nvSpPr>
        <p:spPr>
          <a:xfrm>
            <a:off x="4809744" y="3127248"/>
            <a:ext cx="1920240" cy="201168"/>
          </a:xfrm>
          <a:prstGeom prst="rect">
            <a:avLst/>
          </a:prstGeom>
          <a:noFill/>
          <a:ln/>
        </p:spPr>
        <p:txBody>
          <a:bodyPr wrap="square"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Content &amp; Dist.</a:t>
            </a:r>
            <a:endParaRPr lang="en-US" sz="1000" dirty="0"/>
          </a:p>
        </p:txBody>
      </p:sp>
      <p:sp>
        <p:nvSpPr>
          <p:cNvPr id="20" name="Text 16"/>
          <p:cNvSpPr/>
          <p:nvPr/>
        </p:nvSpPr>
        <p:spPr>
          <a:xfrm>
            <a:off x="4809744" y="3337560"/>
            <a:ext cx="1920240" cy="365760"/>
          </a:xfrm>
          <a:prstGeom prst="rect">
            <a:avLst/>
          </a:prstGeom>
          <a:noFill/>
          <a:ln/>
        </p:spPr>
        <p:txBody>
          <a:bodyPr wrap="square" rtlCol="0" anchor="ctr"/>
          <a:lstStyle/>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Brand, social,</a:t>
            </a:r>
            <a:endParaRPr lang="en-US" sz="850" dirty="0"/>
          </a:p>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partnerships</a:t>
            </a:r>
            <a:endParaRPr lang="en-US" sz="850" dirty="0"/>
          </a:p>
        </p:txBody>
      </p:sp>
      <p:sp>
        <p:nvSpPr>
          <p:cNvPr id="21" name="Shape 17"/>
          <p:cNvSpPr/>
          <p:nvPr/>
        </p:nvSpPr>
        <p:spPr>
          <a:xfrm>
            <a:off x="6986016" y="2743200"/>
            <a:ext cx="1920240" cy="1051560"/>
          </a:xfrm>
          <a:prstGeom prst="rect">
            <a:avLst>
              <a:gd name="adj" fmla="val 8696"/>
            </a:avLst>
          </a:prstGeom>
          <a:solidFill>
            <a:srgbClr val="F8FAFC"/>
          </a:solidFill>
          <a:ln w="9525">
            <a:solidFill>
              <a:srgbClr val="E2E8F0"/>
            </a:solidFill>
            <a:prstDash val="solid"/>
          </a:ln>
        </p:spPr>
      </p:sp>
      <p:sp>
        <p:nvSpPr>
          <p:cNvPr id="22" name="Text 18"/>
          <p:cNvSpPr/>
          <p:nvPr/>
        </p:nvSpPr>
        <p:spPr>
          <a:xfrm>
            <a:off x="6986016" y="2788920"/>
            <a:ext cx="1920240" cy="347472"/>
          </a:xfrm>
          <a:prstGeom prst="rect">
            <a:avLst/>
          </a:prstGeom>
          <a:noFill/>
          <a:ln/>
        </p:spPr>
        <p:txBody>
          <a:bodyPr wrap="square" rtlCol="0" anchor="ctr"/>
          <a:lstStyle/>
          <a:p>
            <a:pPr algn="ctr" indent="0" marL="0">
              <a:buNone/>
            </a:pPr>
            <a:r>
              <a:rPr lang="en-US" sz="2400" b="1" dirty="0">
                <a:solidFill>
                  <a:srgbClr val="059669"/>
                </a:solidFill>
                <a:latin typeface="DM Sans" pitchFamily="34" charset="0"/>
                <a:ea typeface="DM Sans" pitchFamily="34" charset="-122"/>
                <a:cs typeface="DM Sans" pitchFamily="34" charset="-120"/>
              </a:rPr>
              <a:t>10%</a:t>
            </a:r>
            <a:endParaRPr lang="en-US" sz="2400" dirty="0"/>
          </a:p>
        </p:txBody>
      </p:sp>
      <p:sp>
        <p:nvSpPr>
          <p:cNvPr id="23" name="Text 19"/>
          <p:cNvSpPr/>
          <p:nvPr/>
        </p:nvSpPr>
        <p:spPr>
          <a:xfrm>
            <a:off x="6986016" y="3127248"/>
            <a:ext cx="1920240" cy="201168"/>
          </a:xfrm>
          <a:prstGeom prst="rect">
            <a:avLst/>
          </a:prstGeom>
          <a:noFill/>
          <a:ln/>
        </p:spPr>
        <p:txBody>
          <a:bodyPr wrap="square"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Operations</a:t>
            </a:r>
            <a:endParaRPr lang="en-US" sz="1000" dirty="0"/>
          </a:p>
        </p:txBody>
      </p:sp>
      <p:sp>
        <p:nvSpPr>
          <p:cNvPr id="24" name="Text 20"/>
          <p:cNvSpPr/>
          <p:nvPr/>
        </p:nvSpPr>
        <p:spPr>
          <a:xfrm>
            <a:off x="6986016" y="3337560"/>
            <a:ext cx="1920240" cy="365760"/>
          </a:xfrm>
          <a:prstGeom prst="rect">
            <a:avLst/>
          </a:prstGeom>
          <a:noFill/>
          <a:ln/>
        </p:spPr>
        <p:txBody>
          <a:bodyPr wrap="square" rtlCol="0" anchor="ctr"/>
          <a:lstStyle/>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Infra, legal,</a:t>
            </a:r>
            <a:endParaRPr lang="en-US" sz="850" dirty="0"/>
          </a:p>
          <a:p>
            <a:pPr algn="ctr" indent="0" marL="0">
              <a:lnSpc>
                <a:spcPct val="120000"/>
              </a:lnSpc>
              <a:buNone/>
            </a:pPr>
            <a:r>
              <a:rPr lang="en-US" sz="850" dirty="0">
                <a:solidFill>
                  <a:srgbClr val="94A3B8"/>
                </a:solidFill>
                <a:latin typeface="Inter" pitchFamily="34" charset="0"/>
                <a:ea typeface="Inter" pitchFamily="34" charset="-122"/>
                <a:cs typeface="Inter" pitchFamily="34" charset="-120"/>
              </a:rPr>
              <a:t>incorporation</a:t>
            </a:r>
            <a:endParaRPr lang="en-US" sz="850" dirty="0"/>
          </a:p>
        </p:txBody>
      </p:sp>
      <p:sp>
        <p:nvSpPr>
          <p:cNvPr id="25" name="Shape 21"/>
          <p:cNvSpPr/>
          <p:nvPr/>
        </p:nvSpPr>
        <p:spPr>
          <a:xfrm>
            <a:off x="457200" y="3977640"/>
            <a:ext cx="8229600" cy="777240"/>
          </a:xfrm>
          <a:prstGeom prst="rect">
            <a:avLst>
              <a:gd name="adj" fmla="val 11765"/>
            </a:avLst>
          </a:prstGeom>
          <a:solidFill>
            <a:srgbClr val="ECFDF5"/>
          </a:solidFill>
          <a:ln w="12700">
            <a:solidFill>
              <a:srgbClr val="D1FAE5"/>
            </a:solidFill>
            <a:prstDash val="solid"/>
          </a:ln>
        </p:spPr>
      </p:sp>
      <p:sp>
        <p:nvSpPr>
          <p:cNvPr id="26" name="Text 22"/>
          <p:cNvSpPr/>
          <p:nvPr/>
        </p:nvSpPr>
        <p:spPr>
          <a:xfrm>
            <a:off x="640080" y="4005072"/>
            <a:ext cx="7863840" cy="731520"/>
          </a:xfrm>
          <a:prstGeom prst="rect">
            <a:avLst/>
          </a:prstGeom>
          <a:noFill/>
          <a:ln/>
        </p:spPr>
        <p:txBody>
          <a:bodyPr wrap="square" rtlCol="0" anchor="ctr"/>
          <a:lstStyle/>
          <a:p>
            <a:pPr indent="0" marL="0">
              <a:lnSpc>
                <a:spcPct val="135000"/>
              </a:lnSpc>
              <a:buNone/>
            </a:pPr>
            <a:r>
              <a:rPr lang="en-US" sz="1000" b="1" dirty="0">
                <a:solidFill>
                  <a:srgbClr val="059669"/>
                </a:solidFill>
                <a:latin typeface="Inter" pitchFamily="34" charset="0"/>
                <a:ea typeface="Inter" pitchFamily="34" charset="-122"/>
                <a:cs typeface="Inter" pitchFamily="34" charset="-120"/>
              </a:rPr>
              <a:t>Why now?  </a:t>
            </a:r>
            <a:pPr indent="0" marL="0">
              <a:lnSpc>
                <a:spcPct val="135000"/>
              </a:lnSpc>
              <a:buNone/>
            </a:pPr>
            <a:r>
              <a:rPr lang="en-US" sz="950" dirty="0">
                <a:solidFill>
                  <a:srgbClr val="047857"/>
                </a:solidFill>
                <a:latin typeface="Inter" pitchFamily="34" charset="0"/>
                <a:ea typeface="Inter" pitchFamily="34" charset="-122"/>
                <a:cs typeface="Inter" pitchFamily="34" charset="-120"/>
              </a:rPr>
              <a:t>The data moat is built (708K+ embeddings, 37 states). The AI pipeline is live. The B2B revenue streams are defined. What's missing is the team and GTM push to convert this infrastructure into paying enterprise customers. Every month of delay is a month a competitor could start building.</a:t>
            </a:r>
            <a:endParaRPr lang="en-US" sz="1000" dirty="0"/>
          </a:p>
        </p:txBody>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760" y="4617720"/>
            <a:ext cx="228600" cy="228600"/>
          </a:xfrm>
          <a:prstGeom prst="rect">
            <a:avLst/>
          </a:prstGeom>
        </p:spPr>
      </p:pic>
      <p:sp>
        <p:nvSpPr>
          <p:cNvPr id="28" name="Text 23"/>
          <p:cNvSpPr/>
          <p:nvPr/>
        </p:nvSpPr>
        <p:spPr>
          <a:xfrm>
            <a:off x="640080" y="4617720"/>
            <a:ext cx="1371600" cy="228600"/>
          </a:xfrm>
          <a:prstGeom prst="rect">
            <a:avLst/>
          </a:prstGeom>
          <a:noFill/>
          <a:ln/>
        </p:spPr>
        <p:txBody>
          <a:bodyPr wrap="square" rtlCol="0" anchor="ctr"/>
          <a:lstStyle/>
          <a:p>
            <a:pPr indent="0" marL="0">
              <a:buNone/>
            </a:pPr>
            <a:r>
              <a:rPr lang="en-US" sz="900" b="1" dirty="0">
                <a:solidFill>
                  <a:srgbClr val="94A3B8"/>
                </a:solidFill>
                <a:latin typeface="DM Sans" pitchFamily="34" charset="0"/>
                <a:ea typeface="DM Sans" pitchFamily="34" charset="-122"/>
                <a:cs typeface="DM Sans" pitchFamily="34" charset="-120"/>
              </a:rPr>
              <a:t>OurNigeria</a:t>
            </a:r>
            <a:endParaRPr lang="en-US" sz="900" dirty="0"/>
          </a:p>
        </p:txBody>
      </p:sp>
      <p:sp>
        <p:nvSpPr>
          <p:cNvPr id="29" name="Text 24"/>
          <p:cNvSpPr/>
          <p:nvPr/>
        </p:nvSpPr>
        <p:spPr>
          <a:xfrm>
            <a:off x="8229600" y="4617720"/>
            <a:ext cx="548640" cy="228600"/>
          </a:xfrm>
          <a:prstGeom prst="rect">
            <a:avLst/>
          </a:prstGeom>
          <a:noFill/>
          <a:ln/>
        </p:spPr>
        <p:txBody>
          <a:bodyPr wrap="square" rtlCol="0" anchor="ctr"/>
          <a:lstStyle/>
          <a:p>
            <a:pPr algn="r" indent="0" marL="0">
              <a:buNone/>
            </a:pPr>
            <a:r>
              <a:rPr lang="en-US" sz="900" dirty="0">
                <a:solidFill>
                  <a:srgbClr val="94A3B8"/>
                </a:solidFill>
                <a:latin typeface="Inter" pitchFamily="34" charset="0"/>
                <a:ea typeface="Inter" pitchFamily="34" charset="-122"/>
                <a:cs typeface="Inter"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05072" y="914400"/>
            <a:ext cx="594360" cy="594360"/>
          </a:xfrm>
          <a:prstGeom prst="rect">
            <a:avLst/>
          </a:prstGeom>
        </p:spPr>
      </p:pic>
      <p:sp>
        <p:nvSpPr>
          <p:cNvPr id="3" name="Text 0"/>
          <p:cNvSpPr/>
          <p:nvPr/>
        </p:nvSpPr>
        <p:spPr>
          <a:xfrm>
            <a:off x="457200" y="1691640"/>
            <a:ext cx="8229600" cy="548640"/>
          </a:xfrm>
          <a:prstGeom prst="rect">
            <a:avLst/>
          </a:prstGeom>
          <a:noFill/>
          <a:ln/>
        </p:spPr>
        <p:txBody>
          <a:bodyPr wrap="square" rtlCol="0" anchor="ctr"/>
          <a:lstStyle/>
          <a:p>
            <a:pPr algn="ctr" indent="0" marL="0">
              <a:buNone/>
            </a:pPr>
            <a:r>
              <a:rPr lang="en-US" sz="3600" b="1" dirty="0">
                <a:solidFill>
                  <a:srgbClr val="FFFFFF"/>
                </a:solidFill>
                <a:latin typeface="DM Sans" pitchFamily="34" charset="0"/>
                <a:ea typeface="DM Sans" pitchFamily="34" charset="-122"/>
                <a:cs typeface="DM Sans" pitchFamily="34" charset="-120"/>
              </a:rPr>
              <a:t>OurNigeria</a:t>
            </a:r>
            <a:endParaRPr lang="en-US" sz="3600" dirty="0"/>
          </a:p>
        </p:txBody>
      </p:sp>
      <p:sp>
        <p:nvSpPr>
          <p:cNvPr id="4" name="Text 1"/>
          <p:cNvSpPr/>
          <p:nvPr/>
        </p:nvSpPr>
        <p:spPr>
          <a:xfrm>
            <a:off x="1371600" y="2286000"/>
            <a:ext cx="6400800" cy="365760"/>
          </a:xfrm>
          <a:prstGeom prst="rect">
            <a:avLst/>
          </a:prstGeom>
          <a:noFill/>
          <a:ln/>
        </p:spPr>
        <p:txBody>
          <a:bodyPr wrap="square" rtlCol="0" anchor="ctr"/>
          <a:lstStyle/>
          <a:p>
            <a:pPr algn="ctr" indent="0" marL="0">
              <a:buNone/>
            </a:pPr>
            <a:r>
              <a:rPr lang="en-US" sz="1400" dirty="0">
                <a:solidFill>
                  <a:srgbClr val="FFFFFF">
                    <a:alpha val="88000"/>
                  </a:srgbClr>
                </a:solidFill>
                <a:latin typeface="Inter" pitchFamily="34" charset="0"/>
                <a:ea typeface="Inter" pitchFamily="34" charset="-122"/>
                <a:cs typeface="Inter" pitchFamily="34" charset="-120"/>
              </a:rPr>
              <a:t>The innovation that doesn't just build companies — it builds countries.</a:t>
            </a:r>
            <a:endParaRPr lang="en-US" sz="1400" dirty="0"/>
          </a:p>
        </p:txBody>
      </p:sp>
      <p:sp>
        <p:nvSpPr>
          <p:cNvPr id="5" name="Shape 2"/>
          <p:cNvSpPr/>
          <p:nvPr/>
        </p:nvSpPr>
        <p:spPr>
          <a:xfrm>
            <a:off x="1645920" y="2971800"/>
            <a:ext cx="1920240" cy="320040"/>
          </a:xfrm>
          <a:prstGeom prst="rect">
            <a:avLst>
              <a:gd name="adj" fmla="val 17143"/>
            </a:avLst>
          </a:prstGeom>
          <a:solidFill>
            <a:srgbClr val="FFFFFF"/>
          </a:solidFill>
          <a:ln/>
        </p:spPr>
      </p:sp>
      <p:sp>
        <p:nvSpPr>
          <p:cNvPr id="6" name="Text 3"/>
          <p:cNvSpPr/>
          <p:nvPr/>
        </p:nvSpPr>
        <p:spPr>
          <a:xfrm>
            <a:off x="1645920" y="2971800"/>
            <a:ext cx="1920240" cy="320040"/>
          </a:xfrm>
          <a:prstGeom prst="rect">
            <a:avLst/>
          </a:prstGeom>
          <a:noFill/>
          <a:ln/>
        </p:spPr>
        <p:txBody>
          <a:bodyPr wrap="square" rtlCol="0" anchor="ctr"/>
          <a:lstStyle/>
          <a:p>
            <a:pPr algn="ctr" indent="0" marL="0">
              <a:buNone/>
            </a:pPr>
            <a:r>
              <a:rPr lang="en-US" sz="950" dirty="0">
                <a:solidFill>
                  <a:srgbClr val="FFFFFF"/>
                </a:solidFill>
                <a:latin typeface="Inter" pitchFamily="34" charset="0"/>
                <a:ea typeface="Inter" pitchFamily="34" charset="-122"/>
                <a:cs typeface="Inter" pitchFamily="34" charset="-120"/>
              </a:rPr>
              <a:t>spending.arinze.online</a:t>
            </a:r>
            <a:endParaRPr lang="en-US" sz="950" dirty="0"/>
          </a:p>
        </p:txBody>
      </p:sp>
      <p:sp>
        <p:nvSpPr>
          <p:cNvPr id="7" name="Shape 4"/>
          <p:cNvSpPr/>
          <p:nvPr/>
        </p:nvSpPr>
        <p:spPr>
          <a:xfrm>
            <a:off x="3840480" y="2971800"/>
            <a:ext cx="1920240" cy="320040"/>
          </a:xfrm>
          <a:prstGeom prst="rect">
            <a:avLst>
              <a:gd name="adj" fmla="val 17143"/>
            </a:avLst>
          </a:prstGeom>
          <a:solidFill>
            <a:srgbClr val="FFFFFF"/>
          </a:solidFill>
          <a:ln/>
        </p:spPr>
      </p:sp>
      <p:sp>
        <p:nvSpPr>
          <p:cNvPr id="8" name="Text 5"/>
          <p:cNvSpPr/>
          <p:nvPr/>
        </p:nvSpPr>
        <p:spPr>
          <a:xfrm>
            <a:off x="3840480" y="2971800"/>
            <a:ext cx="1920240" cy="320040"/>
          </a:xfrm>
          <a:prstGeom prst="rect">
            <a:avLst/>
          </a:prstGeom>
          <a:noFill/>
          <a:ln/>
        </p:spPr>
        <p:txBody>
          <a:bodyPr wrap="square" rtlCol="0" anchor="ctr"/>
          <a:lstStyle/>
          <a:p>
            <a:pPr algn="ctr" indent="0" marL="0">
              <a:buNone/>
            </a:pPr>
            <a:r>
              <a:rPr lang="en-US" sz="950" dirty="0">
                <a:solidFill>
                  <a:srgbClr val="FFFFFF"/>
                </a:solidFill>
                <a:latin typeface="Inter" pitchFamily="34" charset="0"/>
                <a:ea typeface="Inter" pitchFamily="34" charset="-122"/>
                <a:cs typeface="Inter" pitchFamily="34" charset="-120"/>
              </a:rPr>
              <a:t>arinze@ournigeria.com</a:t>
            </a:r>
            <a:endParaRPr lang="en-US" sz="950" dirty="0"/>
          </a:p>
        </p:txBody>
      </p:sp>
      <p:sp>
        <p:nvSpPr>
          <p:cNvPr id="9" name="Shape 6"/>
          <p:cNvSpPr/>
          <p:nvPr/>
        </p:nvSpPr>
        <p:spPr>
          <a:xfrm>
            <a:off x="6035040" y="2971800"/>
            <a:ext cx="1920240" cy="320040"/>
          </a:xfrm>
          <a:prstGeom prst="rect">
            <a:avLst>
              <a:gd name="adj" fmla="val 17143"/>
            </a:avLst>
          </a:prstGeom>
          <a:solidFill>
            <a:srgbClr val="FFFFFF"/>
          </a:solidFill>
          <a:ln/>
        </p:spPr>
      </p:sp>
      <p:sp>
        <p:nvSpPr>
          <p:cNvPr id="10" name="Text 7"/>
          <p:cNvSpPr/>
          <p:nvPr/>
        </p:nvSpPr>
        <p:spPr>
          <a:xfrm>
            <a:off x="6035040" y="2971800"/>
            <a:ext cx="1920240" cy="320040"/>
          </a:xfrm>
          <a:prstGeom prst="rect">
            <a:avLst/>
          </a:prstGeom>
          <a:noFill/>
          <a:ln/>
        </p:spPr>
        <p:txBody>
          <a:bodyPr wrap="square" rtlCol="0" anchor="ctr"/>
          <a:lstStyle/>
          <a:p>
            <a:pPr algn="ctr" indent="0" marL="0">
              <a:buNone/>
            </a:pPr>
            <a:r>
              <a:rPr lang="en-US" sz="950" dirty="0">
                <a:solidFill>
                  <a:srgbClr val="FFFFFF"/>
                </a:solidFill>
                <a:latin typeface="Inter" pitchFamily="34" charset="0"/>
                <a:ea typeface="Inter" pitchFamily="34" charset="-122"/>
                <a:cs typeface="Inter" pitchFamily="34" charset="-120"/>
              </a:rPr>
              <a:t>t.me/OurNigeriaBot</a:t>
            </a:r>
            <a:endParaRPr lang="en-US" sz="950" dirty="0"/>
          </a:p>
        </p:txBody>
      </p:sp>
      <p:sp>
        <p:nvSpPr>
          <p:cNvPr id="11" name="Text 8"/>
          <p:cNvSpPr/>
          <p:nvPr/>
        </p:nvSpPr>
        <p:spPr>
          <a:xfrm>
            <a:off x="1828800" y="4023360"/>
            <a:ext cx="5486400" cy="228600"/>
          </a:xfrm>
          <a:prstGeom prst="rect">
            <a:avLst/>
          </a:prstGeom>
          <a:noFill/>
          <a:ln/>
        </p:spPr>
        <p:txBody>
          <a:bodyPr wrap="square" rtlCol="0" anchor="ctr"/>
          <a:lstStyle/>
          <a:p>
            <a:pPr algn="ctr" indent="0" marL="0">
              <a:buNone/>
            </a:pPr>
            <a:r>
              <a:rPr lang="en-US" sz="900" dirty="0">
                <a:solidFill>
                  <a:srgbClr val="FFFFFF">
                    <a:alpha val="50000"/>
                  </a:srgbClr>
                </a:solidFill>
                <a:latin typeface="Inter" pitchFamily="34" charset="0"/>
                <a:ea typeface="Inter" pitchFamily="34" charset="-122"/>
                <a:cs typeface="Inter" pitchFamily="34" charset="-120"/>
              </a:rPr>
              <a:t>Confidential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OurNigeria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OurNigeria — Pre-Seed Pitch Deck</dc:title>
  <dc:subject>OurNigeria Pitch Deck</dc:subject>
  <dc:creator>OurNigeria</dc:creator>
  <cp:lastModifiedBy>OurNigeria</cp:lastModifiedBy>
  <cp:revision>1</cp:revision>
  <dcterms:created xsi:type="dcterms:W3CDTF">2026-03-12T00:32:54Z</dcterms:created>
  <dcterms:modified xsi:type="dcterms:W3CDTF">2026-03-12T00:32:54Z</dcterms:modified>
</cp:coreProperties>
</file>